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1" r:id="rId1"/>
  </p:sldMasterIdLst>
  <p:notesMasterIdLst>
    <p:notesMasterId r:id="rId11"/>
  </p:notesMasterIdLst>
  <p:handoutMasterIdLst>
    <p:handoutMasterId r:id="rId12"/>
  </p:handoutMasterIdLst>
  <p:sldIdLst>
    <p:sldId id="327" r:id="rId2"/>
    <p:sldId id="405" r:id="rId3"/>
    <p:sldId id="421" r:id="rId4"/>
    <p:sldId id="408" r:id="rId5"/>
    <p:sldId id="331" r:id="rId6"/>
    <p:sldId id="419" r:id="rId7"/>
    <p:sldId id="423" r:id="rId8"/>
    <p:sldId id="399" r:id="rId9"/>
    <p:sldId id="365" r:id="rId10"/>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769BF9-E381-404F-A415-CF2619C716EF}" name="Frenken, Maurice" initials="MF" userId="S::m.frenken@frenken-immobilien.com::47e8e02b-15b4-4e81-adea-c58592931ea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martin 032" initials="S0"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466"/>
    <a:srgbClr val="48599F"/>
    <a:srgbClr val="FF0000"/>
    <a:srgbClr val="233567"/>
    <a:srgbClr val="F0F0F0"/>
    <a:srgbClr val="D6D1CA"/>
    <a:srgbClr val="BCD4E5"/>
    <a:srgbClr val="F2F2F2"/>
    <a:srgbClr val="B6DFE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15926D-FC5E-9040-871C-45C6D3B71200}" v="49" dt="2025-10-28T21:03:28.160"/>
    <p1510:client id="{FED327F0-3A96-4AFB-B57D-98490D729D06}" v="1" dt="2025-10-29T08:03:11.95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55" autoAdjust="0"/>
    <p:restoredTop sz="96355"/>
  </p:normalViewPr>
  <p:slideViewPr>
    <p:cSldViewPr snapToGrid="0" snapToObjects="1">
      <p:cViewPr varScale="1">
        <p:scale>
          <a:sx n="114" d="100"/>
          <a:sy n="114" d="100"/>
        </p:scale>
        <p:origin x="126" y="186"/>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napToObjects="1" showGuides="1">
      <p:cViewPr varScale="1">
        <p:scale>
          <a:sx n="119" d="100"/>
          <a:sy n="119" d="100"/>
        </p:scale>
        <p:origin x="4986"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F39ED725-FDCF-284F-BD3E-235A8D76EA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D33FC694-D9AA-034B-9F90-1341A6A0A5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C7B45D-A4A0-0749-ACA7-7D1F31603449}" type="datetimeFigureOut">
              <a:t>29.10.2025</a:t>
            </a:fld>
            <a:endParaRPr lang="de-DE"/>
          </a:p>
        </p:txBody>
      </p:sp>
      <p:sp>
        <p:nvSpPr>
          <p:cNvPr id="4" name="Fußzeilenplatzhalter 3">
            <a:extLst>
              <a:ext uri="{FF2B5EF4-FFF2-40B4-BE49-F238E27FC236}">
                <a16:creationId xmlns:a16="http://schemas.microsoft.com/office/drawing/2014/main" id="{87FB639F-B9E1-DE47-8240-83F26FA0A6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8252E39E-92A8-A74B-9C80-4722B95E86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B67DC7-3AA6-CC41-B5CE-DB3BD1C6A6AE}" type="slidenum">
              <a:t>‹Nr.›</a:t>
            </a:fld>
            <a:endParaRPr lang="de-DE"/>
          </a:p>
        </p:txBody>
      </p:sp>
    </p:spTree>
    <p:extLst>
      <p:ext uri="{BB962C8B-B14F-4D97-AF65-F5344CB8AC3E}">
        <p14:creationId xmlns:p14="http://schemas.microsoft.com/office/powerpoint/2010/main" val="21167798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8B1335-98F0-1C49-BA5E-F374BEF0A4F5}" type="datetimeFigureOut">
              <a:rPr lang="de-DE" smtClean="0"/>
              <a:t>29.10.2025</a:t>
            </a:fld>
            <a:endParaRPr lang="de-DE"/>
          </a:p>
        </p:txBody>
      </p:sp>
      <p:sp>
        <p:nvSpPr>
          <p:cNvPr id="4" name="Folienbildplatzhalt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B5E470-27B7-574F-AE96-1DA8098A3273}" type="slidenum">
              <a:rPr lang="de-DE" smtClean="0"/>
              <a:t>‹Nr.›</a:t>
            </a:fld>
            <a:endParaRPr lang="de-DE"/>
          </a:p>
        </p:txBody>
      </p:sp>
    </p:spTree>
    <p:extLst>
      <p:ext uri="{BB962C8B-B14F-4D97-AF65-F5344CB8AC3E}">
        <p14:creationId xmlns:p14="http://schemas.microsoft.com/office/powerpoint/2010/main" val="3797935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246188" y="1143000"/>
            <a:ext cx="4365625" cy="3086100"/>
          </a:xfrm>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DAB5E470-27B7-574F-AE96-1DA8098A3273}" type="slidenum">
              <a:rPr lang="de-DE" smtClean="0"/>
              <a:t>1</a:t>
            </a:fld>
            <a:endParaRPr lang="de-DE"/>
          </a:p>
        </p:txBody>
      </p:sp>
    </p:spTree>
    <p:extLst>
      <p:ext uri="{BB962C8B-B14F-4D97-AF65-F5344CB8AC3E}">
        <p14:creationId xmlns:p14="http://schemas.microsoft.com/office/powerpoint/2010/main" val="151458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246188" y="1143000"/>
            <a:ext cx="4365625" cy="3086100"/>
          </a:xfrm>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DAB5E470-27B7-574F-AE96-1DA8098A3273}" type="slidenum">
              <a:rPr lang="de-DE" smtClean="0"/>
              <a:t>2</a:t>
            </a:fld>
            <a:endParaRPr lang="de-DE"/>
          </a:p>
        </p:txBody>
      </p:sp>
    </p:spTree>
    <p:extLst>
      <p:ext uri="{BB962C8B-B14F-4D97-AF65-F5344CB8AC3E}">
        <p14:creationId xmlns:p14="http://schemas.microsoft.com/office/powerpoint/2010/main" val="2783949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elfolie">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D3A17F63-E8F2-D6D8-5009-DEE5469A4BFF}"/>
              </a:ext>
            </a:extLst>
          </p:cNvPr>
          <p:cNvSpPr/>
          <p:nvPr userDrawn="1"/>
        </p:nvSpPr>
        <p:spPr>
          <a:xfrm>
            <a:off x="0" y="-2"/>
            <a:ext cx="6945469" cy="5575511"/>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5" name="Bildplatzhalter 4">
            <a:extLst>
              <a:ext uri="{FF2B5EF4-FFF2-40B4-BE49-F238E27FC236}">
                <a16:creationId xmlns:a16="http://schemas.microsoft.com/office/drawing/2014/main" id="{82B0108D-C1AF-6340-BFC4-BC2BB9F4D327}"/>
              </a:ext>
            </a:extLst>
          </p:cNvPr>
          <p:cNvSpPr>
            <a:spLocks noGrp="1"/>
          </p:cNvSpPr>
          <p:nvPr>
            <p:ph type="pic" sz="quarter" idx="12"/>
          </p:nvPr>
        </p:nvSpPr>
        <p:spPr>
          <a:xfrm>
            <a:off x="414184" y="793665"/>
            <a:ext cx="9863444" cy="5972346"/>
          </a:xfrm>
          <a:prstGeom prst="rect">
            <a:avLst/>
          </a:prstGeom>
        </p:spPr>
        <p:txBody>
          <a:bodyPr/>
          <a:lstStyle>
            <a:lvl1pPr marL="0" indent="0">
              <a:buNone/>
              <a:defRPr sz="877">
                <a:latin typeface="Roboto Medium" panose="02000000000000000000" pitchFamily="2" charset="0"/>
                <a:ea typeface="Roboto Medium" panose="02000000000000000000" pitchFamily="2" charset="0"/>
              </a:defRPr>
            </a:lvl1pPr>
          </a:lstStyle>
          <a:p>
            <a:endParaRPr lang="de-DE"/>
          </a:p>
        </p:txBody>
      </p:sp>
      <p:sp>
        <p:nvSpPr>
          <p:cNvPr id="3" name="Untertitel 2">
            <a:extLst>
              <a:ext uri="{FF2B5EF4-FFF2-40B4-BE49-F238E27FC236}">
                <a16:creationId xmlns:a16="http://schemas.microsoft.com/office/drawing/2014/main" id="{5B95B8E3-6D36-3E48-B142-0DAA8C558ECC}"/>
              </a:ext>
            </a:extLst>
          </p:cNvPr>
          <p:cNvSpPr>
            <a:spLocks noGrp="1"/>
          </p:cNvSpPr>
          <p:nvPr>
            <p:ph type="subTitle" idx="1" hasCustomPrompt="1"/>
          </p:nvPr>
        </p:nvSpPr>
        <p:spPr>
          <a:xfrm>
            <a:off x="4792786" y="4796788"/>
            <a:ext cx="5583324" cy="519629"/>
          </a:xfrm>
          <a:prstGeom prst="rect">
            <a:avLst/>
          </a:prstGeom>
        </p:spPr>
        <p:txBody>
          <a:bodyPr/>
          <a:lstStyle>
            <a:lvl1pPr marL="0" indent="0" algn="l">
              <a:buNone/>
              <a:defRPr sz="1579" b="0" i="0" cap="none" baseline="0">
                <a:solidFill>
                  <a:schemeClr val="bg1"/>
                </a:solidFill>
                <a:latin typeface="Roboto Light" panose="02000000000000000000" pitchFamily="2" charset="0"/>
                <a:ea typeface="Roboto Light" panose="02000000000000000000" pitchFamily="2" charset="0"/>
              </a:defRPr>
            </a:lvl1pPr>
            <a:lvl2pPr marL="400964" indent="0" algn="ctr">
              <a:buNone/>
              <a:defRPr sz="1754"/>
            </a:lvl2pPr>
            <a:lvl3pPr marL="801929" indent="0" algn="ctr">
              <a:buNone/>
              <a:defRPr sz="1579"/>
            </a:lvl3pPr>
            <a:lvl4pPr marL="1202893" indent="0" algn="ctr">
              <a:buNone/>
              <a:defRPr sz="1403"/>
            </a:lvl4pPr>
            <a:lvl5pPr marL="1603858" indent="0" algn="ctr">
              <a:buNone/>
              <a:defRPr sz="1403"/>
            </a:lvl5pPr>
            <a:lvl6pPr marL="2004822" indent="0" algn="ctr">
              <a:buNone/>
              <a:defRPr sz="1403"/>
            </a:lvl6pPr>
            <a:lvl7pPr marL="2405786" indent="0" algn="ctr">
              <a:buNone/>
              <a:defRPr sz="1403"/>
            </a:lvl7pPr>
            <a:lvl8pPr marL="2806751" indent="0" algn="ctr">
              <a:buNone/>
              <a:defRPr sz="1403"/>
            </a:lvl8pPr>
            <a:lvl9pPr marL="3207715" indent="0" algn="ctr">
              <a:buNone/>
              <a:defRPr sz="1403"/>
            </a:lvl9pPr>
          </a:lstStyle>
          <a:p>
            <a:r>
              <a:rPr lang="de-DE" dirty="0" err="1"/>
              <a:t>Marktpreisanalyse</a:t>
            </a:r>
            <a:r>
              <a:rPr lang="de-DE" dirty="0"/>
              <a:t> Adresse, PLZ Ort</a:t>
            </a:r>
          </a:p>
        </p:txBody>
      </p:sp>
      <p:sp>
        <p:nvSpPr>
          <p:cNvPr id="9" name="Textplatzhalter 8">
            <a:extLst>
              <a:ext uri="{FF2B5EF4-FFF2-40B4-BE49-F238E27FC236}">
                <a16:creationId xmlns:a16="http://schemas.microsoft.com/office/drawing/2014/main" id="{5405BC6D-1E4E-C642-A896-BDD659B9E9CD}"/>
              </a:ext>
            </a:extLst>
          </p:cNvPr>
          <p:cNvSpPr>
            <a:spLocks noGrp="1"/>
          </p:cNvSpPr>
          <p:nvPr>
            <p:ph type="body" sz="quarter" idx="13"/>
          </p:nvPr>
        </p:nvSpPr>
        <p:spPr>
          <a:xfrm>
            <a:off x="4792786" y="3337514"/>
            <a:ext cx="5583324" cy="1446959"/>
          </a:xfrm>
          <a:prstGeom prst="rect">
            <a:avLst/>
          </a:prstGeom>
        </p:spPr>
        <p:txBody>
          <a:bodyPr/>
          <a:lstStyle>
            <a:lvl1pPr marL="0" indent="0">
              <a:lnSpc>
                <a:spcPct val="90000"/>
              </a:lnSpc>
              <a:spcBef>
                <a:spcPts val="0"/>
              </a:spcBef>
              <a:buNone/>
              <a:defRPr sz="3508" b="0" i="0" cap="all" baseline="0">
                <a:solidFill>
                  <a:schemeClr val="bg1"/>
                </a:solidFill>
                <a:latin typeface="Roboto Medium" panose="02000000000000000000" pitchFamily="2" charset="0"/>
                <a:ea typeface="Roboto Medium" panose="02000000000000000000" pitchFamily="2" charset="0"/>
              </a:defRPr>
            </a:lvl1pPr>
            <a:lvl2pPr marL="157860" indent="0">
              <a:buNone/>
              <a:defRPr/>
            </a:lvl2pPr>
          </a:lstStyle>
          <a:p>
            <a:pPr lvl="0"/>
            <a:r>
              <a:rPr lang="de-DE" dirty="0"/>
              <a:t>Mastertextformat bearbeiten</a:t>
            </a:r>
          </a:p>
        </p:txBody>
      </p:sp>
      <p:sp>
        <p:nvSpPr>
          <p:cNvPr id="2" name="Textfeld 1">
            <a:extLst>
              <a:ext uri="{FF2B5EF4-FFF2-40B4-BE49-F238E27FC236}">
                <a16:creationId xmlns:a16="http://schemas.microsoft.com/office/drawing/2014/main" id="{07ACBB00-72D6-07E7-59FA-BDBEE0AC42C6}"/>
              </a:ext>
            </a:extLst>
          </p:cNvPr>
          <p:cNvSpPr txBox="1"/>
          <p:nvPr userDrawn="1"/>
        </p:nvSpPr>
        <p:spPr>
          <a:xfrm>
            <a:off x="9300519" y="7213808"/>
            <a:ext cx="1391294" cy="276999"/>
          </a:xfrm>
          <a:prstGeom prst="rect">
            <a:avLst/>
          </a:prstGeom>
          <a:noFill/>
        </p:spPr>
        <p:txBody>
          <a:bodyPr wrap="square" rtlCol="0">
            <a:spAutoFit/>
          </a:bodyPr>
          <a:lstStyle/>
          <a:p>
            <a:r>
              <a:rPr lang="de-DE" sz="1200" dirty="0"/>
              <a:t>Streng Vertraulich</a:t>
            </a:r>
          </a:p>
        </p:txBody>
      </p:sp>
    </p:spTree>
    <p:extLst>
      <p:ext uri="{BB962C8B-B14F-4D97-AF65-F5344CB8AC3E}">
        <p14:creationId xmlns:p14="http://schemas.microsoft.com/office/powerpoint/2010/main" val="3608311734"/>
      </p:ext>
    </p:extLst>
  </p:cSld>
  <p:clrMapOvr>
    <a:masterClrMapping/>
  </p:clrMapOvr>
  <p:extLst>
    <p:ext uri="{DCECCB84-F9BA-43D5-87BE-67443E8EF086}">
      <p15:sldGuideLst xmlns:p15="http://schemas.microsoft.com/office/powerpoint/2012/main">
        <p15:guide id="1" orient="horz" pos="36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01_Ansprechpartner">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CC3FEC1D-686D-1B6D-72CB-39ACD7217C2C}"/>
              </a:ext>
            </a:extLst>
          </p:cNvPr>
          <p:cNvSpPr/>
          <p:nvPr userDrawn="1"/>
        </p:nvSpPr>
        <p:spPr>
          <a:xfrm>
            <a:off x="5954486" y="-2"/>
            <a:ext cx="2960914"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2" name="Bildplatzhalter 11">
            <a:extLst>
              <a:ext uri="{FF2B5EF4-FFF2-40B4-BE49-F238E27FC236}">
                <a16:creationId xmlns:a16="http://schemas.microsoft.com/office/drawing/2014/main" id="{F204402B-7BBC-C84E-9233-BFC0D53F3D7F}"/>
              </a:ext>
            </a:extLst>
          </p:cNvPr>
          <p:cNvSpPr>
            <a:spLocks noGrp="1"/>
          </p:cNvSpPr>
          <p:nvPr>
            <p:ph type="pic" sz="quarter" idx="13"/>
          </p:nvPr>
        </p:nvSpPr>
        <p:spPr>
          <a:xfrm>
            <a:off x="1220719" y="2688545"/>
            <a:ext cx="1736367" cy="2182583"/>
          </a:xfrm>
          <a:prstGeom prst="rect">
            <a:avLst/>
          </a:prstGeom>
        </p:spPr>
        <p:txBody>
          <a:bodyPr/>
          <a:lstStyle>
            <a:lvl1pPr marL="0" indent="0">
              <a:buNone/>
              <a:defRPr sz="800">
                <a:latin typeface="Roboto Light" panose="02000000000000000000" pitchFamily="2" charset="0"/>
                <a:ea typeface="Roboto Light" panose="02000000000000000000" pitchFamily="2" charset="0"/>
              </a:defRPr>
            </a:lvl1pPr>
          </a:lstStyle>
          <a:p>
            <a:endParaRPr lang="de-DE"/>
          </a:p>
        </p:txBody>
      </p:sp>
      <p:sp>
        <p:nvSpPr>
          <p:cNvPr id="4" name="Textplatzhalter 4">
            <a:extLst>
              <a:ext uri="{FF2B5EF4-FFF2-40B4-BE49-F238E27FC236}">
                <a16:creationId xmlns:a16="http://schemas.microsoft.com/office/drawing/2014/main" id="{5FE4392A-EC46-13A2-95F9-645FE03507CD}"/>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9" name="Textplatzhalter 10">
            <a:extLst>
              <a:ext uri="{FF2B5EF4-FFF2-40B4-BE49-F238E27FC236}">
                <a16:creationId xmlns:a16="http://schemas.microsoft.com/office/drawing/2014/main" id="{13F586EC-F70A-58C6-28DC-B4CC99821C91}"/>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sp>
        <p:nvSpPr>
          <p:cNvPr id="3" name="Bildplatzhalter 11">
            <a:extLst>
              <a:ext uri="{FF2B5EF4-FFF2-40B4-BE49-F238E27FC236}">
                <a16:creationId xmlns:a16="http://schemas.microsoft.com/office/drawing/2014/main" id="{1A5ED4E2-528E-DBB4-BFA5-92E99054351D}"/>
              </a:ext>
            </a:extLst>
          </p:cNvPr>
          <p:cNvSpPr>
            <a:spLocks noGrp="1"/>
          </p:cNvSpPr>
          <p:nvPr>
            <p:ph type="pic" sz="quarter" idx="19"/>
          </p:nvPr>
        </p:nvSpPr>
        <p:spPr>
          <a:xfrm>
            <a:off x="6458015" y="1498045"/>
            <a:ext cx="4230422" cy="4563583"/>
          </a:xfrm>
          <a:prstGeom prst="rect">
            <a:avLst/>
          </a:prstGeom>
        </p:spPr>
        <p:txBody>
          <a:bodyPr/>
          <a:lstStyle>
            <a:lvl1pPr marL="0" indent="0">
              <a:buNone/>
              <a:defRPr sz="800">
                <a:latin typeface="Roboto Light" panose="02000000000000000000" pitchFamily="2" charset="0"/>
                <a:ea typeface="Roboto Light" panose="02000000000000000000" pitchFamily="2" charset="0"/>
              </a:defRPr>
            </a:lvl1pPr>
          </a:lstStyle>
          <a:p>
            <a:endParaRPr lang="de-DE"/>
          </a:p>
        </p:txBody>
      </p:sp>
      <p:sp>
        <p:nvSpPr>
          <p:cNvPr id="8" name="Bildplatzhalter 4">
            <a:extLst>
              <a:ext uri="{FF2B5EF4-FFF2-40B4-BE49-F238E27FC236}">
                <a16:creationId xmlns:a16="http://schemas.microsoft.com/office/drawing/2014/main" id="{7F5B2B2F-41FA-B98E-8AAD-9A18F63F658C}"/>
              </a:ext>
            </a:extLst>
          </p:cNvPr>
          <p:cNvSpPr>
            <a:spLocks noGrp="1"/>
          </p:cNvSpPr>
          <p:nvPr>
            <p:ph type="pic" sz="quarter" idx="12"/>
          </p:nvPr>
        </p:nvSpPr>
        <p:spPr>
          <a:xfrm>
            <a:off x="414184" y="793665"/>
            <a:ext cx="9863444" cy="5972346"/>
          </a:xfrm>
          <a:prstGeom prst="rect">
            <a:avLst/>
          </a:prstGeom>
        </p:spPr>
        <p:txBody>
          <a:bodyPr/>
          <a:lstStyle>
            <a:lvl1pPr marL="0" indent="0">
              <a:buNone/>
              <a:defRPr sz="877">
                <a:latin typeface="Roboto Medium" panose="02000000000000000000" pitchFamily="2" charset="0"/>
                <a:ea typeface="Roboto Medium" panose="02000000000000000000" pitchFamily="2" charset="0"/>
              </a:defRPr>
            </a:lvl1pPr>
          </a:lstStyle>
          <a:p>
            <a:endParaRPr lang="de-DE"/>
          </a:p>
        </p:txBody>
      </p:sp>
      <p:sp>
        <p:nvSpPr>
          <p:cNvPr id="10" name="Textfeld 9">
            <a:extLst>
              <a:ext uri="{FF2B5EF4-FFF2-40B4-BE49-F238E27FC236}">
                <a16:creationId xmlns:a16="http://schemas.microsoft.com/office/drawing/2014/main" id="{25B7FE44-AE4F-146B-CD8A-E4C51723496C}"/>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399605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03_Liegenschaft_Keyfacts">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3AF263F-8EB5-5C65-13DC-2D2806CDCADE}"/>
              </a:ext>
            </a:extLst>
          </p:cNvPr>
          <p:cNvSpPr/>
          <p:nvPr userDrawn="1"/>
        </p:nvSpPr>
        <p:spPr>
          <a:xfrm>
            <a:off x="6903375" y="0"/>
            <a:ext cx="3788438"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2" name="Bildplatzhalter 11">
            <a:extLst>
              <a:ext uri="{FF2B5EF4-FFF2-40B4-BE49-F238E27FC236}">
                <a16:creationId xmlns:a16="http://schemas.microsoft.com/office/drawing/2014/main" id="{F204402B-7BBC-C84E-9233-BFC0D53F3D7F}"/>
              </a:ext>
            </a:extLst>
          </p:cNvPr>
          <p:cNvSpPr>
            <a:spLocks noGrp="1"/>
          </p:cNvSpPr>
          <p:nvPr>
            <p:ph type="pic" sz="quarter" idx="13"/>
          </p:nvPr>
        </p:nvSpPr>
        <p:spPr>
          <a:xfrm>
            <a:off x="315703" y="1668809"/>
            <a:ext cx="5892057" cy="5494032"/>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5" name="Textfeld 4">
            <a:extLst>
              <a:ext uri="{FF2B5EF4-FFF2-40B4-BE49-F238E27FC236}">
                <a16:creationId xmlns:a16="http://schemas.microsoft.com/office/drawing/2014/main" id="{4E48F487-890C-E54A-A957-3C6B848B6CC7}"/>
              </a:ext>
            </a:extLst>
          </p:cNvPr>
          <p:cNvSpPr txBox="1"/>
          <p:nvPr userDrawn="1"/>
        </p:nvSpPr>
        <p:spPr>
          <a:xfrm>
            <a:off x="3364010" y="-491686"/>
            <a:ext cx="0" cy="0"/>
          </a:xfrm>
          <a:prstGeom prst="rect">
            <a:avLst/>
          </a:prstGeom>
          <a:noFill/>
        </p:spPr>
        <p:txBody>
          <a:bodyPr wrap="none" lIns="0" tIns="0" rIns="0" bIns="0" rtlCol="0">
            <a:noAutofit/>
          </a:bodyPr>
          <a:lstStyle/>
          <a:p>
            <a:pPr algn="l">
              <a:spcBef>
                <a:spcPts val="877"/>
              </a:spcBef>
            </a:pPr>
            <a:endParaRPr lang="de-DE" sz="3859" b="1" i="0" dirty="0">
              <a:latin typeface="BNPP Sans Condensed" panose="02000000000000000000" pitchFamily="2" charset="77"/>
            </a:endParaRPr>
          </a:p>
        </p:txBody>
      </p:sp>
      <p:sp>
        <p:nvSpPr>
          <p:cNvPr id="3" name="Textplatzhalter 4">
            <a:extLst>
              <a:ext uri="{FF2B5EF4-FFF2-40B4-BE49-F238E27FC236}">
                <a16:creationId xmlns:a16="http://schemas.microsoft.com/office/drawing/2014/main" id="{1A57BBBB-6722-0ACC-4224-AEC27DD0D404}"/>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6" name="Textplatzhalter 10">
            <a:extLst>
              <a:ext uri="{FF2B5EF4-FFF2-40B4-BE49-F238E27FC236}">
                <a16:creationId xmlns:a16="http://schemas.microsoft.com/office/drawing/2014/main" id="{D71EAC43-6787-4D76-A7B4-3BEB52752659}"/>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7" name="Grafik 6">
            <a:extLst>
              <a:ext uri="{FF2B5EF4-FFF2-40B4-BE49-F238E27FC236}">
                <a16:creationId xmlns:a16="http://schemas.microsoft.com/office/drawing/2014/main" id="{52C86498-2F96-4280-B2E1-44C20C666026}"/>
              </a:ext>
            </a:extLst>
          </p:cNvPr>
          <p:cNvPicPr>
            <a:picLocks noChangeAspect="1"/>
          </p:cNvPicPr>
          <p:nvPr userDrawn="1"/>
        </p:nvPicPr>
        <p:blipFill>
          <a:blip r:embed="rId2"/>
          <a:stretch>
            <a:fillRect/>
          </a:stretch>
        </p:blipFill>
        <p:spPr>
          <a:xfrm>
            <a:off x="9120624" y="189457"/>
            <a:ext cx="1353458" cy="208527"/>
          </a:xfrm>
          <a:prstGeom prst="rect">
            <a:avLst/>
          </a:prstGeom>
        </p:spPr>
      </p:pic>
      <p:sp>
        <p:nvSpPr>
          <p:cNvPr id="9" name="Textfeld 8">
            <a:extLst>
              <a:ext uri="{FF2B5EF4-FFF2-40B4-BE49-F238E27FC236}">
                <a16:creationId xmlns:a16="http://schemas.microsoft.com/office/drawing/2014/main" id="{DC0D5B52-1BEF-6373-6277-891DA46747B3}"/>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1345819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Liegenschaft_Impressio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BFE8EF5-DADC-0D73-FAA9-3041CE9FE531}"/>
              </a:ext>
            </a:extLst>
          </p:cNvPr>
          <p:cNvSpPr/>
          <p:nvPr userDrawn="1"/>
        </p:nvSpPr>
        <p:spPr>
          <a:xfrm>
            <a:off x="6903375" y="-2"/>
            <a:ext cx="3788438"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2" name="Bildplatzhalter 11">
            <a:extLst>
              <a:ext uri="{FF2B5EF4-FFF2-40B4-BE49-F238E27FC236}">
                <a16:creationId xmlns:a16="http://schemas.microsoft.com/office/drawing/2014/main" id="{F204402B-7BBC-C84E-9233-BFC0D53F3D7F}"/>
              </a:ext>
            </a:extLst>
          </p:cNvPr>
          <p:cNvSpPr>
            <a:spLocks noGrp="1"/>
          </p:cNvSpPr>
          <p:nvPr>
            <p:ph type="pic" sz="quarter" idx="13"/>
          </p:nvPr>
        </p:nvSpPr>
        <p:spPr>
          <a:xfrm>
            <a:off x="315703" y="1668808"/>
            <a:ext cx="5249355" cy="5494033"/>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3" name="Textplatzhalter 4">
            <a:extLst>
              <a:ext uri="{FF2B5EF4-FFF2-40B4-BE49-F238E27FC236}">
                <a16:creationId xmlns:a16="http://schemas.microsoft.com/office/drawing/2014/main" id="{36BEE3D2-6E6F-8394-55E6-E671727EDA23}"/>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5" name="Textplatzhalter 10">
            <a:extLst>
              <a:ext uri="{FF2B5EF4-FFF2-40B4-BE49-F238E27FC236}">
                <a16:creationId xmlns:a16="http://schemas.microsoft.com/office/drawing/2014/main" id="{55C0B7F0-CD54-9BCC-EA10-250EB6F49003}"/>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6" name="Grafik 5">
            <a:extLst>
              <a:ext uri="{FF2B5EF4-FFF2-40B4-BE49-F238E27FC236}">
                <a16:creationId xmlns:a16="http://schemas.microsoft.com/office/drawing/2014/main" id="{EF72F7A5-1C03-0147-7834-B144ED03D92A}"/>
              </a:ext>
            </a:extLst>
          </p:cNvPr>
          <p:cNvPicPr>
            <a:picLocks noChangeAspect="1"/>
          </p:cNvPicPr>
          <p:nvPr userDrawn="1"/>
        </p:nvPicPr>
        <p:blipFill>
          <a:blip r:embed="rId2"/>
          <a:stretch>
            <a:fillRect/>
          </a:stretch>
        </p:blipFill>
        <p:spPr>
          <a:xfrm>
            <a:off x="9120624" y="189457"/>
            <a:ext cx="1353458" cy="208527"/>
          </a:xfrm>
          <a:prstGeom prst="rect">
            <a:avLst/>
          </a:prstGeom>
        </p:spPr>
      </p:pic>
      <p:sp>
        <p:nvSpPr>
          <p:cNvPr id="8" name="Textfeld 7">
            <a:extLst>
              <a:ext uri="{FF2B5EF4-FFF2-40B4-BE49-F238E27FC236}">
                <a16:creationId xmlns:a16="http://schemas.microsoft.com/office/drawing/2014/main" id="{674EA8C7-D2D7-9F8E-DFDF-B6427EC71D38}"/>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
        <p:nvSpPr>
          <p:cNvPr id="9" name="Bildplatzhalter 11">
            <a:extLst>
              <a:ext uri="{FF2B5EF4-FFF2-40B4-BE49-F238E27FC236}">
                <a16:creationId xmlns:a16="http://schemas.microsoft.com/office/drawing/2014/main" id="{A8D6F56C-E762-8C06-5846-B0D2CED46CF1}"/>
              </a:ext>
            </a:extLst>
          </p:cNvPr>
          <p:cNvSpPr>
            <a:spLocks noGrp="1"/>
          </p:cNvSpPr>
          <p:nvPr>
            <p:ph type="pic" sz="quarter" idx="19"/>
          </p:nvPr>
        </p:nvSpPr>
        <p:spPr>
          <a:xfrm>
            <a:off x="5722374" y="1664982"/>
            <a:ext cx="4555254" cy="3526449"/>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Tree>
    <p:extLst>
      <p:ext uri="{BB962C8B-B14F-4D97-AF65-F5344CB8AC3E}">
        <p14:creationId xmlns:p14="http://schemas.microsoft.com/office/powerpoint/2010/main" val="1677345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03_Liegenschaft_Impressio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ED7874-7B61-E594-A7A5-47BF7807178C}"/>
              </a:ext>
            </a:extLst>
          </p:cNvPr>
          <p:cNvSpPr/>
          <p:nvPr userDrawn="1"/>
        </p:nvSpPr>
        <p:spPr>
          <a:xfrm>
            <a:off x="6903375" y="-2"/>
            <a:ext cx="3788438"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2" name="Bildplatzhalter 11">
            <a:extLst>
              <a:ext uri="{FF2B5EF4-FFF2-40B4-BE49-F238E27FC236}">
                <a16:creationId xmlns:a16="http://schemas.microsoft.com/office/drawing/2014/main" id="{F204402B-7BBC-C84E-9233-BFC0D53F3D7F}"/>
              </a:ext>
            </a:extLst>
          </p:cNvPr>
          <p:cNvSpPr>
            <a:spLocks noGrp="1"/>
          </p:cNvSpPr>
          <p:nvPr>
            <p:ph type="pic" sz="quarter" idx="13"/>
          </p:nvPr>
        </p:nvSpPr>
        <p:spPr>
          <a:xfrm>
            <a:off x="315703" y="1668808"/>
            <a:ext cx="4021576" cy="5494033"/>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25" name="Bildplatzhalter 11">
            <a:extLst>
              <a:ext uri="{FF2B5EF4-FFF2-40B4-BE49-F238E27FC236}">
                <a16:creationId xmlns:a16="http://schemas.microsoft.com/office/drawing/2014/main" id="{29D93886-BDD8-E54F-A0B5-02C6F5849BF1}"/>
              </a:ext>
            </a:extLst>
          </p:cNvPr>
          <p:cNvSpPr>
            <a:spLocks noGrp="1"/>
          </p:cNvSpPr>
          <p:nvPr>
            <p:ph type="pic" sz="quarter" idx="14"/>
          </p:nvPr>
        </p:nvSpPr>
        <p:spPr>
          <a:xfrm>
            <a:off x="4464042" y="1668807"/>
            <a:ext cx="3125085" cy="1911316"/>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17" name="Bildplatzhalter 11">
            <a:extLst>
              <a:ext uri="{FF2B5EF4-FFF2-40B4-BE49-F238E27FC236}">
                <a16:creationId xmlns:a16="http://schemas.microsoft.com/office/drawing/2014/main" id="{ED563DBF-3C52-2140-858E-CA83A0788199}"/>
              </a:ext>
            </a:extLst>
          </p:cNvPr>
          <p:cNvSpPr>
            <a:spLocks noGrp="1"/>
          </p:cNvSpPr>
          <p:nvPr>
            <p:ph type="pic" sz="quarter" idx="15"/>
          </p:nvPr>
        </p:nvSpPr>
        <p:spPr>
          <a:xfrm>
            <a:off x="7715408" y="3738858"/>
            <a:ext cx="2660702" cy="3423984"/>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18" name="Bildplatzhalter 11">
            <a:extLst>
              <a:ext uri="{FF2B5EF4-FFF2-40B4-BE49-F238E27FC236}">
                <a16:creationId xmlns:a16="http://schemas.microsoft.com/office/drawing/2014/main" id="{2617FE23-B30A-BD4C-A9F0-60C0BE362F21}"/>
              </a:ext>
            </a:extLst>
          </p:cNvPr>
          <p:cNvSpPr>
            <a:spLocks noGrp="1"/>
          </p:cNvSpPr>
          <p:nvPr>
            <p:ph type="pic" sz="quarter" idx="16"/>
          </p:nvPr>
        </p:nvSpPr>
        <p:spPr>
          <a:xfrm>
            <a:off x="4464042" y="3738858"/>
            <a:ext cx="3125326" cy="3423983"/>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10" name="Bildplatzhalter 11">
            <a:extLst>
              <a:ext uri="{FF2B5EF4-FFF2-40B4-BE49-F238E27FC236}">
                <a16:creationId xmlns:a16="http://schemas.microsoft.com/office/drawing/2014/main" id="{FAC566D2-7541-4B63-690E-EB5D59093E33}"/>
              </a:ext>
            </a:extLst>
          </p:cNvPr>
          <p:cNvSpPr>
            <a:spLocks noGrp="1"/>
          </p:cNvSpPr>
          <p:nvPr>
            <p:ph type="pic" sz="quarter" idx="19"/>
          </p:nvPr>
        </p:nvSpPr>
        <p:spPr>
          <a:xfrm>
            <a:off x="7715408" y="1668806"/>
            <a:ext cx="2660702" cy="1911317"/>
          </a:xfrm>
          <a:prstGeom prst="rect">
            <a:avLst/>
          </a:prstGeom>
        </p:spPr>
        <p:txBody>
          <a:bodyPr/>
          <a:lstStyle>
            <a:lvl1pPr marL="0" indent="0">
              <a:buNone/>
              <a:defRPr sz="877">
                <a:latin typeface="Roboto Light" panose="02000000000000000000" pitchFamily="2" charset="0"/>
                <a:ea typeface="Roboto Light" panose="02000000000000000000" pitchFamily="2" charset="0"/>
              </a:defRPr>
            </a:lvl1pPr>
          </a:lstStyle>
          <a:p>
            <a:endParaRPr lang="de-DE"/>
          </a:p>
        </p:txBody>
      </p:sp>
      <p:sp>
        <p:nvSpPr>
          <p:cNvPr id="3" name="Textplatzhalter 4">
            <a:extLst>
              <a:ext uri="{FF2B5EF4-FFF2-40B4-BE49-F238E27FC236}">
                <a16:creationId xmlns:a16="http://schemas.microsoft.com/office/drawing/2014/main" id="{3CFAC91C-F48D-A211-617B-8318FA2AE875}"/>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A5B37BA9-DB52-D95C-EFF9-2852BDB770BC}"/>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6" name="Grafik 5">
            <a:extLst>
              <a:ext uri="{FF2B5EF4-FFF2-40B4-BE49-F238E27FC236}">
                <a16:creationId xmlns:a16="http://schemas.microsoft.com/office/drawing/2014/main" id="{B6AA75A7-4523-02DC-AD54-4FF200B354BE}"/>
              </a:ext>
            </a:extLst>
          </p:cNvPr>
          <p:cNvPicPr>
            <a:picLocks noChangeAspect="1"/>
          </p:cNvPicPr>
          <p:nvPr userDrawn="1"/>
        </p:nvPicPr>
        <p:blipFill>
          <a:blip r:embed="rId2"/>
          <a:stretch>
            <a:fillRect/>
          </a:stretch>
        </p:blipFill>
        <p:spPr>
          <a:xfrm>
            <a:off x="9120624" y="189457"/>
            <a:ext cx="1353458" cy="208527"/>
          </a:xfrm>
          <a:prstGeom prst="rect">
            <a:avLst/>
          </a:prstGeom>
        </p:spPr>
      </p:pic>
      <p:sp>
        <p:nvSpPr>
          <p:cNvPr id="8" name="Textfeld 7">
            <a:extLst>
              <a:ext uri="{FF2B5EF4-FFF2-40B4-BE49-F238E27FC236}">
                <a16:creationId xmlns:a16="http://schemas.microsoft.com/office/drawing/2014/main" id="{D310FBB3-A759-3534-09C8-BDAED79C5D9C}"/>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3573498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06_Pricing_Verkehrswert">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238B5A7-E801-C372-1737-60EF8BAC4D1E}"/>
              </a:ext>
            </a:extLst>
          </p:cNvPr>
          <p:cNvSpPr/>
          <p:nvPr userDrawn="1"/>
        </p:nvSpPr>
        <p:spPr>
          <a:xfrm>
            <a:off x="6903375" y="-2"/>
            <a:ext cx="3788438"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5" name="Textplatzhalter 4">
            <a:extLst>
              <a:ext uri="{FF2B5EF4-FFF2-40B4-BE49-F238E27FC236}">
                <a16:creationId xmlns:a16="http://schemas.microsoft.com/office/drawing/2014/main" id="{1445FEDB-6985-5D9D-B8B6-C22D88AFF03B}"/>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7" name="Textplatzhalter 10">
            <a:extLst>
              <a:ext uri="{FF2B5EF4-FFF2-40B4-BE49-F238E27FC236}">
                <a16:creationId xmlns:a16="http://schemas.microsoft.com/office/drawing/2014/main" id="{B85EA614-8CF7-04D6-2520-541FE3C95DCB}"/>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a:extLst>
              <a:ext uri="{FF2B5EF4-FFF2-40B4-BE49-F238E27FC236}">
                <a16:creationId xmlns:a16="http://schemas.microsoft.com/office/drawing/2014/main" id="{E182CC5B-D37E-0062-A748-3958FA8D7975}"/>
              </a:ext>
            </a:extLst>
          </p:cNvPr>
          <p:cNvPicPr>
            <a:picLocks noChangeAspect="1"/>
          </p:cNvPicPr>
          <p:nvPr userDrawn="1"/>
        </p:nvPicPr>
        <p:blipFill>
          <a:blip r:embed="rId2"/>
          <a:stretch>
            <a:fillRect/>
          </a:stretch>
        </p:blipFill>
        <p:spPr>
          <a:xfrm>
            <a:off x="9120624" y="189457"/>
            <a:ext cx="1353458" cy="208527"/>
          </a:xfrm>
          <a:prstGeom prst="rect">
            <a:avLst/>
          </a:prstGeom>
        </p:spPr>
      </p:pic>
      <p:sp>
        <p:nvSpPr>
          <p:cNvPr id="8" name="Textfeld 7">
            <a:extLst>
              <a:ext uri="{FF2B5EF4-FFF2-40B4-BE49-F238E27FC236}">
                <a16:creationId xmlns:a16="http://schemas.microsoft.com/office/drawing/2014/main" id="{A8151E0C-2703-1A6D-F373-AC21F6F56401}"/>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2339173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8_Zeitplan_Timeline">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CDEEED00-9ABC-9D95-BF10-C9917C216C18}"/>
              </a:ext>
            </a:extLst>
          </p:cNvPr>
          <p:cNvSpPr/>
          <p:nvPr userDrawn="1"/>
        </p:nvSpPr>
        <p:spPr>
          <a:xfrm>
            <a:off x="0" y="5598015"/>
            <a:ext cx="10691813" cy="1978346"/>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6" name="Textplatzhalter 4">
            <a:extLst>
              <a:ext uri="{FF2B5EF4-FFF2-40B4-BE49-F238E27FC236}">
                <a16:creationId xmlns:a16="http://schemas.microsoft.com/office/drawing/2014/main" id="{54673C9A-F56C-AF11-C233-045D513E1BFF}"/>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8" name="Textplatzhalter 10">
            <a:extLst>
              <a:ext uri="{FF2B5EF4-FFF2-40B4-BE49-F238E27FC236}">
                <a16:creationId xmlns:a16="http://schemas.microsoft.com/office/drawing/2014/main" id="{DFE9312F-8A83-916A-BEFD-399764A25E44}"/>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sp>
        <p:nvSpPr>
          <p:cNvPr id="9" name="Textfeld 8">
            <a:extLst>
              <a:ext uri="{FF2B5EF4-FFF2-40B4-BE49-F238E27FC236}">
                <a16:creationId xmlns:a16="http://schemas.microsoft.com/office/drawing/2014/main" id="{363C200C-B5F8-4D6B-8E66-269B82713EF5}"/>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576685531"/>
      </p:ext>
    </p:extLst>
  </p:cSld>
  <p:clrMapOvr>
    <a:masterClrMapping/>
  </p:clrMapOvr>
  <p:extLst>
    <p:ext uri="{DCECCB84-F9BA-43D5-87BE-67443E8EF086}">
      <p15:sldGuideLst xmlns:p15="http://schemas.microsoft.com/office/powerpoint/2012/main">
        <p15:guide id="1" orient="horz" pos="248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Disclaimer">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866CE4C8-0829-FAFD-BE62-7D4A7D2F6195}"/>
              </a:ext>
            </a:extLst>
          </p:cNvPr>
          <p:cNvSpPr/>
          <p:nvPr userDrawn="1"/>
        </p:nvSpPr>
        <p:spPr>
          <a:xfrm>
            <a:off x="6903375" y="-2"/>
            <a:ext cx="3788438" cy="7559677"/>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3" name="Textplatzhalter 4">
            <a:extLst>
              <a:ext uri="{FF2B5EF4-FFF2-40B4-BE49-F238E27FC236}">
                <a16:creationId xmlns:a16="http://schemas.microsoft.com/office/drawing/2014/main" id="{17B5F1C5-DACE-F46F-4BB5-765600BEE349}"/>
              </a:ext>
            </a:extLst>
          </p:cNvPr>
          <p:cNvSpPr>
            <a:spLocks noGrp="1"/>
          </p:cNvSpPr>
          <p:nvPr>
            <p:ph type="body" sz="quarter" idx="17" hasCustomPrompt="1"/>
          </p:nvPr>
        </p:nvSpPr>
        <p:spPr>
          <a:xfrm>
            <a:off x="315703" y="396835"/>
            <a:ext cx="7892578" cy="635987"/>
          </a:xfrm>
          <a:prstGeom prst="rect">
            <a:avLst/>
          </a:prstGeom>
        </p:spPr>
        <p:txBody>
          <a:bodyPr lIns="0" tIns="0" rIns="0" bIns="0"/>
          <a:lstStyle>
            <a:lvl1pPr marL="0" indent="0">
              <a:buNone/>
              <a:defRPr sz="36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5" name="Textplatzhalter 10">
            <a:extLst>
              <a:ext uri="{FF2B5EF4-FFF2-40B4-BE49-F238E27FC236}">
                <a16:creationId xmlns:a16="http://schemas.microsoft.com/office/drawing/2014/main" id="{D375CB09-2A08-BA91-1D67-8C61516E78F0}"/>
              </a:ext>
            </a:extLst>
          </p:cNvPr>
          <p:cNvSpPr>
            <a:spLocks noGrp="1"/>
          </p:cNvSpPr>
          <p:nvPr>
            <p:ph type="body" sz="quarter" idx="18"/>
          </p:nvPr>
        </p:nvSpPr>
        <p:spPr>
          <a:xfrm>
            <a:off x="315703" y="1032822"/>
            <a:ext cx="7892578" cy="277783"/>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6" name="Grafik 5">
            <a:extLst>
              <a:ext uri="{FF2B5EF4-FFF2-40B4-BE49-F238E27FC236}">
                <a16:creationId xmlns:a16="http://schemas.microsoft.com/office/drawing/2014/main" id="{39D1411A-32E2-4E9A-8ED2-BB824F9CE9AC}"/>
              </a:ext>
            </a:extLst>
          </p:cNvPr>
          <p:cNvPicPr>
            <a:picLocks noChangeAspect="1"/>
          </p:cNvPicPr>
          <p:nvPr userDrawn="1"/>
        </p:nvPicPr>
        <p:blipFill>
          <a:blip r:embed="rId2"/>
          <a:stretch>
            <a:fillRect/>
          </a:stretch>
        </p:blipFill>
        <p:spPr>
          <a:xfrm>
            <a:off x="9120624" y="189457"/>
            <a:ext cx="1353458" cy="208527"/>
          </a:xfrm>
          <a:prstGeom prst="rect">
            <a:avLst/>
          </a:prstGeom>
        </p:spPr>
      </p:pic>
      <p:sp>
        <p:nvSpPr>
          <p:cNvPr id="8" name="Textfeld 7">
            <a:extLst>
              <a:ext uri="{FF2B5EF4-FFF2-40B4-BE49-F238E27FC236}">
                <a16:creationId xmlns:a16="http://schemas.microsoft.com/office/drawing/2014/main" id="{2E0635DC-8F1F-5C8F-AB52-4ACA359D3619}"/>
              </a:ext>
            </a:extLst>
          </p:cNvPr>
          <p:cNvSpPr txBox="1"/>
          <p:nvPr userDrawn="1"/>
        </p:nvSpPr>
        <p:spPr>
          <a:xfrm>
            <a:off x="9949543" y="7265055"/>
            <a:ext cx="328085" cy="298446"/>
          </a:xfrm>
          <a:prstGeom prst="rect">
            <a:avLst/>
          </a:prstGeom>
          <a:solidFill>
            <a:srgbClr val="233567"/>
          </a:solidFill>
        </p:spPr>
        <p:txBody>
          <a:bodyPr wrap="square" lIns="57600" tIns="79200" rIns="57600" bIns="79200" rtlCol="0">
            <a:spAutoFit/>
          </a:bodyPr>
          <a:lstStyle/>
          <a:p>
            <a:pPr algn="ctr"/>
            <a:fld id="{9B03340A-46F5-5242-A1AE-F9C374032703}" type="slidenum">
              <a:rPr lang="de-DE" sz="900" smtClean="0">
                <a:solidFill>
                  <a:schemeClr val="bg1"/>
                </a:solidFill>
              </a:rPr>
              <a:t>‹Nr.›</a:t>
            </a:fld>
            <a:endParaRPr lang="de-DE" dirty="0">
              <a:solidFill>
                <a:schemeClr val="bg1"/>
              </a:solidFill>
            </a:endParaRPr>
          </a:p>
        </p:txBody>
      </p:sp>
    </p:spTree>
    <p:extLst>
      <p:ext uri="{BB962C8B-B14F-4D97-AF65-F5344CB8AC3E}">
        <p14:creationId xmlns:p14="http://schemas.microsoft.com/office/powerpoint/2010/main" val="1541907670"/>
      </p:ext>
    </p:extLst>
  </p:cSld>
  <p:clrMapOvr>
    <a:masterClrMapping/>
  </p:clrMapOvr>
  <p:extLst>
    <p:ext uri="{DCECCB84-F9BA-43D5-87BE-67443E8EF086}">
      <p15:sldGuideLst xmlns:p15="http://schemas.microsoft.com/office/powerpoint/2012/main">
        <p15:guide id="1" pos="18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ED1848D1-4D9E-FD48-2676-0C96C555CFBC}"/>
              </a:ext>
            </a:extLst>
          </p:cNvPr>
          <p:cNvSpPr/>
          <p:nvPr userDrawn="1"/>
        </p:nvSpPr>
        <p:spPr>
          <a:xfrm>
            <a:off x="1687946" y="3345051"/>
            <a:ext cx="1407565" cy="1504629"/>
          </a:xfrm>
          <a:prstGeom prst="rect">
            <a:avLst/>
          </a:prstGeom>
          <a:solidFill>
            <a:srgbClr val="2335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6" name="Rechteck 15">
            <a:extLst>
              <a:ext uri="{FF2B5EF4-FFF2-40B4-BE49-F238E27FC236}">
                <a16:creationId xmlns:a16="http://schemas.microsoft.com/office/drawing/2014/main" id="{37FB3A30-49CB-13AE-E0E5-DDBF2BD13218}"/>
              </a:ext>
            </a:extLst>
          </p:cNvPr>
          <p:cNvSpPr/>
          <p:nvPr userDrawn="1"/>
        </p:nvSpPr>
        <p:spPr>
          <a:xfrm>
            <a:off x="3238033" y="3345051"/>
            <a:ext cx="1407565" cy="1504629"/>
          </a:xfrm>
          <a:prstGeom prst="rect">
            <a:avLst/>
          </a:prstGeom>
          <a:solidFill>
            <a:srgbClr val="D6D1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17" name="Rechteck 16">
            <a:extLst>
              <a:ext uri="{FF2B5EF4-FFF2-40B4-BE49-F238E27FC236}">
                <a16:creationId xmlns:a16="http://schemas.microsoft.com/office/drawing/2014/main" id="{66FA346E-29A9-35FE-82E7-5ED8619BC8E2}"/>
              </a:ext>
            </a:extLst>
          </p:cNvPr>
          <p:cNvSpPr/>
          <p:nvPr userDrawn="1"/>
        </p:nvSpPr>
        <p:spPr>
          <a:xfrm>
            <a:off x="4788121" y="3345051"/>
            <a:ext cx="1407565" cy="1504629"/>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Tree>
    <p:extLst>
      <p:ext uri="{BB962C8B-B14F-4D97-AF65-F5344CB8AC3E}">
        <p14:creationId xmlns:p14="http://schemas.microsoft.com/office/powerpoint/2010/main" val="2987189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D5630AC-6698-05AE-117A-DF91511CA7F6}"/>
              </a:ext>
            </a:extLst>
          </p:cNvPr>
          <p:cNvPicPr>
            <a:picLocks noChangeAspect="1"/>
          </p:cNvPicPr>
          <p:nvPr userDrawn="1"/>
        </p:nvPicPr>
        <p:blipFill>
          <a:blip r:embed="rId11"/>
          <a:stretch>
            <a:fillRect/>
          </a:stretch>
        </p:blipFill>
        <p:spPr>
          <a:xfrm>
            <a:off x="9122230" y="188458"/>
            <a:ext cx="1347219" cy="207565"/>
          </a:xfrm>
          <a:prstGeom prst="rect">
            <a:avLst/>
          </a:prstGeom>
        </p:spPr>
      </p:pic>
    </p:spTree>
    <p:extLst>
      <p:ext uri="{BB962C8B-B14F-4D97-AF65-F5344CB8AC3E}">
        <p14:creationId xmlns:p14="http://schemas.microsoft.com/office/powerpoint/2010/main" val="3295824152"/>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6" r:id="rId3"/>
    <p:sldLayoutId id="2147483727" r:id="rId4"/>
    <p:sldLayoutId id="2147483728" r:id="rId5"/>
    <p:sldLayoutId id="2147483733" r:id="rId6"/>
    <p:sldLayoutId id="2147483735" r:id="rId7"/>
    <p:sldLayoutId id="2147483737" r:id="rId8"/>
    <p:sldLayoutId id="2147483739" r:id="rId9"/>
  </p:sldLayoutIdLst>
  <p:hf sldNum="0" hdr="0" ftr="0"/>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6" userDrawn="1">
          <p15:clr>
            <a:srgbClr val="F26B43"/>
          </p15:clr>
        </p15:guide>
        <p15:guide id="2" pos="260" userDrawn="1">
          <p15:clr>
            <a:srgbClr val="F26B43"/>
          </p15:clr>
        </p15:guide>
        <p15:guide id="3" pos="503" userDrawn="1">
          <p15:clr>
            <a:srgbClr val="F26B43"/>
          </p15:clr>
        </p15:guide>
        <p15:guide id="4" pos="6272" userDrawn="1">
          <p15:clr>
            <a:srgbClr val="F26B43"/>
          </p15:clr>
        </p15:guide>
        <p15:guide id="5" pos="6489" userDrawn="1">
          <p15:clr>
            <a:srgbClr val="F26B43"/>
          </p15:clr>
        </p15:guide>
        <p15:guide id="6" orient="horz" pos="732" userDrawn="1">
          <p15:clr>
            <a:srgbClr val="F26B43"/>
          </p15:clr>
        </p15:guide>
        <p15:guide id="7" orient="horz" pos="1356" userDrawn="1">
          <p15:clr>
            <a:srgbClr val="F26B43"/>
          </p15:clr>
        </p15:guide>
        <p15:guide id="8" orient="horz" pos="4083" userDrawn="1">
          <p15:clr>
            <a:srgbClr val="F26B43"/>
          </p15:clr>
        </p15:guide>
        <p15:guide id="9" orient="horz" pos="4559" userDrawn="1">
          <p15:clr>
            <a:srgbClr val="F26B43"/>
          </p15:clr>
        </p15:guide>
        <p15:guide id="10" pos="33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5.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93EACEE0-D5DE-0217-C662-E8F2122A1950}"/>
              </a:ext>
            </a:extLst>
          </p:cNvPr>
          <p:cNvPicPr>
            <a:picLocks noChangeAspect="1"/>
          </p:cNvPicPr>
          <p:nvPr/>
        </p:nvPicPr>
        <p:blipFill>
          <a:blip r:embed="rId3"/>
          <a:srcRect l="14696" t="10709" r="357" b="10433"/>
          <a:stretch>
            <a:fillRect/>
          </a:stretch>
        </p:blipFill>
        <p:spPr>
          <a:xfrm>
            <a:off x="501503" y="310304"/>
            <a:ext cx="9065191" cy="6311167"/>
          </a:xfrm>
          <a:prstGeom prst="rect">
            <a:avLst/>
          </a:prstGeom>
        </p:spPr>
      </p:pic>
      <p:sp>
        <p:nvSpPr>
          <p:cNvPr id="20" name="Rechteck 19">
            <a:extLst>
              <a:ext uri="{FF2B5EF4-FFF2-40B4-BE49-F238E27FC236}">
                <a16:creationId xmlns:a16="http://schemas.microsoft.com/office/drawing/2014/main" id="{01A3E22B-7C01-CE77-B464-3633CA3897CD}"/>
              </a:ext>
            </a:extLst>
          </p:cNvPr>
          <p:cNvSpPr/>
          <p:nvPr/>
        </p:nvSpPr>
        <p:spPr>
          <a:xfrm>
            <a:off x="5345906" y="3187894"/>
            <a:ext cx="5345907" cy="2268000"/>
          </a:xfrm>
          <a:prstGeom prst="rect">
            <a:avLst/>
          </a:prstGeom>
          <a:solidFill>
            <a:srgbClr val="2335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579"/>
          </a:p>
        </p:txBody>
      </p:sp>
      <p:sp>
        <p:nvSpPr>
          <p:cNvPr id="25" name="Untertitel 24">
            <a:extLst>
              <a:ext uri="{FF2B5EF4-FFF2-40B4-BE49-F238E27FC236}">
                <a16:creationId xmlns:a16="http://schemas.microsoft.com/office/drawing/2014/main" id="{344E9D48-4023-5834-C1C9-3245F62CE480}"/>
              </a:ext>
            </a:extLst>
          </p:cNvPr>
          <p:cNvSpPr>
            <a:spLocks noGrp="1"/>
          </p:cNvSpPr>
          <p:nvPr>
            <p:ph type="subTitle" idx="1"/>
          </p:nvPr>
        </p:nvSpPr>
        <p:spPr>
          <a:xfrm>
            <a:off x="5587839" y="3950846"/>
            <a:ext cx="2340377" cy="371048"/>
          </a:xfrm>
        </p:spPr>
        <p:txBody>
          <a:bodyPr lIns="0"/>
          <a:lstStyle/>
          <a:p>
            <a:r>
              <a:rPr lang="de-DE" dirty="0"/>
              <a:t>Kronenstraße 4 Kaiserswerther Straße 55 Marienstraße 37</a:t>
            </a:r>
          </a:p>
        </p:txBody>
      </p:sp>
      <p:sp>
        <p:nvSpPr>
          <p:cNvPr id="26" name="Textplatzhalter 25">
            <a:extLst>
              <a:ext uri="{FF2B5EF4-FFF2-40B4-BE49-F238E27FC236}">
                <a16:creationId xmlns:a16="http://schemas.microsoft.com/office/drawing/2014/main" id="{E13BD90C-EDB1-5960-075A-F197D239ADBF}"/>
              </a:ext>
            </a:extLst>
          </p:cNvPr>
          <p:cNvSpPr>
            <a:spLocks noGrp="1"/>
          </p:cNvSpPr>
          <p:nvPr>
            <p:ph type="body" sz="quarter" idx="13"/>
          </p:nvPr>
        </p:nvSpPr>
        <p:spPr>
          <a:xfrm>
            <a:off x="5587839" y="3454827"/>
            <a:ext cx="4967931" cy="519629"/>
          </a:xfrm>
        </p:spPr>
        <p:txBody>
          <a:bodyPr lIns="0"/>
          <a:lstStyle/>
          <a:p>
            <a:r>
              <a:rPr lang="de-DE" sz="2400" dirty="0"/>
              <a:t>VERMARKTUNGSeinschätzung</a:t>
            </a:r>
          </a:p>
        </p:txBody>
      </p:sp>
      <p:sp>
        <p:nvSpPr>
          <p:cNvPr id="6" name="Rechteck 5">
            <a:extLst>
              <a:ext uri="{FF2B5EF4-FFF2-40B4-BE49-F238E27FC236}">
                <a16:creationId xmlns:a16="http://schemas.microsoft.com/office/drawing/2014/main" id="{018C5226-F3A7-F602-901C-E5C2F8565DBE}"/>
              </a:ext>
            </a:extLst>
          </p:cNvPr>
          <p:cNvSpPr/>
          <p:nvPr/>
        </p:nvSpPr>
        <p:spPr>
          <a:xfrm>
            <a:off x="0" y="6046470"/>
            <a:ext cx="2777490" cy="994410"/>
          </a:xfrm>
          <a:prstGeom prst="rect">
            <a:avLst/>
          </a:prstGeom>
          <a:solidFill>
            <a:srgbClr val="2335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6142BACD-FC58-899E-D6BD-8E80731B625F}"/>
              </a:ext>
            </a:extLst>
          </p:cNvPr>
          <p:cNvPicPr>
            <a:picLocks noChangeAspect="1"/>
          </p:cNvPicPr>
          <p:nvPr/>
        </p:nvPicPr>
        <p:blipFill>
          <a:blip r:embed="rId4"/>
          <a:stretch>
            <a:fillRect/>
          </a:stretch>
        </p:blipFill>
        <p:spPr>
          <a:xfrm>
            <a:off x="245759" y="6229350"/>
            <a:ext cx="2285972" cy="651236"/>
          </a:xfrm>
          <a:prstGeom prst="rect">
            <a:avLst/>
          </a:prstGeom>
        </p:spPr>
      </p:pic>
      <p:sp>
        <p:nvSpPr>
          <p:cNvPr id="8" name="Untertitel 24">
            <a:extLst>
              <a:ext uri="{FF2B5EF4-FFF2-40B4-BE49-F238E27FC236}">
                <a16:creationId xmlns:a16="http://schemas.microsoft.com/office/drawing/2014/main" id="{2F0AB25E-A22C-221C-0FB6-1D0029E646DF}"/>
              </a:ext>
            </a:extLst>
          </p:cNvPr>
          <p:cNvSpPr txBox="1">
            <a:spLocks/>
          </p:cNvSpPr>
          <p:nvPr/>
        </p:nvSpPr>
        <p:spPr>
          <a:xfrm>
            <a:off x="5587839" y="4993095"/>
            <a:ext cx="2942273" cy="371048"/>
          </a:xfrm>
          <a:prstGeom prst="rect">
            <a:avLst/>
          </a:prstGeom>
        </p:spPr>
        <p:txBody>
          <a:bodyPr lIns="0"/>
          <a:lstStyle>
            <a:lvl1pPr marL="0" indent="0" algn="l" defTabSz="1007943" rtl="0" eaLnBrk="1" latinLnBrk="0" hangingPunct="1">
              <a:lnSpc>
                <a:spcPct val="90000"/>
              </a:lnSpc>
              <a:spcBef>
                <a:spcPts val="1102"/>
              </a:spcBef>
              <a:buFont typeface="Arial" panose="020B0604020202020204" pitchFamily="34" charset="0"/>
              <a:buNone/>
              <a:defRPr sz="1579" b="0" i="0" kern="1200" cap="none" baseline="0">
                <a:solidFill>
                  <a:schemeClr val="bg1"/>
                </a:solidFill>
                <a:latin typeface="Roboto Light" panose="02000000000000000000" pitchFamily="2" charset="0"/>
                <a:ea typeface="Roboto Light" panose="02000000000000000000" pitchFamily="2" charset="0"/>
                <a:cs typeface="+mn-cs"/>
              </a:defRPr>
            </a:lvl1pPr>
            <a:lvl2pPr marL="400964" indent="0" algn="ctr" defTabSz="1007943" rtl="0" eaLnBrk="1" latinLnBrk="0" hangingPunct="1">
              <a:lnSpc>
                <a:spcPct val="90000"/>
              </a:lnSpc>
              <a:spcBef>
                <a:spcPts val="551"/>
              </a:spcBef>
              <a:buFont typeface="Arial" panose="020B0604020202020204" pitchFamily="34" charset="0"/>
              <a:buNone/>
              <a:defRPr sz="1754" kern="1200">
                <a:solidFill>
                  <a:schemeClr val="tx1"/>
                </a:solidFill>
                <a:latin typeface="+mn-lt"/>
                <a:ea typeface="+mn-ea"/>
                <a:cs typeface="+mn-cs"/>
              </a:defRPr>
            </a:lvl2pPr>
            <a:lvl3pPr marL="801929" indent="0" algn="ctr" defTabSz="1007943" rtl="0" eaLnBrk="1" latinLnBrk="0" hangingPunct="1">
              <a:lnSpc>
                <a:spcPct val="90000"/>
              </a:lnSpc>
              <a:spcBef>
                <a:spcPts val="551"/>
              </a:spcBef>
              <a:buFont typeface="Arial" panose="020B0604020202020204" pitchFamily="34" charset="0"/>
              <a:buNone/>
              <a:defRPr sz="1579" kern="1200">
                <a:solidFill>
                  <a:schemeClr val="tx1"/>
                </a:solidFill>
                <a:latin typeface="+mn-lt"/>
                <a:ea typeface="+mn-ea"/>
                <a:cs typeface="+mn-cs"/>
              </a:defRPr>
            </a:lvl3pPr>
            <a:lvl4pPr marL="1202893"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4pPr>
            <a:lvl5pPr marL="1603858"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5pPr>
            <a:lvl6pPr marL="2004822"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6pPr>
            <a:lvl7pPr marL="2405786"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7pPr>
            <a:lvl8pPr marL="2806751"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8pPr>
            <a:lvl9pPr marL="3207715" indent="0" algn="ctr" defTabSz="1007943" rtl="0" eaLnBrk="1" latinLnBrk="0" hangingPunct="1">
              <a:lnSpc>
                <a:spcPct val="90000"/>
              </a:lnSpc>
              <a:spcBef>
                <a:spcPts val="551"/>
              </a:spcBef>
              <a:buFont typeface="Arial" panose="020B0604020202020204" pitchFamily="34" charset="0"/>
              <a:buNone/>
              <a:defRPr sz="1403" kern="1200">
                <a:solidFill>
                  <a:schemeClr val="tx1"/>
                </a:solidFill>
                <a:latin typeface="+mn-lt"/>
                <a:ea typeface="+mn-ea"/>
                <a:cs typeface="+mn-cs"/>
              </a:defRPr>
            </a:lvl9pPr>
          </a:lstStyle>
          <a:p>
            <a:r>
              <a:rPr lang="de-DE" dirty="0"/>
              <a:t>Josef Rentmeister</a:t>
            </a:r>
          </a:p>
        </p:txBody>
      </p:sp>
      <p:sp>
        <p:nvSpPr>
          <p:cNvPr id="9" name="Textfeld 8">
            <a:extLst>
              <a:ext uri="{FF2B5EF4-FFF2-40B4-BE49-F238E27FC236}">
                <a16:creationId xmlns:a16="http://schemas.microsoft.com/office/drawing/2014/main" id="{20784EA3-6814-8C46-E312-00FE222B4D42}"/>
              </a:ext>
            </a:extLst>
          </p:cNvPr>
          <p:cNvSpPr txBox="1"/>
          <p:nvPr/>
        </p:nvSpPr>
        <p:spPr>
          <a:xfrm>
            <a:off x="8106094" y="5001882"/>
            <a:ext cx="2324176" cy="307777"/>
          </a:xfrm>
          <a:prstGeom prst="rect">
            <a:avLst/>
          </a:prstGeom>
          <a:noFill/>
        </p:spPr>
        <p:txBody>
          <a:bodyPr wrap="square" rtlCol="0">
            <a:spAutoFit/>
          </a:bodyPr>
          <a:lstStyle/>
          <a:p>
            <a:pPr algn="r"/>
            <a:fld id="{29E6247A-E9EE-C34F-9C9B-AFC9EF203A6F}" type="datetime4">
              <a:rPr lang="de-DE" sz="1400">
                <a:solidFill>
                  <a:schemeClr val="bg1"/>
                </a:solidFill>
                <a:latin typeface="Roboto Light" panose="02000000000000000000" pitchFamily="2" charset="0"/>
                <a:ea typeface="Roboto Light" panose="02000000000000000000" pitchFamily="2" charset="0"/>
              </a:rPr>
              <a:pPr algn="r"/>
              <a:t>29. Oktober 2025</a:t>
            </a:fld>
            <a:endParaRPr lang="de-DE" sz="1579" dirty="0">
              <a:solidFill>
                <a:schemeClr val="bg1"/>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605724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platzhalter 26">
            <a:extLst>
              <a:ext uri="{FF2B5EF4-FFF2-40B4-BE49-F238E27FC236}">
                <a16:creationId xmlns:a16="http://schemas.microsoft.com/office/drawing/2014/main" id="{597FB576-F605-B022-5D6E-C1B2838B1CAD}"/>
              </a:ext>
            </a:extLst>
          </p:cNvPr>
          <p:cNvSpPr>
            <a:spLocks noGrp="1"/>
          </p:cNvSpPr>
          <p:nvPr>
            <p:ph type="body" sz="quarter" idx="17"/>
          </p:nvPr>
        </p:nvSpPr>
        <p:spPr/>
        <p:txBody>
          <a:bodyPr/>
          <a:lstStyle/>
          <a:p>
            <a:r>
              <a:rPr lang="de-DE" dirty="0"/>
              <a:t>IHR ANSPRECHPARTNER</a:t>
            </a:r>
          </a:p>
        </p:txBody>
      </p:sp>
      <p:sp>
        <p:nvSpPr>
          <p:cNvPr id="25" name="Textplatzhalter 24">
            <a:extLst>
              <a:ext uri="{FF2B5EF4-FFF2-40B4-BE49-F238E27FC236}">
                <a16:creationId xmlns:a16="http://schemas.microsoft.com/office/drawing/2014/main" id="{350AC712-D1AF-FDA7-6739-E07E1FCDAA16}"/>
              </a:ext>
            </a:extLst>
          </p:cNvPr>
          <p:cNvSpPr>
            <a:spLocks noGrp="1"/>
          </p:cNvSpPr>
          <p:nvPr>
            <p:ph type="body" sz="quarter" idx="18"/>
          </p:nvPr>
        </p:nvSpPr>
        <p:spPr/>
        <p:txBody>
          <a:bodyPr/>
          <a:lstStyle/>
          <a:p>
            <a:r>
              <a:rPr lang="de-DE" dirty="0" err="1"/>
              <a:t>Vermarktungseinschätzung</a:t>
            </a:r>
            <a:r>
              <a:rPr lang="de-DE" dirty="0"/>
              <a:t> </a:t>
            </a:r>
          </a:p>
          <a:p>
            <a:endParaRPr lang="de-DE" dirty="0"/>
          </a:p>
        </p:txBody>
      </p:sp>
      <p:pic>
        <p:nvPicPr>
          <p:cNvPr id="12" name="Bildplatzhalter 11">
            <a:extLst>
              <a:ext uri="{FF2B5EF4-FFF2-40B4-BE49-F238E27FC236}">
                <a16:creationId xmlns:a16="http://schemas.microsoft.com/office/drawing/2014/main" id="{6FECD013-FFB4-8CA7-FE28-176FA5FEC941}"/>
              </a:ext>
            </a:extLst>
          </p:cNvPr>
          <p:cNvPicPr>
            <a:picLocks noGrp="1" noChangeAspect="1"/>
          </p:cNvPicPr>
          <p:nvPr>
            <p:ph type="pic" sz="quarter" idx="19"/>
          </p:nvPr>
        </p:nvPicPr>
        <p:blipFill>
          <a:blip r:embed="rId3"/>
          <a:srcRect l="10796" t="-176" r="32598" b="8542"/>
          <a:stretch>
            <a:fillRect/>
          </a:stretch>
        </p:blipFill>
        <p:spPr>
          <a:xfrm>
            <a:off x="6468525" y="1498045"/>
            <a:ext cx="4230422" cy="4563583"/>
          </a:xfrm>
          <a:solidFill>
            <a:schemeClr val="bg1">
              <a:lumMod val="85000"/>
            </a:schemeClr>
          </a:solidFill>
        </p:spPr>
      </p:pic>
      <p:sp>
        <p:nvSpPr>
          <p:cNvPr id="6" name="Rechteck 5">
            <a:extLst>
              <a:ext uri="{FF2B5EF4-FFF2-40B4-BE49-F238E27FC236}">
                <a16:creationId xmlns:a16="http://schemas.microsoft.com/office/drawing/2014/main" id="{4BBE70F5-1FDF-756F-F557-435F5C0D013D}"/>
              </a:ext>
            </a:extLst>
          </p:cNvPr>
          <p:cNvSpPr/>
          <p:nvPr/>
        </p:nvSpPr>
        <p:spPr>
          <a:xfrm>
            <a:off x="1" y="2796791"/>
            <a:ext cx="5040630" cy="1622208"/>
          </a:xfrm>
          <a:prstGeom prst="rect">
            <a:avLst/>
          </a:prstGeom>
          <a:solidFill>
            <a:srgbClr val="2335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 name="Bildplatzhalter 4">
            <a:extLst>
              <a:ext uri="{FF2B5EF4-FFF2-40B4-BE49-F238E27FC236}">
                <a16:creationId xmlns:a16="http://schemas.microsoft.com/office/drawing/2014/main" id="{4A519600-A98E-8975-4C5D-8FC50BD0387E}"/>
              </a:ext>
            </a:extLst>
          </p:cNvPr>
          <p:cNvPicPr>
            <a:picLocks noGrp="1" noChangeAspect="1"/>
          </p:cNvPicPr>
          <p:nvPr>
            <p:ph type="pic" sz="quarter" idx="13"/>
          </p:nvPr>
        </p:nvPicPr>
        <p:blipFill>
          <a:blip r:embed="rId4"/>
          <a:srcRect l="34270" r="16885" b="26595"/>
          <a:stretch>
            <a:fillRect/>
          </a:stretch>
        </p:blipFill>
        <p:spPr>
          <a:xfrm>
            <a:off x="1477543" y="2796791"/>
            <a:ext cx="1621622" cy="1622208"/>
          </a:xfrm>
          <a:solidFill>
            <a:schemeClr val="bg1">
              <a:lumMod val="85000"/>
            </a:schemeClr>
          </a:solidFill>
        </p:spPr>
      </p:pic>
      <p:sp>
        <p:nvSpPr>
          <p:cNvPr id="7" name="Textfeld 6">
            <a:extLst>
              <a:ext uri="{FF2B5EF4-FFF2-40B4-BE49-F238E27FC236}">
                <a16:creationId xmlns:a16="http://schemas.microsoft.com/office/drawing/2014/main" id="{096498DA-BFF3-671D-595D-3C871A5E3834}"/>
              </a:ext>
            </a:extLst>
          </p:cNvPr>
          <p:cNvSpPr txBox="1"/>
          <p:nvPr/>
        </p:nvSpPr>
        <p:spPr>
          <a:xfrm>
            <a:off x="3291259" y="2939721"/>
            <a:ext cx="1941466" cy="1336347"/>
          </a:xfrm>
          <a:prstGeom prst="rect">
            <a:avLst/>
          </a:prstGeom>
          <a:noFill/>
        </p:spPr>
        <p:txBody>
          <a:bodyPr wrap="square" lIns="144000" tIns="144000" rIns="72000" bIns="72000" rtlCol="0">
            <a:no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900" b="0" i="0" u="none" strike="noStrike" kern="1200" cap="all" spc="0" normalizeH="0" baseline="0" noProof="0" dirty="0">
                <a:ln>
                  <a:noFill/>
                </a:ln>
                <a:solidFill>
                  <a:schemeClr val="bg1"/>
                </a:solidFill>
                <a:effectLst/>
                <a:uLnTx/>
                <a:uFillTx/>
                <a:latin typeface="Roboto Medium" panose="02000000000000000000" pitchFamily="2" charset="0"/>
                <a:ea typeface="Roboto Medium" panose="02000000000000000000" pitchFamily="2" charset="0"/>
                <a:cs typeface="Times New Roman" panose="02020603050405020304" pitchFamily="18" charset="0"/>
              </a:rPr>
              <a:t>Sebastian </a:t>
            </a:r>
            <a:r>
              <a:rPr kumimoji="0" lang="de-DE" sz="900" b="0" i="0" u="none" strike="noStrike" kern="1200" cap="all" spc="0" normalizeH="0" baseline="0" noProof="0" dirty="0" err="1">
                <a:ln>
                  <a:noFill/>
                </a:ln>
                <a:solidFill>
                  <a:schemeClr val="bg1"/>
                </a:solidFill>
                <a:effectLst/>
                <a:uLnTx/>
                <a:uFillTx/>
                <a:latin typeface="Roboto Medium" panose="02000000000000000000" pitchFamily="2" charset="0"/>
                <a:ea typeface="Roboto Medium" panose="02000000000000000000" pitchFamily="2" charset="0"/>
                <a:cs typeface="Times New Roman" panose="02020603050405020304" pitchFamily="18" charset="0"/>
              </a:rPr>
              <a:t>grenz</a:t>
            </a:r>
            <a:endParaRPr kumimoji="0" lang="de-DE" sz="900" b="0" i="0" u="none" strike="noStrike" kern="1200" cap="none" spc="0" normalizeH="0" baseline="0" noProof="0" dirty="0">
              <a:ln>
                <a:noFill/>
              </a:ln>
              <a:solidFill>
                <a:schemeClr val="bg1"/>
              </a:solidFill>
              <a:effectLst/>
              <a:uLnTx/>
              <a:uFillTx/>
              <a:latin typeface="Roboto Medium" panose="02000000000000000000" pitchFamily="2" charset="0"/>
              <a:ea typeface="Roboto Medium"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lang="de-DE" sz="9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Geschäftsführer</a:t>
            </a:r>
            <a:endParaRPr kumimoji="0" lang="de-DE" sz="900" b="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endParaRPr kumimoji="0" lang="de-DE" sz="9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T +49 221 669 648-51</a:t>
            </a:r>
            <a:endParaRPr kumimoji="0" lang="de-DE" sz="9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M +49 </a:t>
            </a:r>
            <a:r>
              <a:rPr lang="de-DE" sz="9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151 438 107 65</a:t>
            </a:r>
          </a:p>
          <a:p>
            <a:pPr defTabSz="457200">
              <a:lnSpc>
                <a:spcPts val="1400"/>
              </a:lnSpc>
              <a:defRPr/>
            </a:pPr>
            <a:r>
              <a:rPr lang="en-US" sz="900" dirty="0" err="1">
                <a:solidFill>
                  <a:schemeClr val="bg1"/>
                </a:solidFill>
                <a:latin typeface="Roboto Light" panose="02000000000000000000" pitchFamily="2" charset="0"/>
                <a:ea typeface="Roboto Light" panose="02000000000000000000" pitchFamily="2" charset="0"/>
                <a:cs typeface="Times New Roman" panose="02020603050405020304" pitchFamily="18" charset="0"/>
              </a:rPr>
              <a:t>s.grenz@grenz-co.de</a:t>
            </a:r>
            <a:endParaRPr lang="en-US" sz="9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9" name="Textfeld 8">
            <a:extLst>
              <a:ext uri="{FF2B5EF4-FFF2-40B4-BE49-F238E27FC236}">
                <a16:creationId xmlns:a16="http://schemas.microsoft.com/office/drawing/2014/main" id="{5CF94EBB-C79B-50C3-5B2C-2AA5FD63F207}"/>
              </a:ext>
            </a:extLst>
          </p:cNvPr>
          <p:cNvSpPr txBox="1"/>
          <p:nvPr/>
        </p:nvSpPr>
        <p:spPr>
          <a:xfrm>
            <a:off x="6468525" y="6061628"/>
            <a:ext cx="2723878" cy="1336347"/>
          </a:xfrm>
          <a:prstGeom prst="rect">
            <a:avLst/>
          </a:prstGeom>
          <a:noFill/>
        </p:spPr>
        <p:txBody>
          <a:bodyPr wrap="square" lIns="0" tIns="144000" rIns="72000" bIns="72000" rtlCol="0">
            <a:no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233567"/>
                </a:solidFill>
                <a:effectLst/>
                <a:uLnTx/>
                <a:uFillTx/>
                <a:latin typeface="Roboto Light" panose="02000000000000000000" pitchFamily="2" charset="0"/>
                <a:ea typeface="Roboto Light" panose="02000000000000000000" pitchFamily="2" charset="0"/>
                <a:cs typeface="Times New Roman" panose="02020603050405020304" pitchFamily="18" charset="0"/>
              </a:rPr>
              <a:t>Grenz &amp; Co. Immobilienberatungs-GmbH</a:t>
            </a:r>
            <a:endParaRPr kumimoji="0" lang="de-DE" sz="900" b="0" i="0" u="none" strike="noStrike" kern="1200" cap="none" spc="0" normalizeH="0" baseline="0" noProof="0" dirty="0">
              <a:ln>
                <a:noFill/>
              </a:ln>
              <a:solidFill>
                <a:srgbClr val="233567"/>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233567"/>
                </a:solidFill>
                <a:effectLst/>
                <a:uLnTx/>
                <a:uFillTx/>
                <a:latin typeface="Roboto Light" panose="02000000000000000000" pitchFamily="2" charset="0"/>
                <a:ea typeface="Roboto Light" panose="02000000000000000000" pitchFamily="2" charset="0"/>
                <a:cs typeface="Times New Roman" panose="02020603050405020304" pitchFamily="18" charset="0"/>
              </a:rPr>
              <a:t>Friesenplatz 1, 50672 Köln</a:t>
            </a:r>
          </a:p>
          <a:p>
            <a:pPr marL="0" marR="0" lvl="0" indent="0" algn="l" defTabSz="457200" rtl="0" eaLnBrk="1" fontAlgn="auto" latinLnBrk="0" hangingPunct="1">
              <a:lnSpc>
                <a:spcPts val="1400"/>
              </a:lnSpc>
              <a:spcBef>
                <a:spcPts val="0"/>
              </a:spcBef>
              <a:spcAft>
                <a:spcPts val="0"/>
              </a:spcAft>
              <a:buClrTx/>
              <a:buSzTx/>
              <a:buFontTx/>
              <a:buNone/>
              <a:tabLst/>
              <a:defRPr/>
            </a:pPr>
            <a:endParaRPr lang="de-DE" sz="900" dirty="0">
              <a:solidFill>
                <a:srgbClr val="233567"/>
              </a:solidFill>
              <a:latin typeface="Roboto Light" panose="02000000000000000000" pitchFamily="2" charset="0"/>
              <a:ea typeface="Roboto Light" panose="02000000000000000000" pitchFamily="2" charset="0"/>
              <a:cs typeface="Times New Roman" panose="02020603050405020304" pitchFamily="18" charset="0"/>
            </a:endParaRPr>
          </a:p>
          <a:p>
            <a:pPr defTabSz="457200">
              <a:lnSpc>
                <a:spcPts val="1400"/>
              </a:lnSpc>
              <a:defRPr/>
            </a:pPr>
            <a:r>
              <a:rPr lang="de-DE" sz="900" dirty="0">
                <a:solidFill>
                  <a:srgbClr val="233567"/>
                </a:solidFill>
                <a:latin typeface="Roboto Light" panose="02000000000000000000" pitchFamily="2" charset="0"/>
                <a:ea typeface="Roboto Light" panose="02000000000000000000" pitchFamily="2" charset="0"/>
                <a:cs typeface="Times New Roman" panose="02020603050405020304" pitchFamily="18" charset="0"/>
              </a:rPr>
              <a:t>Telefon: +49 221 669 948 50</a:t>
            </a:r>
          </a:p>
          <a:p>
            <a:pPr defTabSz="457200">
              <a:lnSpc>
                <a:spcPts val="1400"/>
              </a:lnSpc>
              <a:defRPr/>
            </a:pPr>
            <a:r>
              <a:rPr lang="de-DE" sz="900" dirty="0">
                <a:solidFill>
                  <a:srgbClr val="233567"/>
                </a:solidFill>
                <a:latin typeface="Roboto Light" panose="02000000000000000000" pitchFamily="2" charset="0"/>
                <a:ea typeface="Roboto Light" panose="02000000000000000000" pitchFamily="2" charset="0"/>
                <a:cs typeface="Times New Roman" panose="02020603050405020304" pitchFamily="18" charset="0"/>
              </a:rPr>
              <a:t>Web: </a:t>
            </a:r>
            <a:r>
              <a:rPr lang="de-DE" sz="900" dirty="0" err="1">
                <a:solidFill>
                  <a:srgbClr val="233567"/>
                </a:solidFill>
                <a:latin typeface="Roboto Light" panose="02000000000000000000" pitchFamily="2" charset="0"/>
                <a:ea typeface="Roboto Light" panose="02000000000000000000" pitchFamily="2" charset="0"/>
                <a:cs typeface="Times New Roman" panose="02020603050405020304" pitchFamily="18" charset="0"/>
              </a:rPr>
              <a:t>www.grenz-co.de</a:t>
            </a:r>
            <a:endParaRPr lang="de-DE" sz="900" dirty="0">
              <a:solidFill>
                <a:srgbClr val="233567"/>
              </a:solidFill>
              <a:latin typeface="Roboto Light" panose="02000000000000000000" pitchFamily="2" charset="0"/>
              <a:ea typeface="Roboto Light" panose="02000000000000000000" pitchFamily="2" charset="0"/>
              <a:cs typeface="Times New Roman" panose="02020603050405020304" pitchFamily="18" charset="0"/>
            </a:endParaRPr>
          </a:p>
        </p:txBody>
      </p:sp>
      <p:sp>
        <p:nvSpPr>
          <p:cNvPr id="13" name="Textfeld 12">
            <a:extLst>
              <a:ext uri="{FF2B5EF4-FFF2-40B4-BE49-F238E27FC236}">
                <a16:creationId xmlns:a16="http://schemas.microsoft.com/office/drawing/2014/main" id="{CD9DA384-04B7-C3BF-9776-4E6707CAED6D}"/>
              </a:ext>
            </a:extLst>
          </p:cNvPr>
          <p:cNvSpPr txBox="1"/>
          <p:nvPr/>
        </p:nvSpPr>
        <p:spPr>
          <a:xfrm>
            <a:off x="1477543" y="4430385"/>
            <a:ext cx="3563088" cy="1336347"/>
          </a:xfrm>
          <a:prstGeom prst="rect">
            <a:avLst/>
          </a:prstGeom>
          <a:noFill/>
        </p:spPr>
        <p:txBody>
          <a:bodyPr wrap="square" lIns="0" tIns="144000" rIns="0" bIns="72000" rtlCol="0">
            <a:noAutofit/>
          </a:bodyPr>
          <a:lstStyle/>
          <a:p>
            <a:pPr lvl="0" algn="just" defTabSz="457200">
              <a:lnSpc>
                <a:spcPts val="1400"/>
              </a:lnSpc>
              <a:defRPr/>
            </a:pPr>
            <a:r>
              <a:rPr lang="de-DE" sz="900" dirty="0">
                <a:latin typeface="Roboto Light" panose="02000000000000000000" pitchFamily="2" charset="0"/>
                <a:ea typeface="Roboto Light" panose="02000000000000000000" pitchFamily="2" charset="0"/>
                <a:cs typeface="Times New Roman" panose="02020603050405020304" pitchFamily="18" charset="0"/>
              </a:rPr>
              <a:t>Sebastian Grenz ist Gründer und Geschäftsführer der Grenz &amp; Co. Immobilienberatung. Zuvor war er langjährig bei der BNP Paribas Real Estate als Senior Berater für Anlageimmobilien tätig. Hier hat er viele Transaktionen mit unterschiedlichen Auftraggebern und Investoren begleitet. Als Grundlage hat er ein betriebswirtschaftliches Studium an der Universität zu Köln absolviert.</a:t>
            </a:r>
          </a:p>
        </p:txBody>
      </p:sp>
    </p:spTree>
    <p:extLst>
      <p:ext uri="{BB962C8B-B14F-4D97-AF65-F5344CB8AC3E}">
        <p14:creationId xmlns:p14="http://schemas.microsoft.com/office/powerpoint/2010/main" val="1310442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969C-074F-6181-F21B-27C13AA35FF6}"/>
            </a:ext>
          </a:extLst>
        </p:cNvPr>
        <p:cNvGrpSpPr/>
        <p:nvPr/>
      </p:nvGrpSpPr>
      <p:grpSpPr>
        <a:xfrm>
          <a:off x="0" y="0"/>
          <a:ext cx="0" cy="0"/>
          <a:chOff x="0" y="0"/>
          <a:chExt cx="0" cy="0"/>
        </a:xfrm>
      </p:grpSpPr>
      <p:sp>
        <p:nvSpPr>
          <p:cNvPr id="8" name="Textplatzhalter 7">
            <a:extLst>
              <a:ext uri="{FF2B5EF4-FFF2-40B4-BE49-F238E27FC236}">
                <a16:creationId xmlns:a16="http://schemas.microsoft.com/office/drawing/2014/main" id="{7B738253-B60B-F62B-DD1B-8509F0BD0A6C}"/>
              </a:ext>
            </a:extLst>
          </p:cNvPr>
          <p:cNvSpPr>
            <a:spLocks noGrp="1"/>
          </p:cNvSpPr>
          <p:nvPr>
            <p:ph type="body" sz="quarter" idx="17"/>
          </p:nvPr>
        </p:nvSpPr>
        <p:spPr>
          <a:prstGeom prst="rect">
            <a:avLst/>
          </a:prstGeom>
        </p:spPr>
        <p:txBody>
          <a:bodyPr/>
          <a:lstStyle/>
          <a:p>
            <a:r>
              <a:rPr lang="de-DE" dirty="0"/>
              <a:t>ÜBERBLICK</a:t>
            </a:r>
          </a:p>
        </p:txBody>
      </p:sp>
      <p:sp>
        <p:nvSpPr>
          <p:cNvPr id="9" name="Textplatzhalter 8">
            <a:extLst>
              <a:ext uri="{FF2B5EF4-FFF2-40B4-BE49-F238E27FC236}">
                <a16:creationId xmlns:a16="http://schemas.microsoft.com/office/drawing/2014/main" id="{F6B7B8DA-29FD-D0A4-C803-E46756AACB04}"/>
              </a:ext>
            </a:extLst>
          </p:cNvPr>
          <p:cNvSpPr>
            <a:spLocks noGrp="1"/>
          </p:cNvSpPr>
          <p:nvPr>
            <p:ph type="body" sz="quarter" idx="18"/>
          </p:nvPr>
        </p:nvSpPr>
        <p:spPr>
          <a:prstGeom prst="rect">
            <a:avLst/>
          </a:prstGeom>
        </p:spPr>
        <p:txBody>
          <a:bodyPr/>
          <a:lstStyle/>
          <a:p>
            <a:r>
              <a:rPr lang="de-DE" dirty="0"/>
              <a:t>Lage der drei Liegenschaften</a:t>
            </a:r>
          </a:p>
        </p:txBody>
      </p:sp>
      <p:pic>
        <p:nvPicPr>
          <p:cNvPr id="6" name="Grafik 5">
            <a:extLst>
              <a:ext uri="{FF2B5EF4-FFF2-40B4-BE49-F238E27FC236}">
                <a16:creationId xmlns:a16="http://schemas.microsoft.com/office/drawing/2014/main" id="{CEBA603E-726C-7A57-00E8-CB44F50976D5}"/>
              </a:ext>
            </a:extLst>
          </p:cNvPr>
          <p:cNvPicPr>
            <a:picLocks noChangeAspect="1"/>
          </p:cNvPicPr>
          <p:nvPr/>
        </p:nvPicPr>
        <p:blipFill>
          <a:blip r:embed="rId2"/>
          <a:srcRect l="10996" t="11467" r="9326" b="11881"/>
          <a:stretch>
            <a:fillRect/>
          </a:stretch>
        </p:blipFill>
        <p:spPr>
          <a:xfrm>
            <a:off x="315703" y="1370947"/>
            <a:ext cx="9952904" cy="5791893"/>
          </a:xfrm>
          <a:prstGeom prst="rect">
            <a:avLst/>
          </a:prstGeom>
        </p:spPr>
      </p:pic>
      <p:sp>
        <p:nvSpPr>
          <p:cNvPr id="7" name="Textfeld 6">
            <a:extLst>
              <a:ext uri="{FF2B5EF4-FFF2-40B4-BE49-F238E27FC236}">
                <a16:creationId xmlns:a16="http://schemas.microsoft.com/office/drawing/2014/main" id="{81F4C505-2DC4-1025-131A-6A0E3AD83AB7}"/>
              </a:ext>
            </a:extLst>
          </p:cNvPr>
          <p:cNvSpPr txBox="1"/>
          <p:nvPr/>
        </p:nvSpPr>
        <p:spPr>
          <a:xfrm>
            <a:off x="7257834" y="3847702"/>
            <a:ext cx="1554136" cy="338554"/>
          </a:xfrm>
          <a:prstGeom prst="rect">
            <a:avLst/>
          </a:prstGeom>
          <a:solidFill>
            <a:srgbClr val="233466"/>
          </a:solidFill>
        </p:spPr>
        <p:txBody>
          <a:bodyPr wrap="square" rtlCol="0">
            <a:spAutoFit/>
          </a:bodyPr>
          <a:lstStyle/>
          <a:p>
            <a:r>
              <a:rPr lang="de-DE" sz="1600" dirty="0">
                <a:solidFill>
                  <a:schemeClr val="bg1"/>
                </a:solidFill>
              </a:rPr>
              <a:t>Kronenstraße 4</a:t>
            </a:r>
          </a:p>
        </p:txBody>
      </p:sp>
      <p:sp>
        <p:nvSpPr>
          <p:cNvPr id="10" name="Textfeld 9">
            <a:extLst>
              <a:ext uri="{FF2B5EF4-FFF2-40B4-BE49-F238E27FC236}">
                <a16:creationId xmlns:a16="http://schemas.microsoft.com/office/drawing/2014/main" id="{4700329F-EEA7-610E-908E-06778A38AA59}"/>
              </a:ext>
            </a:extLst>
          </p:cNvPr>
          <p:cNvSpPr txBox="1"/>
          <p:nvPr/>
        </p:nvSpPr>
        <p:spPr>
          <a:xfrm>
            <a:off x="7257834" y="2468516"/>
            <a:ext cx="2442259" cy="338554"/>
          </a:xfrm>
          <a:prstGeom prst="rect">
            <a:avLst/>
          </a:prstGeom>
          <a:solidFill>
            <a:srgbClr val="233466"/>
          </a:solidFill>
        </p:spPr>
        <p:txBody>
          <a:bodyPr wrap="square" rtlCol="0">
            <a:spAutoFit/>
          </a:bodyPr>
          <a:lstStyle/>
          <a:p>
            <a:r>
              <a:rPr lang="de-DE" sz="1600" dirty="0">
                <a:solidFill>
                  <a:schemeClr val="bg1"/>
                </a:solidFill>
              </a:rPr>
              <a:t>Kaiserswerther Straße 55</a:t>
            </a:r>
          </a:p>
        </p:txBody>
      </p:sp>
      <p:sp>
        <p:nvSpPr>
          <p:cNvPr id="13" name="Textfeld 12">
            <a:extLst>
              <a:ext uri="{FF2B5EF4-FFF2-40B4-BE49-F238E27FC236}">
                <a16:creationId xmlns:a16="http://schemas.microsoft.com/office/drawing/2014/main" id="{49244C9E-ABD5-43D0-66A9-F3020BF10AB6}"/>
              </a:ext>
            </a:extLst>
          </p:cNvPr>
          <p:cNvSpPr txBox="1"/>
          <p:nvPr/>
        </p:nvSpPr>
        <p:spPr>
          <a:xfrm>
            <a:off x="7257834" y="3158109"/>
            <a:ext cx="1669748" cy="338554"/>
          </a:xfrm>
          <a:prstGeom prst="rect">
            <a:avLst/>
          </a:prstGeom>
          <a:solidFill>
            <a:srgbClr val="233466"/>
          </a:solidFill>
        </p:spPr>
        <p:txBody>
          <a:bodyPr wrap="square" rtlCol="0">
            <a:spAutoFit/>
          </a:bodyPr>
          <a:lstStyle/>
          <a:p>
            <a:r>
              <a:rPr lang="de-DE" sz="1600" dirty="0">
                <a:solidFill>
                  <a:schemeClr val="bg1"/>
                </a:solidFill>
              </a:rPr>
              <a:t>Marienstraße 37</a:t>
            </a:r>
          </a:p>
        </p:txBody>
      </p:sp>
      <p:cxnSp>
        <p:nvCxnSpPr>
          <p:cNvPr id="16" name="Gerade Verbindung 15">
            <a:extLst>
              <a:ext uri="{FF2B5EF4-FFF2-40B4-BE49-F238E27FC236}">
                <a16:creationId xmlns:a16="http://schemas.microsoft.com/office/drawing/2014/main" id="{8937ACBB-6830-721A-AEA2-1BD18DE6C67C}"/>
              </a:ext>
            </a:extLst>
          </p:cNvPr>
          <p:cNvCxnSpPr>
            <a:cxnSpLocks/>
            <a:stCxn id="28" idx="7"/>
            <a:endCxn id="7" idx="1"/>
          </p:cNvCxnSpPr>
          <p:nvPr/>
        </p:nvCxnSpPr>
        <p:spPr>
          <a:xfrm flipV="1">
            <a:off x="4373673" y="4016979"/>
            <a:ext cx="2884161" cy="1747430"/>
          </a:xfrm>
          <a:prstGeom prst="line">
            <a:avLst/>
          </a:prstGeom>
          <a:ln w="19050">
            <a:solidFill>
              <a:srgbClr val="233466"/>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B44AE8B3-7D69-FD5D-6431-CD24216D8F79}"/>
              </a:ext>
            </a:extLst>
          </p:cNvPr>
          <p:cNvSpPr/>
          <p:nvPr/>
        </p:nvSpPr>
        <p:spPr>
          <a:xfrm>
            <a:off x="4261992" y="5745248"/>
            <a:ext cx="130842" cy="130842"/>
          </a:xfrm>
          <a:prstGeom prst="ellipse">
            <a:avLst/>
          </a:prstGeom>
          <a:solidFill>
            <a:srgbClr val="233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Oval 30">
            <a:extLst>
              <a:ext uri="{FF2B5EF4-FFF2-40B4-BE49-F238E27FC236}">
                <a16:creationId xmlns:a16="http://schemas.microsoft.com/office/drawing/2014/main" id="{954B9997-B843-9C57-AEB5-FAA5BFDD7255}"/>
              </a:ext>
            </a:extLst>
          </p:cNvPr>
          <p:cNvSpPr/>
          <p:nvPr/>
        </p:nvSpPr>
        <p:spPr>
          <a:xfrm>
            <a:off x="4457673" y="2123567"/>
            <a:ext cx="130842" cy="130842"/>
          </a:xfrm>
          <a:prstGeom prst="ellipse">
            <a:avLst/>
          </a:prstGeom>
          <a:solidFill>
            <a:srgbClr val="233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Oval 31">
            <a:extLst>
              <a:ext uri="{FF2B5EF4-FFF2-40B4-BE49-F238E27FC236}">
                <a16:creationId xmlns:a16="http://schemas.microsoft.com/office/drawing/2014/main" id="{ACB5AD67-CAFA-F97A-32B5-50D1AF879DE8}"/>
              </a:ext>
            </a:extLst>
          </p:cNvPr>
          <p:cNvSpPr/>
          <p:nvPr/>
        </p:nvSpPr>
        <p:spPr>
          <a:xfrm>
            <a:off x="5250866" y="4350349"/>
            <a:ext cx="130842" cy="130842"/>
          </a:xfrm>
          <a:prstGeom prst="ellipse">
            <a:avLst/>
          </a:prstGeom>
          <a:solidFill>
            <a:srgbClr val="233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3" name="Gerade Verbindung 32">
            <a:extLst>
              <a:ext uri="{FF2B5EF4-FFF2-40B4-BE49-F238E27FC236}">
                <a16:creationId xmlns:a16="http://schemas.microsoft.com/office/drawing/2014/main" id="{B8C48089-C8CB-DE00-995B-699572E970FF}"/>
              </a:ext>
            </a:extLst>
          </p:cNvPr>
          <p:cNvCxnSpPr>
            <a:cxnSpLocks/>
            <a:stCxn id="32" idx="7"/>
            <a:endCxn id="13" idx="1"/>
          </p:cNvCxnSpPr>
          <p:nvPr/>
        </p:nvCxnSpPr>
        <p:spPr>
          <a:xfrm flipV="1">
            <a:off x="5362547" y="3327386"/>
            <a:ext cx="1895287" cy="1042124"/>
          </a:xfrm>
          <a:prstGeom prst="line">
            <a:avLst/>
          </a:prstGeom>
          <a:ln w="19050">
            <a:solidFill>
              <a:srgbClr val="233466"/>
            </a:solidFill>
          </a:ln>
        </p:spPr>
        <p:style>
          <a:lnRef idx="1">
            <a:schemeClr val="accent1"/>
          </a:lnRef>
          <a:fillRef idx="0">
            <a:schemeClr val="accent1"/>
          </a:fillRef>
          <a:effectRef idx="0">
            <a:schemeClr val="accent1"/>
          </a:effectRef>
          <a:fontRef idx="minor">
            <a:schemeClr val="tx1"/>
          </a:fontRef>
        </p:style>
      </p:cxnSp>
      <p:cxnSp>
        <p:nvCxnSpPr>
          <p:cNvPr id="34" name="Gerade Verbindung 33">
            <a:extLst>
              <a:ext uri="{FF2B5EF4-FFF2-40B4-BE49-F238E27FC236}">
                <a16:creationId xmlns:a16="http://schemas.microsoft.com/office/drawing/2014/main" id="{C0627568-776E-235C-39BF-BDC02B278066}"/>
              </a:ext>
            </a:extLst>
          </p:cNvPr>
          <p:cNvCxnSpPr>
            <a:cxnSpLocks/>
            <a:stCxn id="31" idx="6"/>
            <a:endCxn id="10" idx="1"/>
          </p:cNvCxnSpPr>
          <p:nvPr/>
        </p:nvCxnSpPr>
        <p:spPr>
          <a:xfrm>
            <a:off x="4588515" y="2188988"/>
            <a:ext cx="2669319" cy="448805"/>
          </a:xfrm>
          <a:prstGeom prst="line">
            <a:avLst/>
          </a:prstGeom>
          <a:ln w="19050">
            <a:solidFill>
              <a:srgbClr val="2334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76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F756E267-5563-068A-9E44-12BE959C88BF}"/>
              </a:ext>
            </a:extLst>
          </p:cNvPr>
          <p:cNvSpPr>
            <a:spLocks noGrp="1"/>
          </p:cNvSpPr>
          <p:nvPr>
            <p:ph type="body" sz="quarter" idx="17"/>
          </p:nvPr>
        </p:nvSpPr>
        <p:spPr>
          <a:prstGeom prst="rect">
            <a:avLst/>
          </a:prstGeom>
        </p:spPr>
        <p:txBody>
          <a:bodyPr/>
          <a:lstStyle/>
          <a:p>
            <a:r>
              <a:rPr lang="de-DE" dirty="0"/>
              <a:t>LIEGENSCHAFT</a:t>
            </a:r>
          </a:p>
        </p:txBody>
      </p:sp>
      <p:sp>
        <p:nvSpPr>
          <p:cNvPr id="7" name="Textplatzhalter 6">
            <a:extLst>
              <a:ext uri="{FF2B5EF4-FFF2-40B4-BE49-F238E27FC236}">
                <a16:creationId xmlns:a16="http://schemas.microsoft.com/office/drawing/2014/main" id="{BF7706E6-2790-4CFD-8738-C5B945CA76EC}"/>
              </a:ext>
            </a:extLst>
          </p:cNvPr>
          <p:cNvSpPr>
            <a:spLocks noGrp="1"/>
          </p:cNvSpPr>
          <p:nvPr>
            <p:ph type="body" sz="quarter" idx="18"/>
          </p:nvPr>
        </p:nvSpPr>
        <p:spPr>
          <a:prstGeom prst="rect">
            <a:avLst/>
          </a:prstGeom>
        </p:spPr>
        <p:txBody>
          <a:bodyPr/>
          <a:lstStyle/>
          <a:p>
            <a:r>
              <a:rPr lang="de-DE" dirty="0"/>
              <a:t>Impressionen</a:t>
            </a:r>
          </a:p>
        </p:txBody>
      </p:sp>
      <p:pic>
        <p:nvPicPr>
          <p:cNvPr id="23" name="Bildplatzhalter 22">
            <a:extLst>
              <a:ext uri="{FF2B5EF4-FFF2-40B4-BE49-F238E27FC236}">
                <a16:creationId xmlns:a16="http://schemas.microsoft.com/office/drawing/2014/main" id="{436CEEB3-02AF-9FD1-ADD2-169B0E20DB97}"/>
              </a:ext>
            </a:extLst>
          </p:cNvPr>
          <p:cNvPicPr>
            <a:picLocks noGrp="1" noChangeAspect="1"/>
          </p:cNvPicPr>
          <p:nvPr>
            <p:ph type="pic" sz="quarter" idx="13"/>
          </p:nvPr>
        </p:nvPicPr>
        <p:blipFill>
          <a:blip r:embed="rId2"/>
          <a:srcRect l="1212" r="4773"/>
          <a:stretch>
            <a:fillRect/>
          </a:stretch>
        </p:blipFill>
        <p:spPr>
          <a:xfrm>
            <a:off x="315703" y="1668809"/>
            <a:ext cx="3188382" cy="4520778"/>
          </a:xfrm>
        </p:spPr>
      </p:pic>
      <p:pic>
        <p:nvPicPr>
          <p:cNvPr id="25" name="Grafik 24">
            <a:extLst>
              <a:ext uri="{FF2B5EF4-FFF2-40B4-BE49-F238E27FC236}">
                <a16:creationId xmlns:a16="http://schemas.microsoft.com/office/drawing/2014/main" id="{084C04C2-2F7D-85D7-E4C5-91B1D0B7A45E}"/>
              </a:ext>
            </a:extLst>
          </p:cNvPr>
          <p:cNvPicPr>
            <a:picLocks noChangeAspect="1"/>
          </p:cNvPicPr>
          <p:nvPr/>
        </p:nvPicPr>
        <p:blipFill>
          <a:blip r:embed="rId3"/>
          <a:srcRect l="21331" t="11211" r="29645" b="36662"/>
          <a:stretch>
            <a:fillRect/>
          </a:stretch>
        </p:blipFill>
        <p:spPr>
          <a:xfrm>
            <a:off x="3607290" y="1668809"/>
            <a:ext cx="3188382" cy="4520778"/>
          </a:xfrm>
          <a:prstGeom prst="rect">
            <a:avLst/>
          </a:prstGeom>
        </p:spPr>
      </p:pic>
      <p:pic>
        <p:nvPicPr>
          <p:cNvPr id="27" name="Grafik 26">
            <a:extLst>
              <a:ext uri="{FF2B5EF4-FFF2-40B4-BE49-F238E27FC236}">
                <a16:creationId xmlns:a16="http://schemas.microsoft.com/office/drawing/2014/main" id="{F1697AB4-B627-20D0-671C-D6EE0F63A11C}"/>
              </a:ext>
            </a:extLst>
          </p:cNvPr>
          <p:cNvPicPr>
            <a:picLocks noChangeAspect="1"/>
          </p:cNvPicPr>
          <p:nvPr/>
        </p:nvPicPr>
        <p:blipFill>
          <a:blip r:embed="rId4"/>
          <a:srcRect r="5930"/>
          <a:stretch>
            <a:fillRect/>
          </a:stretch>
        </p:blipFill>
        <p:spPr>
          <a:xfrm>
            <a:off x="6898877" y="1668809"/>
            <a:ext cx="3188382" cy="4520778"/>
          </a:xfrm>
          <a:prstGeom prst="rect">
            <a:avLst/>
          </a:prstGeom>
        </p:spPr>
      </p:pic>
      <p:sp>
        <p:nvSpPr>
          <p:cNvPr id="30" name="Textfeld 29">
            <a:extLst>
              <a:ext uri="{FF2B5EF4-FFF2-40B4-BE49-F238E27FC236}">
                <a16:creationId xmlns:a16="http://schemas.microsoft.com/office/drawing/2014/main" id="{3BAE1A4A-2289-0C62-9854-6A6133973A87}"/>
              </a:ext>
            </a:extLst>
          </p:cNvPr>
          <p:cNvSpPr txBox="1"/>
          <p:nvPr/>
        </p:nvSpPr>
        <p:spPr>
          <a:xfrm>
            <a:off x="315703" y="6285143"/>
            <a:ext cx="3188382" cy="338554"/>
          </a:xfrm>
          <a:prstGeom prst="rect">
            <a:avLst/>
          </a:prstGeom>
          <a:solidFill>
            <a:srgbClr val="233466"/>
          </a:solidFill>
        </p:spPr>
        <p:txBody>
          <a:bodyPr wrap="square" rtlCol="0">
            <a:spAutoFit/>
          </a:bodyPr>
          <a:lstStyle/>
          <a:p>
            <a:r>
              <a:rPr lang="de-DE" sz="1600" dirty="0">
                <a:solidFill>
                  <a:schemeClr val="bg1"/>
                </a:solidFill>
              </a:rPr>
              <a:t>Kronenstraße 4</a:t>
            </a:r>
          </a:p>
        </p:txBody>
      </p:sp>
      <p:sp>
        <p:nvSpPr>
          <p:cNvPr id="31" name="Textfeld 30">
            <a:extLst>
              <a:ext uri="{FF2B5EF4-FFF2-40B4-BE49-F238E27FC236}">
                <a16:creationId xmlns:a16="http://schemas.microsoft.com/office/drawing/2014/main" id="{8B33FDEB-3B14-0D3A-9496-0CDFAE112133}"/>
              </a:ext>
            </a:extLst>
          </p:cNvPr>
          <p:cNvSpPr txBox="1"/>
          <p:nvPr/>
        </p:nvSpPr>
        <p:spPr>
          <a:xfrm>
            <a:off x="3607290" y="6285143"/>
            <a:ext cx="3188382" cy="338554"/>
          </a:xfrm>
          <a:prstGeom prst="rect">
            <a:avLst/>
          </a:prstGeom>
          <a:solidFill>
            <a:srgbClr val="233466"/>
          </a:solidFill>
        </p:spPr>
        <p:txBody>
          <a:bodyPr wrap="square" rtlCol="0">
            <a:spAutoFit/>
          </a:bodyPr>
          <a:lstStyle/>
          <a:p>
            <a:r>
              <a:rPr lang="de-DE" sz="1600" dirty="0">
                <a:solidFill>
                  <a:schemeClr val="bg1"/>
                </a:solidFill>
              </a:rPr>
              <a:t>Kaiserswerther Straße 55</a:t>
            </a:r>
          </a:p>
        </p:txBody>
      </p:sp>
      <p:sp>
        <p:nvSpPr>
          <p:cNvPr id="32" name="Textfeld 31">
            <a:extLst>
              <a:ext uri="{FF2B5EF4-FFF2-40B4-BE49-F238E27FC236}">
                <a16:creationId xmlns:a16="http://schemas.microsoft.com/office/drawing/2014/main" id="{8E6872B3-9804-52D4-06A7-B0176E0BA679}"/>
              </a:ext>
            </a:extLst>
          </p:cNvPr>
          <p:cNvSpPr txBox="1"/>
          <p:nvPr/>
        </p:nvSpPr>
        <p:spPr>
          <a:xfrm>
            <a:off x="6898877" y="6285143"/>
            <a:ext cx="3188382" cy="338554"/>
          </a:xfrm>
          <a:prstGeom prst="rect">
            <a:avLst/>
          </a:prstGeom>
          <a:solidFill>
            <a:srgbClr val="233466"/>
          </a:solidFill>
        </p:spPr>
        <p:txBody>
          <a:bodyPr wrap="square" rtlCol="0">
            <a:spAutoFit/>
          </a:bodyPr>
          <a:lstStyle/>
          <a:p>
            <a:r>
              <a:rPr lang="de-DE" sz="1600" dirty="0">
                <a:solidFill>
                  <a:schemeClr val="bg1"/>
                </a:solidFill>
              </a:rPr>
              <a:t>Marienstraße 37</a:t>
            </a:r>
          </a:p>
        </p:txBody>
      </p:sp>
    </p:spTree>
    <p:extLst>
      <p:ext uri="{BB962C8B-B14F-4D97-AF65-F5344CB8AC3E}">
        <p14:creationId xmlns:p14="http://schemas.microsoft.com/office/powerpoint/2010/main" val="379627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60DBDC87-FF3B-E869-DF31-38CDA5B9DA1F}"/>
              </a:ext>
            </a:extLst>
          </p:cNvPr>
          <p:cNvSpPr>
            <a:spLocks noGrp="1"/>
          </p:cNvSpPr>
          <p:nvPr>
            <p:ph type="body" sz="quarter" idx="17"/>
          </p:nvPr>
        </p:nvSpPr>
        <p:spPr>
          <a:prstGeom prst="rect">
            <a:avLst/>
          </a:prstGeom>
        </p:spPr>
        <p:txBody>
          <a:bodyPr/>
          <a:lstStyle/>
          <a:p>
            <a:r>
              <a:rPr lang="de-DE" dirty="0"/>
              <a:t>KEY FACTS</a:t>
            </a:r>
          </a:p>
        </p:txBody>
      </p:sp>
      <p:sp>
        <p:nvSpPr>
          <p:cNvPr id="5" name="Textplatzhalter 4">
            <a:extLst>
              <a:ext uri="{FF2B5EF4-FFF2-40B4-BE49-F238E27FC236}">
                <a16:creationId xmlns:a16="http://schemas.microsoft.com/office/drawing/2014/main" id="{B263950C-A636-BD30-27E6-DACC7B830C54}"/>
              </a:ext>
            </a:extLst>
          </p:cNvPr>
          <p:cNvSpPr>
            <a:spLocks noGrp="1"/>
          </p:cNvSpPr>
          <p:nvPr>
            <p:ph type="body" sz="quarter" idx="18"/>
          </p:nvPr>
        </p:nvSpPr>
        <p:spPr>
          <a:xfrm>
            <a:off x="315703" y="1028696"/>
            <a:ext cx="7892578" cy="277783"/>
          </a:xfrm>
          <a:prstGeom prst="rect">
            <a:avLst/>
          </a:prstGeom>
        </p:spPr>
        <p:txBody>
          <a:bodyPr/>
          <a:lstStyle/>
          <a:p>
            <a:r>
              <a:rPr lang="de-DE" dirty="0"/>
              <a:t>Drei Wohn- und Geschäftshäuser</a:t>
            </a:r>
          </a:p>
        </p:txBody>
      </p:sp>
      <p:graphicFrame>
        <p:nvGraphicFramePr>
          <p:cNvPr id="16" name="Tabellenplatzhalter 11">
            <a:extLst>
              <a:ext uri="{FF2B5EF4-FFF2-40B4-BE49-F238E27FC236}">
                <a16:creationId xmlns:a16="http://schemas.microsoft.com/office/drawing/2014/main" id="{734BD305-0074-A147-B0C5-7EDD0E70A584}"/>
              </a:ext>
            </a:extLst>
          </p:cNvPr>
          <p:cNvGraphicFramePr>
            <a:graphicFrameLocks/>
          </p:cNvGraphicFramePr>
          <p:nvPr>
            <p:extLst>
              <p:ext uri="{D42A27DB-BD31-4B8C-83A1-F6EECF244321}">
                <p14:modId xmlns:p14="http://schemas.microsoft.com/office/powerpoint/2010/main" val="2239432582"/>
              </p:ext>
            </p:extLst>
          </p:nvPr>
        </p:nvGraphicFramePr>
        <p:xfrm>
          <a:off x="315703" y="1664683"/>
          <a:ext cx="9037018" cy="4355374"/>
        </p:xfrm>
        <a:graphic>
          <a:graphicData uri="http://schemas.openxmlformats.org/drawingml/2006/table">
            <a:tbl>
              <a:tblPr>
                <a:tableStyleId>{C083E6E3-FA7D-4D7B-A595-EF9225AFEA82}</a:tableStyleId>
              </a:tblPr>
              <a:tblGrid>
                <a:gridCol w="2248593">
                  <a:extLst>
                    <a:ext uri="{9D8B030D-6E8A-4147-A177-3AD203B41FA5}">
                      <a16:colId xmlns:a16="http://schemas.microsoft.com/office/drawing/2014/main" val="1157495208"/>
                    </a:ext>
                  </a:extLst>
                </a:gridCol>
                <a:gridCol w="2226365">
                  <a:extLst>
                    <a:ext uri="{9D8B030D-6E8A-4147-A177-3AD203B41FA5}">
                      <a16:colId xmlns:a16="http://schemas.microsoft.com/office/drawing/2014/main" val="660139781"/>
                    </a:ext>
                  </a:extLst>
                </a:gridCol>
                <a:gridCol w="2236304">
                  <a:extLst>
                    <a:ext uri="{9D8B030D-6E8A-4147-A177-3AD203B41FA5}">
                      <a16:colId xmlns:a16="http://schemas.microsoft.com/office/drawing/2014/main" val="3630742028"/>
                    </a:ext>
                  </a:extLst>
                </a:gridCol>
                <a:gridCol w="2325756">
                  <a:extLst>
                    <a:ext uri="{9D8B030D-6E8A-4147-A177-3AD203B41FA5}">
                      <a16:colId xmlns:a16="http://schemas.microsoft.com/office/drawing/2014/main" val="920556507"/>
                    </a:ext>
                  </a:extLst>
                </a:gridCol>
              </a:tblGrid>
              <a:tr h="310172">
                <a:tc>
                  <a:txBody>
                    <a:bodyPr/>
                    <a:lstStyle/>
                    <a:p>
                      <a:r>
                        <a:rPr lang="de-DE" sz="900" b="1" i="0" spc="0" dirty="0">
                          <a:solidFill>
                            <a:schemeClr val="bg1"/>
                          </a:solidFill>
                          <a:latin typeface="Roboto Light" panose="02000000000000000000" pitchFamily="2" charset="0"/>
                          <a:ea typeface="Roboto Light" panose="02000000000000000000" pitchFamily="2" charset="0"/>
                          <a:cs typeface="BNPP Sans Light"/>
                        </a:rPr>
                        <a:t>Liegenschaft</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Kronenstraße 4</a:t>
                      </a:r>
                      <a:endParaRPr kumimoji="0" lang="de-DE" sz="9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rPr>
                        <a:t>Kaiserswerther Straße 55</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rPr>
                        <a:t>Marienstraße 37</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extLst>
                  <a:ext uri="{0D108BD9-81ED-4DB2-BD59-A6C34878D82A}">
                    <a16:rowId xmlns:a16="http://schemas.microsoft.com/office/drawing/2014/main" val="2620292130"/>
                  </a:ext>
                </a:extLst>
              </a:tr>
              <a:tr h="259379">
                <a:tc>
                  <a:txBody>
                    <a:bodyPr/>
                    <a:lstStyle/>
                    <a:p>
                      <a:r>
                        <a:rPr lang="de-DE" sz="900" b="0" i="0" spc="0" dirty="0">
                          <a:solidFill>
                            <a:schemeClr val="tx1"/>
                          </a:solidFill>
                          <a:latin typeface="Roboto Light" panose="02000000000000000000" pitchFamily="2" charset="0"/>
                          <a:ea typeface="Roboto Light" panose="02000000000000000000" pitchFamily="2" charset="0"/>
                          <a:cs typeface="BNPP Sans Light"/>
                        </a:rPr>
                        <a:t>Grundstücksgröße</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392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1.352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178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32404425"/>
                  </a:ext>
                </a:extLst>
              </a:tr>
              <a:tr h="259379">
                <a:tc>
                  <a:txBody>
                    <a:bodyPr/>
                    <a:lstStyle/>
                    <a:p>
                      <a:r>
                        <a:rPr lang="de-DE" sz="900" b="0" i="0" spc="0" dirty="0">
                          <a:solidFill>
                            <a:schemeClr val="tx1"/>
                          </a:solidFill>
                          <a:latin typeface="Roboto Light" panose="02000000000000000000" pitchFamily="2" charset="0"/>
                          <a:ea typeface="Roboto Light" panose="02000000000000000000" pitchFamily="2" charset="0"/>
                          <a:cs typeface="BNPP Sans Light"/>
                        </a:rPr>
                        <a:t>Anzahl Wohneinheiten</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11</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15</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19</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3266814"/>
                  </a:ext>
                </a:extLst>
              </a:tr>
              <a:tr h="259379">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900" b="0" i="0" spc="0" dirty="0">
                          <a:solidFill>
                            <a:schemeClr val="tx1"/>
                          </a:solidFill>
                          <a:latin typeface="Roboto Light" panose="02000000000000000000" pitchFamily="2" charset="0"/>
                          <a:ea typeface="Roboto Light" panose="02000000000000000000" pitchFamily="2" charset="0"/>
                          <a:cs typeface="BNPP Sans Light"/>
                        </a:rPr>
                        <a:t>Anzahl Gewerbeeinheiten</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  (Yogastudio)</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  (Arztpraxis)</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  (Friseursalon)</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53959507"/>
                  </a:ext>
                </a:extLst>
              </a:tr>
              <a:tr h="259379">
                <a:tc>
                  <a:txBody>
                    <a:bodyPr/>
                    <a:lstStyle/>
                    <a:p>
                      <a:r>
                        <a:rPr lang="de-DE" sz="900" b="0" i="0" spc="0" dirty="0">
                          <a:solidFill>
                            <a:schemeClr val="tx1"/>
                          </a:solidFill>
                          <a:latin typeface="Roboto Light" panose="02000000000000000000" pitchFamily="2" charset="0"/>
                          <a:ea typeface="Roboto Light" panose="02000000000000000000" pitchFamily="2" charset="0"/>
                          <a:cs typeface="BNPP Sans Light"/>
                        </a:rPr>
                        <a:t>Gesamtmietfläche</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711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1.070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705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8173187"/>
                  </a:ext>
                </a:extLst>
              </a:tr>
              <a:tr h="259379">
                <a:tc>
                  <a:txBody>
                    <a:bodyPr/>
                    <a:lstStyle/>
                    <a:p>
                      <a:r>
                        <a:rPr lang="de-DE" sz="900" b="0" i="0" spc="0" dirty="0">
                          <a:solidFill>
                            <a:schemeClr val="tx1"/>
                          </a:solidFill>
                          <a:latin typeface="Roboto Light" panose="02000000000000000000" pitchFamily="2" charset="0"/>
                          <a:ea typeface="Roboto Light" panose="02000000000000000000" pitchFamily="2" charset="0"/>
                          <a:cs typeface="BNPP Sans Light"/>
                        </a:rPr>
                        <a:t>Mietfläche Wohnen</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531</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968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525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35801479"/>
                  </a:ext>
                </a:extLst>
              </a:tr>
              <a:tr h="259379">
                <a:tc>
                  <a:txBody>
                    <a:bodyPr/>
                    <a:lstStyle/>
                    <a:p>
                      <a:r>
                        <a:rPr lang="de-DE" sz="900" b="0" i="0" spc="0" dirty="0">
                          <a:solidFill>
                            <a:schemeClr val="tx1"/>
                          </a:solidFill>
                          <a:latin typeface="Roboto Light" panose="02000000000000000000" pitchFamily="2" charset="0"/>
                          <a:ea typeface="Roboto Light" panose="02000000000000000000" pitchFamily="2" charset="0"/>
                          <a:cs typeface="BNPP Sans Light"/>
                        </a:rPr>
                        <a:t>Mietfläche Gewerbe</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180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102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ca. 180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5605159"/>
                  </a:ext>
                </a:extLst>
              </a:tr>
              <a:tr h="288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i="0" spc="0" dirty="0">
                          <a:solidFill>
                            <a:schemeClr val="tx1"/>
                          </a:solidFill>
                          <a:latin typeface="Roboto Light" panose="02000000000000000000" pitchFamily="2" charset="0"/>
                          <a:ea typeface="Roboto Light" panose="02000000000000000000" pitchFamily="2" charset="0"/>
                          <a:cs typeface="BNPP Sans Light"/>
                        </a:rPr>
                        <a:t>Nettokaltmiete pro Jahr </a:t>
                      </a:r>
                      <a:r>
                        <a:rPr lang="de-DE" sz="900" b="0" i="0" cap="all" spc="0" baseline="0" dirty="0">
                          <a:solidFill>
                            <a:schemeClr val="tx1"/>
                          </a:solidFill>
                          <a:latin typeface="Roboto Light" panose="02000000000000000000" pitchFamily="2" charset="0"/>
                          <a:ea typeface="Roboto Light" panose="02000000000000000000" pitchFamily="2" charset="0"/>
                          <a:cs typeface="BNPP Sans Light"/>
                        </a:rPr>
                        <a:t>Ist</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129.324,00 €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276.516,00 €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167.760,00 €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1596832"/>
                  </a:ext>
                </a:extLst>
              </a:tr>
              <a:tr h="288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i="0" spc="0" dirty="0">
                          <a:solidFill>
                            <a:schemeClr val="tx1"/>
                          </a:solidFill>
                          <a:latin typeface="Roboto Light" panose="02000000000000000000" pitchFamily="2" charset="0"/>
                          <a:ea typeface="Roboto Light" panose="02000000000000000000" pitchFamily="2" charset="0"/>
                          <a:cs typeface="BNPP Sans Light"/>
                        </a:rPr>
                        <a:t>Nettokaltmiete pro Jahr </a:t>
                      </a:r>
                      <a:r>
                        <a:rPr lang="de-DE" sz="900" b="0" i="0" cap="all" spc="0" baseline="0" dirty="0">
                          <a:solidFill>
                            <a:schemeClr val="tx1"/>
                          </a:solidFill>
                          <a:latin typeface="Roboto Light" panose="02000000000000000000" pitchFamily="2" charset="0"/>
                          <a:ea typeface="Roboto Light" panose="02000000000000000000" pitchFamily="2" charset="0"/>
                          <a:cs typeface="BNPP Sans Light"/>
                        </a:rPr>
                        <a:t>SOLL</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129.324,00 €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tx1"/>
                          </a:solidFill>
                          <a:effectLst/>
                          <a:uLnTx/>
                          <a:uFillTx/>
                          <a:latin typeface="Roboto Light" panose="02000000000000000000" pitchFamily="2" charset="0"/>
                          <a:ea typeface="Roboto Light" panose="02000000000000000000" pitchFamily="2" charset="0"/>
                          <a:cs typeface="BNPP Sans Light"/>
                        </a:rPr>
                        <a:t>282.000,00 €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167.760,00 €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10064388"/>
                  </a:ext>
                </a:extLst>
              </a:tr>
              <a:tr h="288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i="0" spc="0" dirty="0">
                          <a:solidFill>
                            <a:schemeClr val="tx1"/>
                          </a:solidFill>
                          <a:latin typeface="Roboto Light" panose="02000000000000000000" pitchFamily="2" charset="0"/>
                          <a:ea typeface="Roboto Light" panose="02000000000000000000" pitchFamily="2" charset="0"/>
                          <a:cs typeface="BNPP Sans Light"/>
                        </a:rPr>
                        <a:t>Durchschnitts</a:t>
                      </a:r>
                      <a:r>
                        <a:rPr lang="de-DE" sz="900" b="0" i="0" spc="0" baseline="0" dirty="0">
                          <a:solidFill>
                            <a:schemeClr val="tx1"/>
                          </a:solidFill>
                          <a:latin typeface="Roboto Light" panose="02000000000000000000" pitchFamily="2" charset="0"/>
                          <a:ea typeface="Roboto Light" panose="02000000000000000000" pitchFamily="2" charset="0"/>
                          <a:cs typeface="BNPP Sans Light"/>
                        </a:rPr>
                        <a:t>miete Wohnen IST</a:t>
                      </a:r>
                      <a:endParaRPr lang="de-DE" sz="9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17,74 €/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17,75 €/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23,49 €/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73081228"/>
                  </a:ext>
                </a:extLst>
              </a:tr>
              <a:tr h="288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i="0" spc="0" dirty="0">
                          <a:solidFill>
                            <a:schemeClr val="tx1"/>
                          </a:solidFill>
                          <a:latin typeface="Roboto Light" panose="02000000000000000000" pitchFamily="2" charset="0"/>
                          <a:ea typeface="Roboto Light" panose="02000000000000000000" pitchFamily="2" charset="0"/>
                          <a:cs typeface="BNPP Sans Light"/>
                        </a:rPr>
                        <a:t>Durchschnitts</a:t>
                      </a:r>
                      <a:r>
                        <a:rPr lang="de-DE" sz="900" b="0" i="0" spc="0" baseline="0" dirty="0">
                          <a:solidFill>
                            <a:schemeClr val="tx1"/>
                          </a:solidFill>
                          <a:latin typeface="Roboto Light" panose="02000000000000000000" pitchFamily="2" charset="0"/>
                          <a:ea typeface="Roboto Light" panose="02000000000000000000" pitchFamily="2" charset="0"/>
                          <a:cs typeface="BNPP Sans Light"/>
                        </a:rPr>
                        <a:t>miete Gewerbe IST</a:t>
                      </a:r>
                      <a:endParaRPr lang="de-DE" sz="9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7,50 €/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16,62 €/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9,17 €/</a:t>
                      </a:r>
                      <a:r>
                        <a:rPr lang="de-DE" sz="9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9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1334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b="0" i="0" u="sng" spc="0" dirty="0">
                        <a:solidFill>
                          <a:schemeClr val="tx1"/>
                        </a:solidFill>
                        <a:latin typeface="Roboto Light" panose="02000000000000000000" pitchFamily="2" charset="0"/>
                        <a:ea typeface="Roboto Light" panose="02000000000000000000" pitchFamily="2" charset="0"/>
                        <a:cs typeface="BNPP Sans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i="0" u="none" spc="0" dirty="0">
                          <a:solidFill>
                            <a:schemeClr val="tx1"/>
                          </a:solidFill>
                          <a:latin typeface="Roboto Light" panose="02000000000000000000" pitchFamily="2" charset="0"/>
                          <a:ea typeface="Roboto Light" panose="02000000000000000000" pitchFamily="2" charset="0"/>
                          <a:cs typeface="BNPP Sans Light"/>
                        </a:rPr>
                        <a:t>Besonderheiten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Treppenhaus wird noch renoviert</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Wohnungen teilweise möbliert vermietet</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Kein weiteres Mietsteigerungspotenzial</a:t>
                      </a:r>
                    </a:p>
                  </a:txBody>
                  <a:tcPr marL="94711" marR="68250" marT="34727" marB="0">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Treppenhaus wird noch renoviert</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Wohnungen teilweise möbliert vermietet</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Moderates Mietsteigerungspotenzial (Soll-Miete zeigt kurzfristigen Anstieg durch Neuvermietung)</a:t>
                      </a:r>
                    </a:p>
                  </a:txBody>
                  <a:tcPr marL="94711" marR="68250" marT="34727" marB="0">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Kleinteilige Wohnungsgrößen (überwiegend Apartments)</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Alle Wohnungen möbliert vermietet</a:t>
                      </a:r>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endParaRPr lang="de-DE" sz="900" dirty="0"/>
                    </a:p>
                    <a:p>
                      <a:pPr marL="171450" marR="0" lvl="0" indent="-171450" algn="l" defTabSz="914400" rtl="0" eaLnBrk="1" fontAlgn="auto" latinLnBrk="0" hangingPunct="1">
                        <a:lnSpc>
                          <a:spcPct val="100000"/>
                        </a:lnSpc>
                        <a:spcBef>
                          <a:spcPts val="0"/>
                        </a:spcBef>
                        <a:spcAft>
                          <a:spcPts val="0"/>
                        </a:spcAft>
                        <a:buClrTx/>
                        <a:buSzTx/>
                        <a:buFont typeface="Symbol" pitchFamily="2" charset="2"/>
                        <a:buChar char="-"/>
                        <a:tabLst/>
                        <a:defRPr/>
                      </a:pPr>
                      <a:r>
                        <a:rPr lang="de-DE" sz="900" dirty="0"/>
                        <a:t>Moderates Mietsteigerungspotenzial bei höherem Bewirtschaftungsaufwand</a:t>
                      </a:r>
                    </a:p>
                  </a:txBody>
                  <a:tcPr marL="94711" marR="68250" marT="34727" marB="0">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76607665"/>
                  </a:ext>
                </a:extLst>
              </a:tr>
            </a:tbl>
          </a:graphicData>
        </a:graphic>
      </p:graphicFrame>
    </p:spTree>
    <p:extLst>
      <p:ext uri="{BB962C8B-B14F-4D97-AF65-F5344CB8AC3E}">
        <p14:creationId xmlns:p14="http://schemas.microsoft.com/office/powerpoint/2010/main" val="1291061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D410C-DCFA-D41B-2542-E2EC5463791C}"/>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5483D4C2-E2E9-5D9B-05DA-A6C9A71713A0}"/>
              </a:ext>
            </a:extLst>
          </p:cNvPr>
          <p:cNvSpPr/>
          <p:nvPr/>
        </p:nvSpPr>
        <p:spPr>
          <a:xfrm>
            <a:off x="1" y="4742040"/>
            <a:ext cx="10691812" cy="1620260"/>
          </a:xfrm>
          <a:prstGeom prst="rect">
            <a:avLst/>
          </a:prstGeom>
          <a:solidFill>
            <a:srgbClr val="233567"/>
          </a:solidFill>
        </p:spPr>
        <p:txBody>
          <a:bodyPr wrap="square" lIns="108000" tIns="0" rIns="180000" bIns="0" rtlCol="0">
            <a:noAutofit/>
          </a:bodyPr>
          <a:lstStyle/>
          <a:p>
            <a:pPr algn="just">
              <a:spcBef>
                <a:spcPts val="1000"/>
              </a:spcBef>
            </a:pPr>
            <a:endParaRPr lang="de-DE" sz="1000">
              <a:solidFill>
                <a:schemeClr val="tx1"/>
              </a:solidFill>
              <a:latin typeface="Roboto Light" panose="02000000000000000000" pitchFamily="2" charset="0"/>
              <a:ea typeface="Roboto Light" panose="02000000000000000000" pitchFamily="2" charset="0"/>
            </a:endParaRPr>
          </a:p>
        </p:txBody>
      </p:sp>
      <p:sp>
        <p:nvSpPr>
          <p:cNvPr id="2" name="Textplatzhalter 1">
            <a:extLst>
              <a:ext uri="{FF2B5EF4-FFF2-40B4-BE49-F238E27FC236}">
                <a16:creationId xmlns:a16="http://schemas.microsoft.com/office/drawing/2014/main" id="{F22D451B-2F41-BC13-F95D-AF1BF913DDBE}"/>
              </a:ext>
            </a:extLst>
          </p:cNvPr>
          <p:cNvSpPr>
            <a:spLocks noGrp="1"/>
          </p:cNvSpPr>
          <p:nvPr>
            <p:ph type="body" sz="quarter" idx="17"/>
          </p:nvPr>
        </p:nvSpPr>
        <p:spPr>
          <a:prstGeom prst="rect">
            <a:avLst/>
          </a:prstGeom>
        </p:spPr>
        <p:txBody>
          <a:bodyPr/>
          <a:lstStyle/>
          <a:p>
            <a:r>
              <a:rPr lang="de-DE" dirty="0"/>
              <a:t>VERGLEICHSTRANSAKTIONEN</a:t>
            </a:r>
          </a:p>
        </p:txBody>
      </p:sp>
      <p:sp>
        <p:nvSpPr>
          <p:cNvPr id="3" name="Textplatzhalter 2">
            <a:extLst>
              <a:ext uri="{FF2B5EF4-FFF2-40B4-BE49-F238E27FC236}">
                <a16:creationId xmlns:a16="http://schemas.microsoft.com/office/drawing/2014/main" id="{D57513DC-D65B-235E-B78C-9907EB93483E}"/>
              </a:ext>
            </a:extLst>
          </p:cNvPr>
          <p:cNvSpPr>
            <a:spLocks noGrp="1"/>
          </p:cNvSpPr>
          <p:nvPr>
            <p:ph type="body" sz="quarter" idx="18"/>
          </p:nvPr>
        </p:nvSpPr>
        <p:spPr>
          <a:prstGeom prst="rect">
            <a:avLst/>
          </a:prstGeom>
        </p:spPr>
        <p:txBody>
          <a:bodyPr/>
          <a:lstStyle/>
          <a:p>
            <a:r>
              <a:rPr lang="de-DE" dirty="0"/>
              <a:t>Vergleichbare Liegenschaften kürzlich verkauft</a:t>
            </a:r>
          </a:p>
        </p:txBody>
      </p:sp>
      <p:sp>
        <p:nvSpPr>
          <p:cNvPr id="9" name="Textfeld 8">
            <a:extLst>
              <a:ext uri="{FF2B5EF4-FFF2-40B4-BE49-F238E27FC236}">
                <a16:creationId xmlns:a16="http://schemas.microsoft.com/office/drawing/2014/main" id="{854A7BF9-7C04-358A-DBBE-496C6CB975F2}"/>
              </a:ext>
            </a:extLst>
          </p:cNvPr>
          <p:cNvSpPr txBox="1"/>
          <p:nvPr/>
        </p:nvSpPr>
        <p:spPr>
          <a:xfrm>
            <a:off x="773387" y="2275175"/>
            <a:ext cx="3012240" cy="1800493"/>
          </a:xfrm>
          <a:prstGeom prst="rect">
            <a:avLst/>
          </a:prstGeom>
          <a:noFill/>
        </p:spPr>
        <p:txBody>
          <a:bodyPr vert="horz" wrap="square" lIns="0" tIns="0" rIns="0" bIns="0" rtlCol="0" anchor="t" anchorCtr="0">
            <a:spAutoFit/>
          </a:bodyPr>
          <a:lstStyle/>
          <a:p>
            <a:pPr algn="l">
              <a:spcBef>
                <a:spcPts val="0"/>
              </a:spcBef>
              <a:spcAft>
                <a:spcPts val="1200"/>
              </a:spcAft>
              <a:buClr>
                <a:schemeClr val="tx1"/>
              </a:buClr>
              <a:buSzPct val="100000"/>
            </a:pPr>
            <a:r>
              <a:rPr lang="de-DE" sz="1200" b="1" dirty="0">
                <a:solidFill>
                  <a:srgbClr val="233466"/>
                </a:solidFill>
              </a:rPr>
              <a:t>Moltkestraße 114, D-Pempelfort</a:t>
            </a:r>
          </a:p>
          <a:p>
            <a:pPr>
              <a:spcAft>
                <a:spcPts val="1200"/>
              </a:spcAft>
              <a:buClr>
                <a:schemeClr val="tx1"/>
              </a:buClr>
              <a:buSzPct val="100000"/>
            </a:pPr>
            <a:r>
              <a:rPr lang="de-DE" sz="1100" dirty="0">
                <a:solidFill>
                  <a:srgbClr val="233466"/>
                </a:solidFill>
                <a:cs typeface="Aktiv Grotesk"/>
              </a:rPr>
              <a:t>Wohnhaus</a:t>
            </a:r>
          </a:p>
          <a:p>
            <a:pPr>
              <a:spcAft>
                <a:spcPts val="1200"/>
              </a:spcAft>
              <a:buClr>
                <a:schemeClr val="tx1"/>
              </a:buClr>
              <a:buSzPct val="100000"/>
            </a:pPr>
            <a:r>
              <a:rPr lang="de-DE" sz="1100" spc="-10" dirty="0">
                <a:solidFill>
                  <a:srgbClr val="233466"/>
                </a:solidFill>
                <a:cs typeface="Aktiv Grotesk"/>
              </a:rPr>
              <a:t>Mietfläche: 643 m² I JNKM: 106.877 €</a:t>
            </a:r>
          </a:p>
          <a:p>
            <a:pPr>
              <a:spcAft>
                <a:spcPts val="1200"/>
              </a:spcAft>
              <a:buClr>
                <a:schemeClr val="tx1"/>
              </a:buClr>
              <a:buSzPct val="100000"/>
            </a:pPr>
            <a:r>
              <a:rPr lang="de-DE" sz="1100" spc="-10" dirty="0">
                <a:solidFill>
                  <a:srgbClr val="233466"/>
                </a:solidFill>
                <a:cs typeface="Aktiv Grotesk"/>
              </a:rPr>
              <a:t>Kaufpreis: 2,1 Mio.€</a:t>
            </a:r>
            <a:endParaRPr lang="de-DE" sz="1100" b="1"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Kaufpreisfaktor	</a:t>
            </a:r>
            <a:r>
              <a:rPr lang="de-DE" sz="1100" b="1" spc="-10" dirty="0">
                <a:solidFill>
                  <a:srgbClr val="233466"/>
                </a:solidFill>
                <a:cs typeface="Aktiv Grotesk"/>
              </a:rPr>
              <a:t>19,6 </a:t>
            </a:r>
            <a:r>
              <a:rPr lang="de-DE" sz="1100" b="1" spc="-10" dirty="0" err="1">
                <a:solidFill>
                  <a:srgbClr val="233466"/>
                </a:solidFill>
                <a:cs typeface="Aktiv Grotesk"/>
              </a:rPr>
              <a:t>fach</a:t>
            </a:r>
            <a:endParaRPr lang="de-DE" sz="1100"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 pro m²	</a:t>
            </a:r>
            <a:r>
              <a:rPr lang="de-DE" sz="1100" b="1" spc="-10" dirty="0">
                <a:solidFill>
                  <a:srgbClr val="233466"/>
                </a:solidFill>
                <a:cs typeface="Aktiv Grotesk"/>
              </a:rPr>
              <a:t>3.265 €</a:t>
            </a:r>
            <a:r>
              <a:rPr lang="de-DE" sz="1100" b="1" spc="-10" dirty="0">
                <a:solidFill>
                  <a:srgbClr val="233466"/>
                </a:solidFill>
              </a:rPr>
              <a:t>/m²</a:t>
            </a:r>
            <a:endParaRPr lang="de-DE" sz="1100" dirty="0">
              <a:solidFill>
                <a:srgbClr val="233466"/>
              </a:solidFill>
              <a:cs typeface="Aktiv Grotesk"/>
            </a:endParaRPr>
          </a:p>
        </p:txBody>
      </p:sp>
      <p:sp>
        <p:nvSpPr>
          <p:cNvPr id="11" name="Textfeld 10">
            <a:extLst>
              <a:ext uri="{FF2B5EF4-FFF2-40B4-BE49-F238E27FC236}">
                <a16:creationId xmlns:a16="http://schemas.microsoft.com/office/drawing/2014/main" id="{5087734E-90F8-2D77-EFE2-668D5C58904C}"/>
              </a:ext>
            </a:extLst>
          </p:cNvPr>
          <p:cNvSpPr txBox="1"/>
          <p:nvPr/>
        </p:nvSpPr>
        <p:spPr>
          <a:xfrm>
            <a:off x="3880269" y="2275175"/>
            <a:ext cx="3012240" cy="1800493"/>
          </a:xfrm>
          <a:prstGeom prst="rect">
            <a:avLst/>
          </a:prstGeom>
          <a:noFill/>
        </p:spPr>
        <p:txBody>
          <a:bodyPr vert="horz" wrap="square" lIns="0" tIns="0" rIns="0" bIns="0" rtlCol="0" anchor="t" anchorCtr="0">
            <a:spAutoFit/>
          </a:bodyPr>
          <a:lstStyle/>
          <a:p>
            <a:pPr algn="l">
              <a:spcBef>
                <a:spcPts val="0"/>
              </a:spcBef>
              <a:spcAft>
                <a:spcPts val="1200"/>
              </a:spcAft>
              <a:buClr>
                <a:schemeClr val="tx1"/>
              </a:buClr>
              <a:buSzPct val="100000"/>
            </a:pPr>
            <a:r>
              <a:rPr lang="de-DE" sz="1200" b="1" dirty="0">
                <a:solidFill>
                  <a:srgbClr val="233466"/>
                </a:solidFill>
              </a:rPr>
              <a:t>Kronenstraße 28, D-Unterbilk</a:t>
            </a:r>
          </a:p>
          <a:p>
            <a:pPr>
              <a:spcAft>
                <a:spcPts val="1200"/>
              </a:spcAft>
              <a:buClr>
                <a:schemeClr val="tx1"/>
              </a:buClr>
              <a:buSzPct val="100000"/>
            </a:pPr>
            <a:r>
              <a:rPr lang="de-DE" sz="1100" dirty="0">
                <a:solidFill>
                  <a:srgbClr val="233466"/>
                </a:solidFill>
                <a:cs typeface="Aktiv Grotesk"/>
              </a:rPr>
              <a:t>Wohnhaus</a:t>
            </a:r>
          </a:p>
          <a:p>
            <a:pPr>
              <a:spcAft>
                <a:spcPts val="1200"/>
              </a:spcAft>
              <a:buClr>
                <a:schemeClr val="tx1"/>
              </a:buClr>
              <a:buSzPct val="100000"/>
            </a:pPr>
            <a:r>
              <a:rPr lang="de-DE" sz="1100" spc="-10" dirty="0">
                <a:solidFill>
                  <a:srgbClr val="233466"/>
                </a:solidFill>
                <a:cs typeface="Aktiv Grotesk"/>
              </a:rPr>
              <a:t>Mietfläche: 596 m² I JNKM: 83.000 €</a:t>
            </a:r>
          </a:p>
          <a:p>
            <a:pPr>
              <a:spcAft>
                <a:spcPts val="1200"/>
              </a:spcAft>
              <a:buClr>
                <a:schemeClr val="tx1"/>
              </a:buClr>
              <a:buSzPct val="100000"/>
            </a:pPr>
            <a:r>
              <a:rPr lang="de-DE" sz="1100" spc="-10" dirty="0">
                <a:solidFill>
                  <a:srgbClr val="233466"/>
                </a:solidFill>
                <a:cs typeface="Aktiv Grotesk"/>
              </a:rPr>
              <a:t>Kaufpreis: 1,65 Mio.€</a:t>
            </a:r>
            <a:endParaRPr lang="de-DE" sz="1100" b="1"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Kaufpreisfaktor	</a:t>
            </a:r>
            <a:r>
              <a:rPr lang="de-DE" sz="1100" b="1" spc="-10" dirty="0">
                <a:solidFill>
                  <a:srgbClr val="233466"/>
                </a:solidFill>
                <a:cs typeface="Aktiv Grotesk"/>
              </a:rPr>
              <a:t>19,9 </a:t>
            </a:r>
            <a:r>
              <a:rPr lang="de-DE" sz="1100" b="1" spc="-10" dirty="0" err="1">
                <a:solidFill>
                  <a:srgbClr val="233466"/>
                </a:solidFill>
                <a:cs typeface="Aktiv Grotesk"/>
              </a:rPr>
              <a:t>fach</a:t>
            </a:r>
            <a:endParaRPr lang="de-DE" sz="1100"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 pro m²	</a:t>
            </a:r>
            <a:r>
              <a:rPr lang="de-DE" sz="1100" b="1" spc="-10" dirty="0">
                <a:solidFill>
                  <a:srgbClr val="233466"/>
                </a:solidFill>
                <a:cs typeface="Aktiv Grotesk"/>
              </a:rPr>
              <a:t>2.768 €</a:t>
            </a:r>
            <a:r>
              <a:rPr lang="de-DE" sz="1100" b="1" spc="-10" dirty="0">
                <a:solidFill>
                  <a:srgbClr val="233466"/>
                </a:solidFill>
              </a:rPr>
              <a:t>/m²</a:t>
            </a:r>
          </a:p>
        </p:txBody>
      </p:sp>
      <p:sp>
        <p:nvSpPr>
          <p:cNvPr id="7" name="Textfeld 6">
            <a:extLst>
              <a:ext uri="{FF2B5EF4-FFF2-40B4-BE49-F238E27FC236}">
                <a16:creationId xmlns:a16="http://schemas.microsoft.com/office/drawing/2014/main" id="{9AD7B97D-83D0-2517-628B-3E33B8BFA8A7}"/>
              </a:ext>
            </a:extLst>
          </p:cNvPr>
          <p:cNvSpPr txBox="1"/>
          <p:nvPr/>
        </p:nvSpPr>
        <p:spPr>
          <a:xfrm>
            <a:off x="773387" y="4891791"/>
            <a:ext cx="3012240" cy="984885"/>
          </a:xfrm>
          <a:prstGeom prst="rect">
            <a:avLst/>
          </a:prstGeom>
          <a:noFill/>
        </p:spPr>
        <p:txBody>
          <a:bodyPr vert="horz" wrap="square" lIns="0" tIns="0" rIns="0" bIns="0" rtlCol="0" anchor="t" anchorCtr="0">
            <a:spAutoFit/>
          </a:bodyPr>
          <a:lstStyle/>
          <a:p>
            <a:pPr>
              <a:spcAft>
                <a:spcPts val="1200"/>
              </a:spcAft>
              <a:buClr>
                <a:schemeClr val="tx1"/>
              </a:buClr>
              <a:buSzPct val="100000"/>
            </a:pPr>
            <a:r>
              <a:rPr lang="de-DE" sz="1100" dirty="0">
                <a:solidFill>
                  <a:schemeClr val="bg1"/>
                </a:solidFill>
                <a:cs typeface="Aktiv Grotesk"/>
              </a:rPr>
              <a:t>Einordnung:</a:t>
            </a:r>
          </a:p>
          <a:p>
            <a:pPr marL="171450" indent="-171450">
              <a:spcAft>
                <a:spcPts val="1200"/>
              </a:spcAft>
              <a:buClr>
                <a:schemeClr val="bg1"/>
              </a:buClr>
              <a:buSzPct val="100000"/>
              <a:buFontTx/>
              <a:buChar char="-"/>
            </a:pPr>
            <a:r>
              <a:rPr lang="de-DE" sz="1100" dirty="0">
                <a:solidFill>
                  <a:schemeClr val="bg1"/>
                </a:solidFill>
                <a:cs typeface="Aktiv Grotesk"/>
              </a:rPr>
              <a:t>Objekt bietet Mietsteigerungspotenzial (Bestandsmiete 13,85 </a:t>
            </a:r>
            <a:r>
              <a:rPr lang="de-DE" sz="1100" dirty="0">
                <a:solidFill>
                  <a:schemeClr val="bg1"/>
                </a:solidFill>
              </a:rPr>
              <a:t>€/m²)</a:t>
            </a:r>
          </a:p>
          <a:p>
            <a:pPr marL="171450" indent="-171450">
              <a:spcAft>
                <a:spcPts val="1200"/>
              </a:spcAft>
              <a:buClr>
                <a:schemeClr val="bg1"/>
              </a:buClr>
              <a:buSzPct val="100000"/>
              <a:buFontTx/>
              <a:buChar char="-"/>
            </a:pPr>
            <a:r>
              <a:rPr lang="de-DE" sz="1100" dirty="0">
                <a:solidFill>
                  <a:schemeClr val="bg1"/>
                </a:solidFill>
              </a:rPr>
              <a:t>Gepflegter Zustand</a:t>
            </a:r>
          </a:p>
        </p:txBody>
      </p:sp>
      <p:sp>
        <p:nvSpPr>
          <p:cNvPr id="8" name="Textfeld 7">
            <a:extLst>
              <a:ext uri="{FF2B5EF4-FFF2-40B4-BE49-F238E27FC236}">
                <a16:creationId xmlns:a16="http://schemas.microsoft.com/office/drawing/2014/main" id="{6EFAC6D7-F9EF-C76C-A4E4-02F55096D809}"/>
              </a:ext>
            </a:extLst>
          </p:cNvPr>
          <p:cNvSpPr txBox="1"/>
          <p:nvPr/>
        </p:nvSpPr>
        <p:spPr>
          <a:xfrm>
            <a:off x="3880269" y="4891791"/>
            <a:ext cx="3012240" cy="1631216"/>
          </a:xfrm>
          <a:prstGeom prst="rect">
            <a:avLst/>
          </a:prstGeom>
          <a:noFill/>
        </p:spPr>
        <p:txBody>
          <a:bodyPr vert="horz" wrap="square" lIns="0" tIns="0" rIns="0" bIns="0" rtlCol="0" anchor="t" anchorCtr="0">
            <a:spAutoFit/>
          </a:bodyPr>
          <a:lstStyle/>
          <a:p>
            <a:pPr>
              <a:spcAft>
                <a:spcPts val="1200"/>
              </a:spcAft>
              <a:buClr>
                <a:schemeClr val="bg1"/>
              </a:buClr>
              <a:buSzPct val="100000"/>
            </a:pPr>
            <a:r>
              <a:rPr lang="de-DE" sz="1100" dirty="0">
                <a:solidFill>
                  <a:schemeClr val="bg1"/>
                </a:solidFill>
                <a:cs typeface="Aktiv Grotesk"/>
              </a:rPr>
              <a:t>Einordnung:</a:t>
            </a:r>
          </a:p>
          <a:p>
            <a:pPr marL="171450" indent="-171450">
              <a:spcAft>
                <a:spcPts val="1200"/>
              </a:spcAft>
              <a:buClr>
                <a:schemeClr val="bg1"/>
              </a:buClr>
              <a:buSzPct val="100000"/>
              <a:buFontTx/>
              <a:buChar char="-"/>
            </a:pPr>
            <a:r>
              <a:rPr lang="de-DE" sz="1100" dirty="0">
                <a:solidFill>
                  <a:schemeClr val="bg1"/>
                </a:solidFill>
                <a:cs typeface="Aktiv Grotesk"/>
              </a:rPr>
              <a:t>Objekt bietet Mietsteigerungspotenzial (Bestandsmiete 11,61 </a:t>
            </a:r>
            <a:r>
              <a:rPr lang="de-DE" sz="1100" dirty="0">
                <a:solidFill>
                  <a:schemeClr val="bg1"/>
                </a:solidFill>
              </a:rPr>
              <a:t>€/m²)</a:t>
            </a:r>
          </a:p>
          <a:p>
            <a:pPr marL="171450" indent="-171450">
              <a:spcAft>
                <a:spcPts val="1200"/>
              </a:spcAft>
              <a:buClr>
                <a:schemeClr val="bg1"/>
              </a:buClr>
              <a:buSzPct val="100000"/>
              <a:buFontTx/>
              <a:buChar char="-"/>
            </a:pPr>
            <a:r>
              <a:rPr lang="de-DE" sz="1100" dirty="0">
                <a:solidFill>
                  <a:schemeClr val="bg1"/>
                </a:solidFill>
              </a:rPr>
              <a:t>Gepflegter Zustand</a:t>
            </a:r>
          </a:p>
          <a:p>
            <a:pPr marL="171450" indent="-171450">
              <a:spcAft>
                <a:spcPts val="1200"/>
              </a:spcAft>
              <a:buClr>
                <a:schemeClr val="bg1"/>
              </a:buClr>
              <a:buSzPct val="100000"/>
              <a:buFontTx/>
              <a:buChar char="-"/>
            </a:pPr>
            <a:r>
              <a:rPr lang="de-DE" sz="1100" dirty="0">
                <a:solidFill>
                  <a:schemeClr val="bg1"/>
                </a:solidFill>
              </a:rPr>
              <a:t>Nur Wohnen ohne Gewerbeanteil</a:t>
            </a:r>
          </a:p>
          <a:p>
            <a:pPr marL="171450" indent="-171450">
              <a:spcAft>
                <a:spcPts val="1200"/>
              </a:spcAft>
              <a:buClr>
                <a:schemeClr val="bg1"/>
              </a:buClr>
              <a:buSzPct val="100000"/>
              <a:buFontTx/>
              <a:buChar char="-"/>
            </a:pPr>
            <a:endParaRPr lang="de-DE" sz="1100" dirty="0">
              <a:solidFill>
                <a:schemeClr val="bg1"/>
              </a:solidFill>
            </a:endParaRPr>
          </a:p>
        </p:txBody>
      </p:sp>
      <p:sp>
        <p:nvSpPr>
          <p:cNvPr id="16" name="Textfeld 15">
            <a:extLst>
              <a:ext uri="{FF2B5EF4-FFF2-40B4-BE49-F238E27FC236}">
                <a16:creationId xmlns:a16="http://schemas.microsoft.com/office/drawing/2014/main" id="{1B46B5E0-4976-D933-426F-1DA15B067517}"/>
              </a:ext>
            </a:extLst>
          </p:cNvPr>
          <p:cNvSpPr txBox="1"/>
          <p:nvPr/>
        </p:nvSpPr>
        <p:spPr>
          <a:xfrm>
            <a:off x="6987151" y="2275175"/>
            <a:ext cx="3012240" cy="1800493"/>
          </a:xfrm>
          <a:prstGeom prst="rect">
            <a:avLst/>
          </a:prstGeom>
          <a:noFill/>
        </p:spPr>
        <p:txBody>
          <a:bodyPr vert="horz" wrap="square" lIns="0" tIns="0" rIns="0" bIns="0" rtlCol="0" anchor="t" anchorCtr="0">
            <a:spAutoFit/>
          </a:bodyPr>
          <a:lstStyle/>
          <a:p>
            <a:pPr algn="l">
              <a:spcBef>
                <a:spcPts val="0"/>
              </a:spcBef>
              <a:spcAft>
                <a:spcPts val="1200"/>
              </a:spcAft>
              <a:buClr>
                <a:schemeClr val="tx1"/>
              </a:buClr>
              <a:buSzPct val="100000"/>
            </a:pPr>
            <a:r>
              <a:rPr lang="de-DE" sz="1200" b="1" dirty="0">
                <a:solidFill>
                  <a:srgbClr val="233466"/>
                </a:solidFill>
              </a:rPr>
              <a:t>Kronenstraße 29, D-Unterbilk</a:t>
            </a:r>
          </a:p>
          <a:p>
            <a:pPr>
              <a:spcAft>
                <a:spcPts val="1200"/>
              </a:spcAft>
              <a:buClr>
                <a:schemeClr val="tx1"/>
              </a:buClr>
              <a:buSzPct val="100000"/>
            </a:pPr>
            <a:r>
              <a:rPr lang="de-DE" sz="1100" dirty="0">
                <a:solidFill>
                  <a:srgbClr val="233466"/>
                </a:solidFill>
                <a:cs typeface="Aktiv Grotesk"/>
              </a:rPr>
              <a:t>Wohnhaus</a:t>
            </a:r>
          </a:p>
          <a:p>
            <a:pPr>
              <a:spcAft>
                <a:spcPts val="1200"/>
              </a:spcAft>
              <a:buClr>
                <a:schemeClr val="tx1"/>
              </a:buClr>
              <a:buSzPct val="100000"/>
            </a:pPr>
            <a:r>
              <a:rPr lang="de-DE" sz="1100" spc="-10" dirty="0">
                <a:solidFill>
                  <a:srgbClr val="233466"/>
                </a:solidFill>
                <a:cs typeface="Aktiv Grotesk"/>
              </a:rPr>
              <a:t>Mietfläche: 550 m² I JNKM: 78.000 €</a:t>
            </a:r>
          </a:p>
          <a:p>
            <a:pPr>
              <a:spcAft>
                <a:spcPts val="1200"/>
              </a:spcAft>
              <a:buClr>
                <a:schemeClr val="tx1"/>
              </a:buClr>
              <a:buSzPct val="100000"/>
            </a:pPr>
            <a:r>
              <a:rPr lang="de-DE" sz="1100" spc="-10" dirty="0">
                <a:solidFill>
                  <a:srgbClr val="233466"/>
                </a:solidFill>
                <a:cs typeface="Aktiv Grotesk"/>
              </a:rPr>
              <a:t>Angebotspreis: 1,8 Mio.€</a:t>
            </a:r>
            <a:endParaRPr lang="de-DE" sz="1100" b="1"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Kaufpreisfaktor	</a:t>
            </a:r>
            <a:r>
              <a:rPr lang="de-DE" sz="1100" b="1" spc="-10" dirty="0">
                <a:solidFill>
                  <a:srgbClr val="233466"/>
                </a:solidFill>
                <a:cs typeface="Aktiv Grotesk"/>
              </a:rPr>
              <a:t>23,1 </a:t>
            </a:r>
            <a:r>
              <a:rPr lang="de-DE" sz="1100" b="1" spc="-10" dirty="0" err="1">
                <a:solidFill>
                  <a:srgbClr val="233466"/>
                </a:solidFill>
                <a:cs typeface="Aktiv Grotesk"/>
              </a:rPr>
              <a:t>fach</a:t>
            </a:r>
            <a:endParaRPr lang="de-DE" sz="1100" spc="-10" dirty="0">
              <a:solidFill>
                <a:srgbClr val="233466"/>
              </a:solidFill>
              <a:cs typeface="Aktiv Grotesk"/>
            </a:endParaRPr>
          </a:p>
          <a:p>
            <a:pPr>
              <a:spcAft>
                <a:spcPts val="1200"/>
              </a:spcAft>
              <a:buClr>
                <a:schemeClr val="tx1"/>
              </a:buClr>
              <a:buSzPct val="100000"/>
              <a:tabLst>
                <a:tab pos="1619250" algn="l"/>
              </a:tabLst>
            </a:pPr>
            <a:r>
              <a:rPr lang="de-DE" sz="1100" spc="-10" dirty="0">
                <a:solidFill>
                  <a:srgbClr val="233466"/>
                </a:solidFill>
                <a:cs typeface="Aktiv Grotesk"/>
              </a:rPr>
              <a:t>Kaufpreis pro m²	</a:t>
            </a:r>
            <a:r>
              <a:rPr lang="de-DE" sz="1100" b="1" spc="-10" dirty="0">
                <a:solidFill>
                  <a:srgbClr val="233466"/>
                </a:solidFill>
                <a:cs typeface="Aktiv Grotesk"/>
              </a:rPr>
              <a:t>3.273 €</a:t>
            </a:r>
            <a:r>
              <a:rPr lang="de-DE" sz="1100" b="1" spc="-10" dirty="0">
                <a:solidFill>
                  <a:srgbClr val="233466"/>
                </a:solidFill>
              </a:rPr>
              <a:t>/m²</a:t>
            </a:r>
            <a:endParaRPr lang="de-DE" sz="1100" dirty="0">
              <a:solidFill>
                <a:srgbClr val="233466"/>
              </a:solidFill>
              <a:cs typeface="Aktiv Grotesk"/>
            </a:endParaRPr>
          </a:p>
        </p:txBody>
      </p:sp>
      <p:sp>
        <p:nvSpPr>
          <p:cNvPr id="18" name="Textfeld 17">
            <a:extLst>
              <a:ext uri="{FF2B5EF4-FFF2-40B4-BE49-F238E27FC236}">
                <a16:creationId xmlns:a16="http://schemas.microsoft.com/office/drawing/2014/main" id="{3B7DBBA7-DA69-CBC8-AD8E-7DB7EF6A97E9}"/>
              </a:ext>
            </a:extLst>
          </p:cNvPr>
          <p:cNvSpPr txBox="1"/>
          <p:nvPr/>
        </p:nvSpPr>
        <p:spPr>
          <a:xfrm>
            <a:off x="6987150" y="4891791"/>
            <a:ext cx="3160701" cy="1308050"/>
          </a:xfrm>
          <a:prstGeom prst="rect">
            <a:avLst/>
          </a:prstGeom>
          <a:noFill/>
        </p:spPr>
        <p:txBody>
          <a:bodyPr vert="horz" wrap="square" lIns="0" tIns="0" rIns="0" bIns="0" rtlCol="0" anchor="t" anchorCtr="0">
            <a:spAutoFit/>
          </a:bodyPr>
          <a:lstStyle/>
          <a:p>
            <a:pPr>
              <a:spcAft>
                <a:spcPts val="1200"/>
              </a:spcAft>
              <a:buClr>
                <a:schemeClr val="bg1"/>
              </a:buClr>
              <a:buSzPct val="100000"/>
            </a:pPr>
            <a:r>
              <a:rPr lang="de-DE" sz="1100" dirty="0">
                <a:solidFill>
                  <a:schemeClr val="bg1"/>
                </a:solidFill>
                <a:cs typeface="Aktiv Grotesk"/>
              </a:rPr>
              <a:t>Einordnung:</a:t>
            </a:r>
          </a:p>
          <a:p>
            <a:pPr marL="171450" indent="-171450">
              <a:spcAft>
                <a:spcPts val="1200"/>
              </a:spcAft>
              <a:buClr>
                <a:schemeClr val="bg1"/>
              </a:buClr>
              <a:buSzPct val="100000"/>
              <a:buFontTx/>
              <a:buChar char="-"/>
            </a:pPr>
            <a:r>
              <a:rPr lang="de-DE" sz="1100" dirty="0">
                <a:solidFill>
                  <a:schemeClr val="bg1"/>
                </a:solidFill>
                <a:cs typeface="Aktiv Grotesk"/>
              </a:rPr>
              <a:t>Objekt ist seit über sechs Monaten auf dem Markt und wurde bisher nicht verkauft</a:t>
            </a:r>
          </a:p>
          <a:p>
            <a:pPr marL="171450" indent="-171450">
              <a:spcAft>
                <a:spcPts val="1200"/>
              </a:spcAft>
              <a:buClr>
                <a:schemeClr val="bg1"/>
              </a:buClr>
              <a:buSzPct val="100000"/>
              <a:buFontTx/>
              <a:buChar char="-"/>
            </a:pPr>
            <a:r>
              <a:rPr lang="de-DE" sz="1100" dirty="0">
                <a:solidFill>
                  <a:schemeClr val="bg1"/>
                </a:solidFill>
              </a:rPr>
              <a:t>Angebotspreis wurde bereits reduziert</a:t>
            </a:r>
          </a:p>
          <a:p>
            <a:pPr marL="171450" indent="-171450">
              <a:spcAft>
                <a:spcPts val="1200"/>
              </a:spcAft>
              <a:buClr>
                <a:schemeClr val="bg1"/>
              </a:buClr>
              <a:buSzPct val="100000"/>
              <a:buFontTx/>
              <a:buChar char="-"/>
            </a:pPr>
            <a:r>
              <a:rPr lang="de-DE" sz="1100" dirty="0">
                <a:solidFill>
                  <a:schemeClr val="bg1"/>
                </a:solidFill>
              </a:rPr>
              <a:t>20 Apartments (27,5 m² im Durchschnitt)</a:t>
            </a:r>
          </a:p>
        </p:txBody>
      </p:sp>
      <p:sp>
        <p:nvSpPr>
          <p:cNvPr id="25" name="Textfeld 24">
            <a:extLst>
              <a:ext uri="{FF2B5EF4-FFF2-40B4-BE49-F238E27FC236}">
                <a16:creationId xmlns:a16="http://schemas.microsoft.com/office/drawing/2014/main" id="{63A4773E-CF76-1D2A-9F18-F664B4B9D63B}"/>
              </a:ext>
            </a:extLst>
          </p:cNvPr>
          <p:cNvSpPr txBox="1"/>
          <p:nvPr/>
        </p:nvSpPr>
        <p:spPr>
          <a:xfrm>
            <a:off x="6892509" y="1976977"/>
            <a:ext cx="1570383" cy="261610"/>
          </a:xfrm>
          <a:prstGeom prst="rect">
            <a:avLst/>
          </a:prstGeom>
          <a:solidFill>
            <a:srgbClr val="233466"/>
          </a:solidFill>
        </p:spPr>
        <p:txBody>
          <a:bodyPr wrap="square" rtlCol="0">
            <a:spAutoFit/>
          </a:bodyPr>
          <a:lstStyle/>
          <a:p>
            <a:r>
              <a:rPr lang="de-DE" sz="1100" i="1" dirty="0">
                <a:solidFill>
                  <a:schemeClr val="bg1"/>
                </a:solidFill>
              </a:rPr>
              <a:t>Aktuell auf dem Markt</a:t>
            </a:r>
          </a:p>
        </p:txBody>
      </p:sp>
    </p:spTree>
    <p:extLst>
      <p:ext uri="{BB962C8B-B14F-4D97-AF65-F5344CB8AC3E}">
        <p14:creationId xmlns:p14="http://schemas.microsoft.com/office/powerpoint/2010/main" val="196206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EBB54-6DB0-D17C-DC11-AD7F89EA5A3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B821653F-093B-78F0-28BB-6500D43252AB}"/>
              </a:ext>
            </a:extLst>
          </p:cNvPr>
          <p:cNvSpPr>
            <a:spLocks noGrp="1"/>
          </p:cNvSpPr>
          <p:nvPr>
            <p:ph type="body" sz="quarter" idx="17"/>
          </p:nvPr>
        </p:nvSpPr>
        <p:spPr>
          <a:prstGeom prst="rect">
            <a:avLst/>
          </a:prstGeom>
        </p:spPr>
        <p:txBody>
          <a:bodyPr/>
          <a:lstStyle/>
          <a:p>
            <a:r>
              <a:rPr lang="de-DE" dirty="0"/>
              <a:t>PREISFINDUNG</a:t>
            </a:r>
          </a:p>
        </p:txBody>
      </p:sp>
      <p:sp>
        <p:nvSpPr>
          <p:cNvPr id="3" name="Textplatzhalter 2">
            <a:extLst>
              <a:ext uri="{FF2B5EF4-FFF2-40B4-BE49-F238E27FC236}">
                <a16:creationId xmlns:a16="http://schemas.microsoft.com/office/drawing/2014/main" id="{1D9178A4-D5A3-BDFE-AF1C-1C0DC5829E7E}"/>
              </a:ext>
            </a:extLst>
          </p:cNvPr>
          <p:cNvSpPr>
            <a:spLocks noGrp="1"/>
          </p:cNvSpPr>
          <p:nvPr>
            <p:ph type="body" sz="quarter" idx="18"/>
          </p:nvPr>
        </p:nvSpPr>
        <p:spPr>
          <a:prstGeom prst="rect">
            <a:avLst/>
          </a:prstGeom>
        </p:spPr>
        <p:txBody>
          <a:bodyPr/>
          <a:lstStyle/>
          <a:p>
            <a:r>
              <a:rPr lang="de-DE" dirty="0"/>
              <a:t>Einschätzung der erzielbaren Kaufpreise</a:t>
            </a:r>
          </a:p>
        </p:txBody>
      </p:sp>
      <p:graphicFrame>
        <p:nvGraphicFramePr>
          <p:cNvPr id="4" name="Tabellenplatzhalter 11">
            <a:extLst>
              <a:ext uri="{FF2B5EF4-FFF2-40B4-BE49-F238E27FC236}">
                <a16:creationId xmlns:a16="http://schemas.microsoft.com/office/drawing/2014/main" id="{79C56113-E6A0-1721-8FBF-5DDE95DEE2A9}"/>
              </a:ext>
            </a:extLst>
          </p:cNvPr>
          <p:cNvGraphicFramePr>
            <a:graphicFrameLocks/>
          </p:cNvGraphicFramePr>
          <p:nvPr>
            <p:extLst>
              <p:ext uri="{D42A27DB-BD31-4B8C-83A1-F6EECF244321}">
                <p14:modId xmlns:p14="http://schemas.microsoft.com/office/powerpoint/2010/main" val="997263140"/>
              </p:ext>
            </p:extLst>
          </p:nvPr>
        </p:nvGraphicFramePr>
        <p:xfrm>
          <a:off x="315703" y="1668809"/>
          <a:ext cx="9623944" cy="2235179"/>
        </p:xfrm>
        <a:graphic>
          <a:graphicData uri="http://schemas.openxmlformats.org/drawingml/2006/table">
            <a:tbl>
              <a:tblPr>
                <a:tableStyleId>{C083E6E3-FA7D-4D7B-A595-EF9225AFEA82}</a:tableStyleId>
              </a:tblPr>
              <a:tblGrid>
                <a:gridCol w="2117232">
                  <a:extLst>
                    <a:ext uri="{9D8B030D-6E8A-4147-A177-3AD203B41FA5}">
                      <a16:colId xmlns:a16="http://schemas.microsoft.com/office/drawing/2014/main" val="1157495208"/>
                    </a:ext>
                  </a:extLst>
                </a:gridCol>
                <a:gridCol w="2440792">
                  <a:extLst>
                    <a:ext uri="{9D8B030D-6E8A-4147-A177-3AD203B41FA5}">
                      <a16:colId xmlns:a16="http://schemas.microsoft.com/office/drawing/2014/main" val="660139781"/>
                    </a:ext>
                  </a:extLst>
                </a:gridCol>
                <a:gridCol w="2630490">
                  <a:extLst>
                    <a:ext uri="{9D8B030D-6E8A-4147-A177-3AD203B41FA5}">
                      <a16:colId xmlns:a16="http://schemas.microsoft.com/office/drawing/2014/main" val="3630742028"/>
                    </a:ext>
                  </a:extLst>
                </a:gridCol>
                <a:gridCol w="2435430">
                  <a:extLst>
                    <a:ext uri="{9D8B030D-6E8A-4147-A177-3AD203B41FA5}">
                      <a16:colId xmlns:a16="http://schemas.microsoft.com/office/drawing/2014/main" val="920556507"/>
                    </a:ext>
                  </a:extLst>
                </a:gridCol>
              </a:tblGrid>
              <a:tr h="310172">
                <a:tc>
                  <a:txBody>
                    <a:bodyPr/>
                    <a:lstStyle/>
                    <a:p>
                      <a:r>
                        <a:rPr lang="de-DE" sz="1000" b="1" i="0" spc="0" dirty="0">
                          <a:solidFill>
                            <a:schemeClr val="bg1"/>
                          </a:solidFill>
                          <a:latin typeface="Roboto Light" panose="02000000000000000000" pitchFamily="2" charset="0"/>
                          <a:ea typeface="Roboto Light" panose="02000000000000000000" pitchFamily="2" charset="0"/>
                          <a:cs typeface="BNPP Sans Light"/>
                        </a:rPr>
                        <a:t>Liegenschaft</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1" dirty="0">
                          <a:solidFill>
                            <a:schemeClr val="bg1"/>
                          </a:solidFill>
                        </a:rPr>
                        <a:t>Kronenstraße 4</a:t>
                      </a:r>
                      <a:endParaRPr kumimoji="0" lang="de-DE" sz="10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rPr>
                        <a:t>Kaiserswerther Straße 55</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BNPP Sans Light"/>
                        </a:rPr>
                        <a:t>Marienstraße 37</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466"/>
                    </a:solidFill>
                  </a:tcPr>
                </a:tc>
                <a:extLst>
                  <a:ext uri="{0D108BD9-81ED-4DB2-BD59-A6C34878D82A}">
                    <a16:rowId xmlns:a16="http://schemas.microsoft.com/office/drawing/2014/main" val="2620292130"/>
                  </a:ext>
                </a:extLst>
              </a:tr>
              <a:tr h="259379">
                <a:tc>
                  <a:txBody>
                    <a:bodyPr/>
                    <a:lstStyle/>
                    <a:p>
                      <a:r>
                        <a:rPr lang="de-DE" sz="1000" b="0" i="0" spc="0" dirty="0">
                          <a:solidFill>
                            <a:schemeClr val="tx1"/>
                          </a:solidFill>
                          <a:latin typeface="Roboto Light" panose="02000000000000000000" pitchFamily="2" charset="0"/>
                          <a:ea typeface="Roboto Light" panose="02000000000000000000" pitchFamily="2" charset="0"/>
                          <a:cs typeface="BNPP Sans Light"/>
                        </a:rPr>
                        <a:t>Einschätzung Grenz &amp; Co.</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2,2 Mio. €</a:t>
                      </a:r>
                      <a:endParaRPr lang="de-DE" sz="1000" b="0" i="0" kern="1200" spc="0" noProof="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4,7 Mio. €</a:t>
                      </a:r>
                      <a:endParaRPr kumimoji="0" lang="de-DE" sz="10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2,5 Mio. €</a:t>
                      </a:r>
                      <a:endParaRPr kumimoji="0" lang="de-DE" sz="10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32404425"/>
                  </a:ext>
                </a:extLst>
              </a:tr>
              <a:tr h="259379">
                <a:tc>
                  <a:txBody>
                    <a:bodyPr/>
                    <a:lstStyle/>
                    <a:p>
                      <a:r>
                        <a:rPr lang="de-DE" sz="1000" b="0" i="0" spc="0" dirty="0">
                          <a:solidFill>
                            <a:schemeClr val="tx1"/>
                          </a:solidFill>
                          <a:latin typeface="Roboto Light" panose="02000000000000000000" pitchFamily="2" charset="0"/>
                          <a:ea typeface="Roboto Light" panose="02000000000000000000" pitchFamily="2" charset="0"/>
                          <a:cs typeface="BNPP Sans Light"/>
                        </a:rPr>
                        <a:t>- Kaufpreisfaktor </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17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16,7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 (Soll-Miete)</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14,9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3266814"/>
                  </a:ext>
                </a:extLst>
              </a:tr>
              <a:tr h="259379">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spc="0" dirty="0">
                          <a:solidFill>
                            <a:schemeClr val="tx1"/>
                          </a:solidFill>
                          <a:latin typeface="Roboto Light" panose="02000000000000000000" pitchFamily="2" charset="0"/>
                          <a:ea typeface="Roboto Light" panose="02000000000000000000" pitchFamily="2" charset="0"/>
                          <a:cs typeface="BNPP Sans Light"/>
                        </a:rPr>
                        <a:t>- Preis pro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lang="de-DE" sz="10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3.093 €/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 (Gewerbefläche mit niedrigerem Wert enthalten)</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4.391 €/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 (Garagenhof enthalten, würde im Exposé separat ausgewiesen)</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3.546 €/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53959507"/>
                  </a:ext>
                </a:extLst>
              </a:tr>
              <a:tr h="259379">
                <a:tc>
                  <a:txBody>
                    <a:bodyPr/>
                    <a:lstStyle/>
                    <a:p>
                      <a:endParaRPr lang="de-DE" sz="10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8173187"/>
                  </a:ext>
                </a:extLst>
              </a:tr>
              <a:tr h="259379">
                <a:tc>
                  <a:txBody>
                    <a:bodyPr/>
                    <a:lstStyle/>
                    <a:p>
                      <a:r>
                        <a:rPr lang="de-DE" sz="1000" b="0" i="0" spc="0" dirty="0">
                          <a:solidFill>
                            <a:schemeClr val="tx1"/>
                          </a:solidFill>
                          <a:latin typeface="Roboto Light" panose="02000000000000000000" pitchFamily="2" charset="0"/>
                          <a:ea typeface="Roboto Light" panose="02000000000000000000" pitchFamily="2" charset="0"/>
                          <a:cs typeface="BNPP Sans Light"/>
                        </a:rPr>
                        <a:t>Einschätzung Rentmeister</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2,3 Mio. €</a:t>
                      </a:r>
                      <a:endParaRPr kumimoji="0" lang="de-DE" sz="10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4,9 Mio. €</a:t>
                      </a:r>
                      <a:endParaRPr kumimoji="0" lang="de-DE" sz="10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2,6 Mio. €</a:t>
                      </a:r>
                      <a:endParaRPr kumimoji="0" lang="de-DE" sz="10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35801479"/>
                  </a:ext>
                </a:extLst>
              </a:tr>
              <a:tr h="259379">
                <a:tc>
                  <a:txBody>
                    <a:bodyPr/>
                    <a:lstStyle/>
                    <a:p>
                      <a:r>
                        <a:rPr lang="de-DE" sz="1000" b="0" i="0" spc="0" dirty="0">
                          <a:solidFill>
                            <a:schemeClr val="tx1"/>
                          </a:solidFill>
                          <a:latin typeface="Roboto Light" panose="02000000000000000000" pitchFamily="2" charset="0"/>
                          <a:ea typeface="Roboto Light" panose="02000000000000000000" pitchFamily="2" charset="0"/>
                          <a:cs typeface="BNPP Sans Light"/>
                        </a:rPr>
                        <a:t>- Kaufpreisfaktor</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17,8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17,4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 (Soll-Miete)</a:t>
                      </a: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15,5 </a:t>
                      </a:r>
                      <a:r>
                        <a:rPr kumimoji="0" lang="de-DE" sz="1000" b="0" i="0" u="none" strike="noStrike" kern="1200" cap="none" spc="0" normalizeH="0" baseline="0" noProof="0" dirty="0" err="1">
                          <a:ln>
                            <a:noFill/>
                          </a:ln>
                          <a:solidFill>
                            <a:srgbClr val="000000"/>
                          </a:solidFill>
                          <a:effectLst/>
                          <a:uLnTx/>
                          <a:uFillTx/>
                          <a:latin typeface="Roboto Light" panose="02000000000000000000" pitchFamily="2" charset="0"/>
                          <a:ea typeface="Roboto Light" panose="02000000000000000000" pitchFamily="2" charset="0"/>
                          <a:cs typeface="BNPP Sans Light"/>
                        </a:rPr>
                        <a:t>fach</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5605159"/>
                  </a:ext>
                </a:extLst>
              </a:tr>
              <a:tr h="288585">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spc="0" dirty="0">
                          <a:solidFill>
                            <a:schemeClr val="tx1"/>
                          </a:solidFill>
                          <a:latin typeface="Roboto Light" panose="02000000000000000000" pitchFamily="2" charset="0"/>
                          <a:ea typeface="Roboto Light" panose="02000000000000000000" pitchFamily="2" charset="0"/>
                          <a:cs typeface="BNPP Sans Light"/>
                        </a:rPr>
                        <a:t>- Preis pro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lang="de-DE" sz="1000" b="0" i="0" spc="0" dirty="0">
                        <a:solidFill>
                          <a:schemeClr val="tx1"/>
                        </a:solidFill>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3.233 €/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4.579 €/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rPr>
                        <a:t>3.688 €/</a:t>
                      </a:r>
                      <a:r>
                        <a:rPr lang="de-DE" sz="1000" b="0" i="0" kern="1200" spc="0" noProof="0" dirty="0">
                          <a:solidFill>
                            <a:schemeClr val="tx1"/>
                          </a:solidFill>
                          <a:latin typeface="Roboto Light" panose="02000000000000000000" pitchFamily="2" charset="0"/>
                          <a:ea typeface="Roboto Light" panose="02000000000000000000" pitchFamily="2" charset="0"/>
                          <a:cs typeface="BNPP Sans Light"/>
                        </a:rPr>
                        <a:t>m²</a:t>
                      </a:r>
                      <a:endParaRPr kumimoji="0" lang="de-DE" sz="1000"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BNPP Sans Light"/>
                      </a:endParaRPr>
                    </a:p>
                  </a:txBody>
                  <a:tcPr marL="94711" marR="68250" marT="34727"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1596832"/>
                  </a:ext>
                </a:extLst>
              </a:tr>
            </a:tbl>
          </a:graphicData>
        </a:graphic>
      </p:graphicFrame>
      <p:sp>
        <p:nvSpPr>
          <p:cNvPr id="9" name="Rechteck 8">
            <a:extLst>
              <a:ext uri="{FF2B5EF4-FFF2-40B4-BE49-F238E27FC236}">
                <a16:creationId xmlns:a16="http://schemas.microsoft.com/office/drawing/2014/main" id="{2536D570-2699-440C-EAAF-950CA4EFB52A}"/>
              </a:ext>
            </a:extLst>
          </p:cNvPr>
          <p:cNvSpPr/>
          <p:nvPr/>
        </p:nvSpPr>
        <p:spPr>
          <a:xfrm>
            <a:off x="1" y="4742039"/>
            <a:ext cx="10691812" cy="2235179"/>
          </a:xfrm>
          <a:prstGeom prst="rect">
            <a:avLst/>
          </a:prstGeom>
          <a:solidFill>
            <a:srgbClr val="233567"/>
          </a:solidFill>
        </p:spPr>
        <p:txBody>
          <a:bodyPr wrap="square" lIns="108000" tIns="0" rIns="180000" bIns="0" rtlCol="0">
            <a:noAutofit/>
          </a:bodyPr>
          <a:lstStyle/>
          <a:p>
            <a:pPr algn="just">
              <a:spcBef>
                <a:spcPts val="1000"/>
              </a:spcBef>
            </a:pPr>
            <a:endParaRPr lang="de-DE" sz="1000">
              <a:solidFill>
                <a:schemeClr val="tx1"/>
              </a:solidFill>
              <a:latin typeface="Roboto Light" panose="02000000000000000000" pitchFamily="2" charset="0"/>
              <a:ea typeface="Roboto Light" panose="02000000000000000000" pitchFamily="2" charset="0"/>
            </a:endParaRPr>
          </a:p>
        </p:txBody>
      </p:sp>
      <p:sp>
        <p:nvSpPr>
          <p:cNvPr id="14" name="Textfeld 13">
            <a:extLst>
              <a:ext uri="{FF2B5EF4-FFF2-40B4-BE49-F238E27FC236}">
                <a16:creationId xmlns:a16="http://schemas.microsoft.com/office/drawing/2014/main" id="{5D9873A1-DB20-5121-C210-61646099AB7C}"/>
              </a:ext>
            </a:extLst>
          </p:cNvPr>
          <p:cNvSpPr txBox="1"/>
          <p:nvPr/>
        </p:nvSpPr>
        <p:spPr>
          <a:xfrm>
            <a:off x="315703" y="4962196"/>
            <a:ext cx="3857992" cy="1477328"/>
          </a:xfrm>
          <a:prstGeom prst="rect">
            <a:avLst/>
          </a:prstGeom>
          <a:noFill/>
        </p:spPr>
        <p:txBody>
          <a:bodyPr vert="horz" wrap="square" lIns="0" tIns="0" rIns="0" bIns="0" rtlCol="0" anchor="t" anchorCtr="0">
            <a:spAutoFit/>
          </a:bodyPr>
          <a:lstStyle/>
          <a:p>
            <a:pPr>
              <a:spcAft>
                <a:spcPts val="1200"/>
              </a:spcAft>
              <a:buClr>
                <a:schemeClr val="tx1"/>
              </a:buClr>
              <a:buSzPct val="100000"/>
            </a:pPr>
            <a:r>
              <a:rPr lang="de-DE" sz="1100" b="1" dirty="0">
                <a:solidFill>
                  <a:schemeClr val="bg1"/>
                </a:solidFill>
                <a:cs typeface="Aktiv Grotesk"/>
              </a:rPr>
              <a:t>Zusammenfassung:</a:t>
            </a:r>
          </a:p>
          <a:p>
            <a:pPr marL="171450" indent="-171450">
              <a:spcAft>
                <a:spcPts val="1200"/>
              </a:spcAft>
              <a:buClr>
                <a:schemeClr val="bg1"/>
              </a:buClr>
              <a:buSzPct val="100000"/>
              <a:buFontTx/>
              <a:buChar char="-"/>
            </a:pPr>
            <a:r>
              <a:rPr lang="de-DE" sz="1100" dirty="0">
                <a:solidFill>
                  <a:schemeClr val="bg1"/>
                </a:solidFill>
                <a:cs typeface="Aktiv Grotesk"/>
              </a:rPr>
              <a:t>Unsere Einschätzung ist bereits sehr optimistisch und liegt an der Grenze des Machbaren</a:t>
            </a:r>
          </a:p>
          <a:p>
            <a:pPr marL="171450" indent="-171450">
              <a:spcAft>
                <a:spcPts val="1200"/>
              </a:spcAft>
              <a:buClr>
                <a:schemeClr val="bg1"/>
              </a:buClr>
              <a:buSzPct val="100000"/>
              <a:buFontTx/>
              <a:buChar char="-"/>
            </a:pPr>
            <a:r>
              <a:rPr lang="de-DE" sz="1100" dirty="0">
                <a:solidFill>
                  <a:schemeClr val="bg1"/>
                </a:solidFill>
                <a:cs typeface="Aktiv Grotesk"/>
              </a:rPr>
              <a:t>Ihre Einschätzung der Preise liegt leicht höher als Unsere, jedoch in einem vertretbaren Rahmen</a:t>
            </a:r>
          </a:p>
          <a:p>
            <a:pPr marL="171450" indent="-171450">
              <a:spcAft>
                <a:spcPts val="1200"/>
              </a:spcAft>
              <a:buClr>
                <a:schemeClr val="bg1"/>
              </a:buClr>
              <a:buSzPct val="100000"/>
              <a:buFontTx/>
              <a:buChar char="-"/>
            </a:pPr>
            <a:endParaRPr lang="de-DE" sz="1100" dirty="0">
              <a:solidFill>
                <a:schemeClr val="bg1"/>
              </a:solidFill>
            </a:endParaRPr>
          </a:p>
        </p:txBody>
      </p:sp>
      <p:sp>
        <p:nvSpPr>
          <p:cNvPr id="16" name="Textfeld 15">
            <a:extLst>
              <a:ext uri="{FF2B5EF4-FFF2-40B4-BE49-F238E27FC236}">
                <a16:creationId xmlns:a16="http://schemas.microsoft.com/office/drawing/2014/main" id="{E7732A58-482A-DA81-DBD0-9CE41E93860D}"/>
              </a:ext>
            </a:extLst>
          </p:cNvPr>
          <p:cNvSpPr txBox="1"/>
          <p:nvPr/>
        </p:nvSpPr>
        <p:spPr>
          <a:xfrm>
            <a:off x="4489397" y="4962196"/>
            <a:ext cx="5686791" cy="2446824"/>
          </a:xfrm>
          <a:prstGeom prst="rect">
            <a:avLst/>
          </a:prstGeom>
          <a:noFill/>
        </p:spPr>
        <p:txBody>
          <a:bodyPr vert="horz" wrap="square" lIns="0" tIns="0" rIns="0" bIns="0" rtlCol="0" anchor="t" anchorCtr="0">
            <a:spAutoFit/>
          </a:bodyPr>
          <a:lstStyle/>
          <a:p>
            <a:pPr>
              <a:spcAft>
                <a:spcPts val="1200"/>
              </a:spcAft>
              <a:buClr>
                <a:schemeClr val="tx1"/>
              </a:buClr>
              <a:buSzPct val="100000"/>
            </a:pPr>
            <a:r>
              <a:rPr lang="de-DE" sz="1100" b="1" dirty="0">
                <a:solidFill>
                  <a:schemeClr val="bg1"/>
                </a:solidFill>
                <a:cs typeface="Aktiv Grotesk"/>
              </a:rPr>
              <a:t>Preise nur erzielbar mit exklusiver Beauftragung</a:t>
            </a:r>
          </a:p>
          <a:p>
            <a:pPr marL="171450" indent="-171450">
              <a:spcAft>
                <a:spcPts val="1200"/>
              </a:spcAft>
              <a:buClr>
                <a:schemeClr val="bg1"/>
              </a:buClr>
              <a:buSzPct val="100000"/>
              <a:buFontTx/>
              <a:buChar char="-"/>
            </a:pPr>
            <a:r>
              <a:rPr lang="de-DE" sz="1100" dirty="0">
                <a:solidFill>
                  <a:schemeClr val="bg1"/>
                </a:solidFill>
              </a:rPr>
              <a:t>Optimale und hochwertige Präsentation des Verkaufsobjektes, weil Zielgruppe eher affin für optisch ansprechende Immobilie und weniger technisch</a:t>
            </a:r>
          </a:p>
          <a:p>
            <a:pPr marL="171450" indent="-171450">
              <a:spcAft>
                <a:spcPts val="1200"/>
              </a:spcAft>
              <a:buClr>
                <a:schemeClr val="bg1"/>
              </a:buClr>
              <a:buSzPct val="100000"/>
              <a:buFontTx/>
              <a:buChar char="-"/>
            </a:pPr>
            <a:r>
              <a:rPr lang="de-DE" sz="1100" dirty="0">
                <a:solidFill>
                  <a:schemeClr val="bg1"/>
                </a:solidFill>
              </a:rPr>
              <a:t>Gezielte, aber breitere Marktansprache führt zu Wettbewerb</a:t>
            </a:r>
          </a:p>
          <a:p>
            <a:pPr marL="171450" indent="-171450">
              <a:spcAft>
                <a:spcPts val="1200"/>
              </a:spcAft>
              <a:buClr>
                <a:schemeClr val="bg1"/>
              </a:buClr>
              <a:buSzPct val="100000"/>
              <a:buFontTx/>
              <a:buChar char="-"/>
            </a:pPr>
            <a:r>
              <a:rPr lang="de-DE" sz="1100" dirty="0">
                <a:solidFill>
                  <a:schemeClr val="bg1"/>
                </a:solidFill>
              </a:rPr>
              <a:t>Kaufpreisoptimierung durch Steuerung des Prozesses aus einer Hand</a:t>
            </a:r>
          </a:p>
          <a:p>
            <a:pPr marL="171450" indent="-171450">
              <a:spcAft>
                <a:spcPts val="1200"/>
              </a:spcAft>
              <a:buClr>
                <a:schemeClr val="bg1"/>
              </a:buClr>
              <a:buSzPct val="100000"/>
              <a:buFontTx/>
              <a:buChar char="-"/>
            </a:pPr>
            <a:r>
              <a:rPr lang="de-DE" sz="1100" dirty="0">
                <a:solidFill>
                  <a:schemeClr val="bg1"/>
                </a:solidFill>
              </a:rPr>
              <a:t>Umfassende Aufbereitung des Datenraums vor Start der Vermarktung - Inkonsistenzen in den Objektdaten werden vermieden für einen reibungslosen Prozess</a:t>
            </a:r>
          </a:p>
          <a:p>
            <a:pPr marL="171450" indent="-171450">
              <a:spcAft>
                <a:spcPts val="1200"/>
              </a:spcAft>
              <a:buClr>
                <a:schemeClr val="bg1"/>
              </a:buClr>
              <a:buSzPct val="100000"/>
              <a:buFontTx/>
              <a:buChar char="-"/>
            </a:pPr>
            <a:endParaRPr lang="de-DE" sz="1100" dirty="0">
              <a:solidFill>
                <a:schemeClr val="bg1"/>
              </a:solidFill>
            </a:endParaRPr>
          </a:p>
          <a:p>
            <a:pPr marL="171450" indent="-171450">
              <a:spcAft>
                <a:spcPts val="1200"/>
              </a:spcAft>
              <a:buClr>
                <a:schemeClr val="bg1"/>
              </a:buClr>
              <a:buSzPct val="100000"/>
              <a:buFontTx/>
              <a:buChar char="-"/>
            </a:pPr>
            <a:endParaRPr lang="de-DE" sz="1100" dirty="0">
              <a:solidFill>
                <a:schemeClr val="bg1"/>
              </a:solidFill>
            </a:endParaRPr>
          </a:p>
        </p:txBody>
      </p:sp>
    </p:spTree>
    <p:extLst>
      <p:ext uri="{BB962C8B-B14F-4D97-AF65-F5344CB8AC3E}">
        <p14:creationId xmlns:p14="http://schemas.microsoft.com/office/powerpoint/2010/main" val="922468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platzhalter 23">
            <a:extLst>
              <a:ext uri="{FF2B5EF4-FFF2-40B4-BE49-F238E27FC236}">
                <a16:creationId xmlns:a16="http://schemas.microsoft.com/office/drawing/2014/main" id="{5B532BE4-778E-3169-8D41-5FAC56DC7123}"/>
              </a:ext>
            </a:extLst>
          </p:cNvPr>
          <p:cNvSpPr>
            <a:spLocks noGrp="1"/>
          </p:cNvSpPr>
          <p:nvPr>
            <p:ph type="body" sz="quarter" idx="17"/>
          </p:nvPr>
        </p:nvSpPr>
        <p:spPr>
          <a:prstGeom prst="rect">
            <a:avLst/>
          </a:prstGeom>
        </p:spPr>
        <p:txBody>
          <a:bodyPr/>
          <a:lstStyle/>
          <a:p>
            <a:r>
              <a:rPr lang="de-DE" dirty="0"/>
              <a:t>ZEITPLAN</a:t>
            </a:r>
          </a:p>
        </p:txBody>
      </p:sp>
      <p:sp>
        <p:nvSpPr>
          <p:cNvPr id="25" name="Textplatzhalter 24">
            <a:extLst>
              <a:ext uri="{FF2B5EF4-FFF2-40B4-BE49-F238E27FC236}">
                <a16:creationId xmlns:a16="http://schemas.microsoft.com/office/drawing/2014/main" id="{265C96A7-D6F1-9F85-1B7C-1A44AD28469E}"/>
              </a:ext>
            </a:extLst>
          </p:cNvPr>
          <p:cNvSpPr>
            <a:spLocks noGrp="1"/>
          </p:cNvSpPr>
          <p:nvPr>
            <p:ph type="body" sz="quarter" idx="18"/>
          </p:nvPr>
        </p:nvSpPr>
        <p:spPr>
          <a:prstGeom prst="rect">
            <a:avLst/>
          </a:prstGeom>
        </p:spPr>
        <p:txBody>
          <a:bodyPr/>
          <a:lstStyle/>
          <a:p>
            <a:r>
              <a:rPr lang="de-DE" dirty="0"/>
              <a:t>Exemplarischer Prozess</a:t>
            </a:r>
          </a:p>
        </p:txBody>
      </p:sp>
      <p:grpSp>
        <p:nvGrpSpPr>
          <p:cNvPr id="4" name="Gruppieren 3">
            <a:extLst>
              <a:ext uri="{FF2B5EF4-FFF2-40B4-BE49-F238E27FC236}">
                <a16:creationId xmlns:a16="http://schemas.microsoft.com/office/drawing/2014/main" id="{289ABF13-0860-BA63-9A24-04CD34B97121}"/>
              </a:ext>
            </a:extLst>
          </p:cNvPr>
          <p:cNvGrpSpPr/>
          <p:nvPr/>
        </p:nvGrpSpPr>
        <p:grpSpPr>
          <a:xfrm>
            <a:off x="265068" y="1864009"/>
            <a:ext cx="10080836" cy="4515000"/>
            <a:chOff x="1055164" y="1765913"/>
            <a:chExt cx="10080836" cy="4515000"/>
          </a:xfrm>
        </p:grpSpPr>
        <p:sp>
          <p:nvSpPr>
            <p:cNvPr id="5" name="object 5">
              <a:extLst>
                <a:ext uri="{FF2B5EF4-FFF2-40B4-BE49-F238E27FC236}">
                  <a16:creationId xmlns:a16="http://schemas.microsoft.com/office/drawing/2014/main" id="{B7CE301E-1610-3057-1D93-6978A77BDBBE}"/>
                </a:ext>
              </a:extLst>
            </p:cNvPr>
            <p:cNvSpPr/>
            <p:nvPr userDrawn="1"/>
          </p:nvSpPr>
          <p:spPr>
            <a:xfrm>
              <a:off x="1056000" y="1765913"/>
              <a:ext cx="2520000" cy="576000"/>
            </a:xfrm>
            <a:custGeom>
              <a:avLst/>
              <a:gdLst/>
              <a:ahLst/>
              <a:cxnLst/>
              <a:rect l="l" t="t" r="r" b="b"/>
              <a:pathLst>
                <a:path w="2575560" h="210819">
                  <a:moveTo>
                    <a:pt x="2575560" y="0"/>
                  </a:moveTo>
                  <a:lnTo>
                    <a:pt x="0" y="0"/>
                  </a:lnTo>
                  <a:lnTo>
                    <a:pt x="0" y="210312"/>
                  </a:lnTo>
                  <a:lnTo>
                    <a:pt x="2575560" y="210312"/>
                  </a:lnTo>
                  <a:lnTo>
                    <a:pt x="2575560" y="0"/>
                  </a:lnTo>
                  <a:close/>
                </a:path>
              </a:pathLst>
            </a:custGeom>
            <a:solidFill>
              <a:srgbClr val="233567">
                <a:alpha val="20000"/>
              </a:srgbClr>
            </a:solidFill>
          </p:spPr>
          <p:txBody>
            <a:bodyPr wrap="square" lIns="0" tIns="0" rIns="0" bIns="0" rtlCol="0" anchor="ctr" anchorCtr="0"/>
            <a:lstStyle/>
            <a:p>
              <a:pPr algn="ctr"/>
              <a:r>
                <a:rPr lang="de-DE" sz="1300" dirty="0">
                  <a:latin typeface="Roboto Light" panose="02000000000000000000" pitchFamily="2" charset="0"/>
                  <a:ea typeface="Roboto Light" panose="02000000000000000000" pitchFamily="2" charset="0"/>
                </a:rPr>
                <a:t>Vermarktungsvorbereitung</a:t>
              </a:r>
            </a:p>
          </p:txBody>
        </p:sp>
        <p:sp>
          <p:nvSpPr>
            <p:cNvPr id="6" name="object 6">
              <a:extLst>
                <a:ext uri="{FF2B5EF4-FFF2-40B4-BE49-F238E27FC236}">
                  <a16:creationId xmlns:a16="http://schemas.microsoft.com/office/drawing/2014/main" id="{BB7996D2-3025-A68F-A270-B08F3A34E9E7}"/>
                </a:ext>
              </a:extLst>
            </p:cNvPr>
            <p:cNvSpPr/>
            <p:nvPr userDrawn="1"/>
          </p:nvSpPr>
          <p:spPr>
            <a:xfrm>
              <a:off x="3572371" y="1765913"/>
              <a:ext cx="2520000" cy="576000"/>
            </a:xfrm>
            <a:custGeom>
              <a:avLst/>
              <a:gdLst/>
              <a:ahLst/>
              <a:cxnLst/>
              <a:rect l="l" t="t" r="r" b="b"/>
              <a:pathLst>
                <a:path w="1496695" h="212089">
                  <a:moveTo>
                    <a:pt x="1496567" y="0"/>
                  </a:moveTo>
                  <a:lnTo>
                    <a:pt x="0" y="0"/>
                  </a:lnTo>
                  <a:lnTo>
                    <a:pt x="0" y="211836"/>
                  </a:lnTo>
                  <a:lnTo>
                    <a:pt x="1496567" y="211836"/>
                  </a:lnTo>
                  <a:lnTo>
                    <a:pt x="1496567" y="0"/>
                  </a:lnTo>
                  <a:close/>
                </a:path>
              </a:pathLst>
            </a:custGeom>
            <a:solidFill>
              <a:srgbClr val="233567">
                <a:alpha val="40000"/>
              </a:srgbClr>
            </a:solidFill>
          </p:spPr>
          <p:txBody>
            <a:bodyPr wrap="square" lIns="0" tIns="0" rIns="0" bIns="0" rtlCol="0" anchor="ctr" anchorCtr="0"/>
            <a:lstStyle/>
            <a:p>
              <a:pPr algn="ctr"/>
              <a:r>
                <a:rPr lang="de-DE" sz="1300" dirty="0">
                  <a:solidFill>
                    <a:schemeClr val="bg1"/>
                  </a:solidFill>
                  <a:latin typeface="Roboto Light" panose="02000000000000000000" pitchFamily="2" charset="0"/>
                  <a:ea typeface="Roboto Light" panose="02000000000000000000" pitchFamily="2" charset="0"/>
                </a:rPr>
                <a:t>Vermarktungsphase</a:t>
              </a:r>
            </a:p>
          </p:txBody>
        </p:sp>
        <p:sp>
          <p:nvSpPr>
            <p:cNvPr id="7" name="object 7">
              <a:extLst>
                <a:ext uri="{FF2B5EF4-FFF2-40B4-BE49-F238E27FC236}">
                  <a16:creationId xmlns:a16="http://schemas.microsoft.com/office/drawing/2014/main" id="{433A60D5-5340-3131-656D-D321DFC82417}"/>
                </a:ext>
              </a:extLst>
            </p:cNvPr>
            <p:cNvSpPr/>
            <p:nvPr userDrawn="1"/>
          </p:nvSpPr>
          <p:spPr>
            <a:xfrm>
              <a:off x="6092371" y="1765913"/>
              <a:ext cx="2520000" cy="576000"/>
            </a:xfrm>
            <a:custGeom>
              <a:avLst/>
              <a:gdLst/>
              <a:ahLst/>
              <a:cxnLst/>
              <a:rect l="l" t="t" r="r" b="b"/>
              <a:pathLst>
                <a:path w="1490979" h="210819">
                  <a:moveTo>
                    <a:pt x="1490472" y="0"/>
                  </a:moveTo>
                  <a:lnTo>
                    <a:pt x="0" y="0"/>
                  </a:lnTo>
                  <a:lnTo>
                    <a:pt x="0" y="210312"/>
                  </a:lnTo>
                  <a:lnTo>
                    <a:pt x="1490472" y="210312"/>
                  </a:lnTo>
                  <a:lnTo>
                    <a:pt x="1490472" y="0"/>
                  </a:lnTo>
                  <a:close/>
                </a:path>
              </a:pathLst>
            </a:custGeom>
            <a:solidFill>
              <a:srgbClr val="233567">
                <a:alpha val="60000"/>
              </a:srgbClr>
            </a:solidFill>
          </p:spPr>
          <p:txBody>
            <a:bodyPr wrap="square" lIns="0" tIns="0" rIns="0" bIns="0" rtlCol="0" anchor="ctr" anchorCtr="0"/>
            <a:lstStyle/>
            <a:p>
              <a:pPr algn="ctr"/>
              <a:r>
                <a:rPr lang="de-DE" sz="1300" dirty="0">
                  <a:solidFill>
                    <a:schemeClr val="bg1"/>
                  </a:solidFill>
                  <a:latin typeface="Roboto Light" panose="02000000000000000000" pitchFamily="2" charset="0"/>
                  <a:ea typeface="Roboto Light" panose="02000000000000000000" pitchFamily="2" charset="0"/>
                </a:rPr>
                <a:t>Verhandlung und Prüfung</a:t>
              </a:r>
            </a:p>
          </p:txBody>
        </p:sp>
        <p:sp>
          <p:nvSpPr>
            <p:cNvPr id="8" name="object 8">
              <a:extLst>
                <a:ext uri="{FF2B5EF4-FFF2-40B4-BE49-F238E27FC236}">
                  <a16:creationId xmlns:a16="http://schemas.microsoft.com/office/drawing/2014/main" id="{F3DF0134-0949-68AC-2060-82EA67232400}"/>
                </a:ext>
              </a:extLst>
            </p:cNvPr>
            <p:cNvSpPr/>
            <p:nvPr userDrawn="1"/>
          </p:nvSpPr>
          <p:spPr>
            <a:xfrm>
              <a:off x="8612371" y="1765913"/>
              <a:ext cx="2520000" cy="576000"/>
            </a:xfrm>
            <a:custGeom>
              <a:avLst/>
              <a:gdLst/>
              <a:ahLst/>
              <a:cxnLst/>
              <a:rect l="l" t="t" r="r" b="b"/>
              <a:pathLst>
                <a:path w="2269490" h="210819">
                  <a:moveTo>
                    <a:pt x="2269236" y="0"/>
                  </a:moveTo>
                  <a:lnTo>
                    <a:pt x="0" y="0"/>
                  </a:lnTo>
                  <a:lnTo>
                    <a:pt x="0" y="210312"/>
                  </a:lnTo>
                  <a:lnTo>
                    <a:pt x="2269236" y="210312"/>
                  </a:lnTo>
                  <a:lnTo>
                    <a:pt x="2269236" y="0"/>
                  </a:lnTo>
                  <a:close/>
                </a:path>
              </a:pathLst>
            </a:custGeom>
            <a:solidFill>
              <a:srgbClr val="233567"/>
            </a:solidFill>
          </p:spPr>
          <p:txBody>
            <a:bodyPr wrap="square" lIns="0" tIns="0" rIns="0" bIns="0" rtlCol="0" anchor="ctr" anchorCtr="0"/>
            <a:lstStyle/>
            <a:p>
              <a:pPr algn="ctr"/>
              <a:r>
                <a:rPr lang="de-DE" sz="1300" dirty="0">
                  <a:solidFill>
                    <a:schemeClr val="bg1"/>
                  </a:solidFill>
                  <a:latin typeface="Roboto Light" panose="02000000000000000000" pitchFamily="2" charset="0"/>
                  <a:ea typeface="Roboto Light" panose="02000000000000000000" pitchFamily="2" charset="0"/>
                </a:rPr>
                <a:t>Beurkundung</a:t>
              </a:r>
            </a:p>
          </p:txBody>
        </p:sp>
        <p:sp>
          <p:nvSpPr>
            <p:cNvPr id="9" name="object 51">
              <a:extLst>
                <a:ext uri="{FF2B5EF4-FFF2-40B4-BE49-F238E27FC236}">
                  <a16:creationId xmlns:a16="http://schemas.microsoft.com/office/drawing/2014/main" id="{D5097DFF-16BA-BC2D-744F-FEAA5264A88A}"/>
                </a:ext>
              </a:extLst>
            </p:cNvPr>
            <p:cNvSpPr/>
            <p:nvPr userDrawn="1"/>
          </p:nvSpPr>
          <p:spPr>
            <a:xfrm flipH="1">
              <a:off x="1543466" y="3294455"/>
              <a:ext cx="50351" cy="492323"/>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cxnSp>
          <p:nvCxnSpPr>
            <p:cNvPr id="10" name="Gerader Verbinder 33">
              <a:extLst>
                <a:ext uri="{FF2B5EF4-FFF2-40B4-BE49-F238E27FC236}">
                  <a16:creationId xmlns:a16="http://schemas.microsoft.com/office/drawing/2014/main" id="{92C54494-61C3-47AE-E577-89B9C89A405E}"/>
                </a:ext>
              </a:extLst>
            </p:cNvPr>
            <p:cNvCxnSpPr>
              <a:cxnSpLocks/>
            </p:cNvCxnSpPr>
            <p:nvPr userDrawn="1"/>
          </p:nvCxnSpPr>
          <p:spPr>
            <a:xfrm>
              <a:off x="1056000" y="3254446"/>
              <a:ext cx="10080000" cy="0"/>
            </a:xfrm>
            <a:prstGeom prst="line">
              <a:avLst/>
            </a:prstGeom>
            <a:ln w="12700">
              <a:solidFill>
                <a:srgbClr val="233567"/>
              </a:solidFill>
            </a:ln>
          </p:spPr>
          <p:style>
            <a:lnRef idx="1">
              <a:schemeClr val="accent1"/>
            </a:lnRef>
            <a:fillRef idx="0">
              <a:schemeClr val="accent1"/>
            </a:fillRef>
            <a:effectRef idx="0">
              <a:schemeClr val="accent1"/>
            </a:effectRef>
            <a:fontRef idx="minor">
              <a:schemeClr val="tx1"/>
            </a:fontRef>
          </p:style>
        </p:cxnSp>
        <p:sp>
          <p:nvSpPr>
            <p:cNvPr id="11" name="Textplatzhalter 10">
              <a:extLst>
                <a:ext uri="{FF2B5EF4-FFF2-40B4-BE49-F238E27FC236}">
                  <a16:creationId xmlns:a16="http://schemas.microsoft.com/office/drawing/2014/main" id="{12981824-8157-0589-5834-2F5AA0A46E16}"/>
                </a:ext>
              </a:extLst>
            </p:cNvPr>
            <p:cNvSpPr txBox="1">
              <a:spLocks/>
            </p:cNvSpPr>
            <p:nvPr userDrawn="1"/>
          </p:nvSpPr>
          <p:spPr>
            <a:xfrm>
              <a:off x="1055164" y="3700190"/>
              <a:ext cx="1084487" cy="458980"/>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Immobilienanalyse und Vermarktungs-einschätzung</a:t>
              </a:r>
            </a:p>
          </p:txBody>
        </p:sp>
        <p:sp>
          <p:nvSpPr>
            <p:cNvPr id="12" name="Textplatzhalter 12">
              <a:extLst>
                <a:ext uri="{FF2B5EF4-FFF2-40B4-BE49-F238E27FC236}">
                  <a16:creationId xmlns:a16="http://schemas.microsoft.com/office/drawing/2014/main" id="{7F3A661A-CF90-793B-6B25-3FC7FA9EBCE3}"/>
                </a:ext>
              </a:extLst>
            </p:cNvPr>
            <p:cNvSpPr txBox="1">
              <a:spLocks/>
            </p:cNvSpPr>
            <p:nvPr userDrawn="1"/>
          </p:nvSpPr>
          <p:spPr>
            <a:xfrm>
              <a:off x="2301945" y="4427912"/>
              <a:ext cx="1035082" cy="776521"/>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Abschluss eines </a:t>
              </a:r>
              <a:r>
                <a:rPr lang="de-DE" sz="900" dirty="0">
                  <a:latin typeface="Roboto Light" panose="02000000000000000000" pitchFamily="2" charset="0"/>
                  <a:ea typeface="Roboto Light" panose="02000000000000000000" pitchFamily="2" charset="0"/>
                </a:rPr>
                <a:t>Maklervertrags</a:t>
              </a:r>
              <a:r>
                <a:rPr lang="de-DE" sz="900" dirty="0">
                  <a:solidFill>
                    <a:schemeClr val="tx1"/>
                  </a:solidFill>
                  <a:latin typeface="Roboto Light" panose="02000000000000000000" pitchFamily="2" charset="0"/>
                  <a:ea typeface="Roboto Light" panose="02000000000000000000" pitchFamily="2" charset="0"/>
                </a:rPr>
                <a:t> &amp; Aufbereitung sämtlicher Objekt-unterlagen</a:t>
              </a:r>
            </a:p>
          </p:txBody>
        </p:sp>
        <p:sp>
          <p:nvSpPr>
            <p:cNvPr id="13" name="Textplatzhalter 14">
              <a:extLst>
                <a:ext uri="{FF2B5EF4-FFF2-40B4-BE49-F238E27FC236}">
                  <a16:creationId xmlns:a16="http://schemas.microsoft.com/office/drawing/2014/main" id="{6A1B43CE-CA5A-007B-014A-089C28B9B828}"/>
                </a:ext>
              </a:extLst>
            </p:cNvPr>
            <p:cNvSpPr txBox="1">
              <a:spLocks/>
            </p:cNvSpPr>
            <p:nvPr userDrawn="1"/>
          </p:nvSpPr>
          <p:spPr>
            <a:xfrm>
              <a:off x="3405816" y="3700189"/>
              <a:ext cx="798521" cy="458981"/>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Abstimmung</a:t>
              </a:r>
              <a:br>
                <a:rPr lang="de-DE" sz="900" dirty="0">
                  <a:solidFill>
                    <a:schemeClr val="tx1"/>
                  </a:solidFill>
                  <a:latin typeface="Roboto Light" panose="02000000000000000000" pitchFamily="2" charset="0"/>
                  <a:ea typeface="Roboto Light" panose="02000000000000000000" pitchFamily="2" charset="0"/>
                </a:rPr>
              </a:br>
              <a:r>
                <a:rPr lang="de-DE" sz="900" dirty="0">
                  <a:solidFill>
                    <a:schemeClr val="tx1"/>
                  </a:solidFill>
                  <a:latin typeface="Roboto Light" panose="02000000000000000000" pitchFamily="2" charset="0"/>
                  <a:ea typeface="Roboto Light" panose="02000000000000000000" pitchFamily="2" charset="0"/>
                </a:rPr>
                <a:t>zum finalen Exposé</a:t>
              </a:r>
            </a:p>
          </p:txBody>
        </p:sp>
        <p:sp>
          <p:nvSpPr>
            <p:cNvPr id="14" name="Textplatzhalter 16">
              <a:extLst>
                <a:ext uri="{FF2B5EF4-FFF2-40B4-BE49-F238E27FC236}">
                  <a16:creationId xmlns:a16="http://schemas.microsoft.com/office/drawing/2014/main" id="{7C9AAB45-BF87-867B-341C-9352FE5A59AE}"/>
                </a:ext>
              </a:extLst>
            </p:cNvPr>
            <p:cNvSpPr txBox="1">
              <a:spLocks/>
            </p:cNvSpPr>
            <p:nvPr userDrawn="1"/>
          </p:nvSpPr>
          <p:spPr>
            <a:xfrm>
              <a:off x="4143110" y="4427912"/>
              <a:ext cx="1117985" cy="757764"/>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Ansprache unserer Bestandsinvestoren und ggf. weitere Vermarktungsmaß-nahmen</a:t>
              </a:r>
            </a:p>
          </p:txBody>
        </p:sp>
        <p:sp>
          <p:nvSpPr>
            <p:cNvPr id="15" name="Textplatzhalter 18">
              <a:extLst>
                <a:ext uri="{FF2B5EF4-FFF2-40B4-BE49-F238E27FC236}">
                  <a16:creationId xmlns:a16="http://schemas.microsoft.com/office/drawing/2014/main" id="{3C4EBD8B-C472-B754-F50B-18354BD580C0}"/>
                </a:ext>
              </a:extLst>
            </p:cNvPr>
            <p:cNvSpPr txBox="1">
              <a:spLocks/>
            </p:cNvSpPr>
            <p:nvPr userDrawn="1"/>
          </p:nvSpPr>
          <p:spPr>
            <a:xfrm>
              <a:off x="5269367" y="3698101"/>
              <a:ext cx="1022169" cy="460888"/>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Besichtigungen </a:t>
              </a:r>
              <a:br>
                <a:rPr lang="de-DE" sz="900" dirty="0">
                  <a:solidFill>
                    <a:schemeClr val="tx1"/>
                  </a:solidFill>
                  <a:latin typeface="Roboto Light" panose="02000000000000000000" pitchFamily="2" charset="0"/>
                  <a:ea typeface="Roboto Light" panose="02000000000000000000" pitchFamily="2" charset="0"/>
                </a:rPr>
              </a:br>
              <a:r>
                <a:rPr lang="de-DE" sz="900" dirty="0">
                  <a:solidFill>
                    <a:schemeClr val="tx1"/>
                  </a:solidFill>
                  <a:latin typeface="Roboto Light" panose="02000000000000000000" pitchFamily="2" charset="0"/>
                  <a:ea typeface="Roboto Light" panose="02000000000000000000" pitchFamily="2" charset="0"/>
                </a:rPr>
                <a:t>und Einholung der Kaufangebote</a:t>
              </a:r>
            </a:p>
          </p:txBody>
        </p:sp>
        <p:sp>
          <p:nvSpPr>
            <p:cNvPr id="16" name="Textplatzhalter 20">
              <a:extLst>
                <a:ext uri="{FF2B5EF4-FFF2-40B4-BE49-F238E27FC236}">
                  <a16:creationId xmlns:a16="http://schemas.microsoft.com/office/drawing/2014/main" id="{94209237-4F83-023B-D205-DBBDE04C512F}"/>
                </a:ext>
              </a:extLst>
            </p:cNvPr>
            <p:cNvSpPr txBox="1">
              <a:spLocks/>
            </p:cNvSpPr>
            <p:nvPr userDrawn="1"/>
          </p:nvSpPr>
          <p:spPr>
            <a:xfrm>
              <a:off x="7426020" y="3698101"/>
              <a:ext cx="1071364" cy="573895"/>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Besprechung der</a:t>
              </a:r>
              <a:r>
                <a:rPr lang="de-DE" sz="900" dirty="0">
                  <a:latin typeface="Roboto Light" panose="02000000000000000000" pitchFamily="2" charset="0"/>
                  <a:ea typeface="Roboto Light" panose="02000000000000000000" pitchFamily="2" charset="0"/>
                </a:rPr>
                <a:t> </a:t>
              </a:r>
              <a:r>
                <a:rPr lang="de-DE" sz="900" dirty="0">
                  <a:solidFill>
                    <a:schemeClr val="tx1"/>
                  </a:solidFill>
                  <a:latin typeface="Roboto Light" panose="02000000000000000000" pitchFamily="2" charset="0"/>
                  <a:ea typeface="Roboto Light" panose="02000000000000000000" pitchFamily="2" charset="0"/>
                </a:rPr>
                <a:t>Kaufangebote und Auswahl des richtigen Käufers</a:t>
              </a:r>
            </a:p>
          </p:txBody>
        </p:sp>
        <p:sp>
          <p:nvSpPr>
            <p:cNvPr id="17" name="Textplatzhalter 22">
              <a:extLst>
                <a:ext uri="{FF2B5EF4-FFF2-40B4-BE49-F238E27FC236}">
                  <a16:creationId xmlns:a16="http://schemas.microsoft.com/office/drawing/2014/main" id="{012701A6-3011-B696-292A-A8EA700A47B9}"/>
                </a:ext>
              </a:extLst>
            </p:cNvPr>
            <p:cNvSpPr txBox="1">
              <a:spLocks/>
            </p:cNvSpPr>
            <p:nvPr userDrawn="1"/>
          </p:nvSpPr>
          <p:spPr>
            <a:xfrm>
              <a:off x="8494160" y="4443445"/>
              <a:ext cx="953127" cy="453667"/>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Kaufvertrags-entwurf und </a:t>
              </a:r>
              <a:r>
                <a:rPr lang="de-DE" sz="900" dirty="0">
                  <a:latin typeface="Roboto Light" panose="02000000000000000000" pitchFamily="2" charset="0"/>
                  <a:ea typeface="Roboto Light" panose="02000000000000000000" pitchFamily="2" charset="0"/>
                </a:rPr>
                <a:t>g</a:t>
              </a:r>
              <a:r>
                <a:rPr lang="de-DE" sz="900" dirty="0">
                  <a:solidFill>
                    <a:schemeClr val="tx1"/>
                  </a:solidFill>
                  <a:latin typeface="Roboto Light" panose="02000000000000000000" pitchFamily="2" charset="0"/>
                  <a:ea typeface="Roboto Light" panose="02000000000000000000" pitchFamily="2" charset="0"/>
                </a:rPr>
                <a:t>gf. 14 Tage Frist</a:t>
              </a:r>
            </a:p>
          </p:txBody>
        </p:sp>
        <p:sp>
          <p:nvSpPr>
            <p:cNvPr id="18" name="object 5">
              <a:extLst>
                <a:ext uri="{FF2B5EF4-FFF2-40B4-BE49-F238E27FC236}">
                  <a16:creationId xmlns:a16="http://schemas.microsoft.com/office/drawing/2014/main" id="{ED2E694D-74A4-CA39-53EC-53B0DEFB571A}"/>
                </a:ext>
              </a:extLst>
            </p:cNvPr>
            <p:cNvSpPr/>
            <p:nvPr userDrawn="1"/>
          </p:nvSpPr>
          <p:spPr>
            <a:xfrm>
              <a:off x="1056000" y="2902998"/>
              <a:ext cx="2520000" cy="216000"/>
            </a:xfrm>
            <a:custGeom>
              <a:avLst/>
              <a:gdLst/>
              <a:ahLst/>
              <a:cxnLst/>
              <a:rect l="l" t="t" r="r" b="b"/>
              <a:pathLst>
                <a:path w="2575560" h="210819">
                  <a:moveTo>
                    <a:pt x="2575560" y="0"/>
                  </a:moveTo>
                  <a:lnTo>
                    <a:pt x="0" y="0"/>
                  </a:lnTo>
                  <a:lnTo>
                    <a:pt x="0" y="210312"/>
                  </a:lnTo>
                  <a:lnTo>
                    <a:pt x="2575560" y="210312"/>
                  </a:lnTo>
                  <a:lnTo>
                    <a:pt x="2575560" y="0"/>
                  </a:lnTo>
                  <a:close/>
                </a:path>
              </a:pathLst>
            </a:custGeom>
            <a:solidFill>
              <a:srgbClr val="233567">
                <a:alpha val="20000"/>
              </a:srgbClr>
            </a:solidFill>
          </p:spPr>
          <p:txBody>
            <a:bodyPr wrap="square" lIns="0" tIns="0" rIns="0" bIns="0" rtlCol="0" anchor="ctr" anchorCtr="0"/>
            <a:lstStyle/>
            <a:p>
              <a:pPr algn="ctr"/>
              <a:endParaRPr lang="de-DE" sz="1200" dirty="0">
                <a:solidFill>
                  <a:schemeClr val="tx1"/>
                </a:solidFill>
                <a:latin typeface="Roboto Light" panose="02000000000000000000" pitchFamily="2" charset="0"/>
                <a:ea typeface="Roboto Light" panose="02000000000000000000" pitchFamily="2" charset="0"/>
              </a:endParaRPr>
            </a:p>
          </p:txBody>
        </p:sp>
        <p:sp>
          <p:nvSpPr>
            <p:cNvPr id="19" name="object 6">
              <a:extLst>
                <a:ext uri="{FF2B5EF4-FFF2-40B4-BE49-F238E27FC236}">
                  <a16:creationId xmlns:a16="http://schemas.microsoft.com/office/drawing/2014/main" id="{D36B61EB-534C-3359-7129-C13A6A5AFBA5}"/>
                </a:ext>
              </a:extLst>
            </p:cNvPr>
            <p:cNvSpPr/>
            <p:nvPr userDrawn="1"/>
          </p:nvSpPr>
          <p:spPr>
            <a:xfrm>
              <a:off x="3572371" y="2902998"/>
              <a:ext cx="2520000" cy="216000"/>
            </a:xfrm>
            <a:custGeom>
              <a:avLst/>
              <a:gdLst/>
              <a:ahLst/>
              <a:cxnLst/>
              <a:rect l="l" t="t" r="r" b="b"/>
              <a:pathLst>
                <a:path w="1496695" h="212089">
                  <a:moveTo>
                    <a:pt x="1496567" y="0"/>
                  </a:moveTo>
                  <a:lnTo>
                    <a:pt x="0" y="0"/>
                  </a:lnTo>
                  <a:lnTo>
                    <a:pt x="0" y="211836"/>
                  </a:lnTo>
                  <a:lnTo>
                    <a:pt x="1496567" y="211836"/>
                  </a:lnTo>
                  <a:lnTo>
                    <a:pt x="1496567" y="0"/>
                  </a:lnTo>
                  <a:close/>
                </a:path>
              </a:pathLst>
            </a:custGeom>
            <a:solidFill>
              <a:srgbClr val="233567">
                <a:alpha val="40000"/>
              </a:srgbClr>
            </a:solidFill>
          </p:spPr>
          <p:txBody>
            <a:bodyPr wrap="square" lIns="0" tIns="0" rIns="0" bIns="0" rtlCol="0" anchor="ctr" anchorCtr="0"/>
            <a:lstStyle/>
            <a:p>
              <a:pPr algn="ctr"/>
              <a:endParaRPr lang="de-DE" sz="1200" dirty="0">
                <a:solidFill>
                  <a:schemeClr val="tx1"/>
                </a:solidFill>
                <a:latin typeface="Roboto Light" panose="02000000000000000000" pitchFamily="2" charset="0"/>
                <a:ea typeface="Roboto Light" panose="02000000000000000000" pitchFamily="2" charset="0"/>
              </a:endParaRPr>
            </a:p>
          </p:txBody>
        </p:sp>
        <p:sp>
          <p:nvSpPr>
            <p:cNvPr id="20" name="object 7">
              <a:extLst>
                <a:ext uri="{FF2B5EF4-FFF2-40B4-BE49-F238E27FC236}">
                  <a16:creationId xmlns:a16="http://schemas.microsoft.com/office/drawing/2014/main" id="{8E27E535-55E5-E37E-CCC8-B2918F274C2A}"/>
                </a:ext>
              </a:extLst>
            </p:cNvPr>
            <p:cNvSpPr/>
            <p:nvPr userDrawn="1"/>
          </p:nvSpPr>
          <p:spPr>
            <a:xfrm>
              <a:off x="6092371" y="2902998"/>
              <a:ext cx="2520000" cy="216000"/>
            </a:xfrm>
            <a:custGeom>
              <a:avLst/>
              <a:gdLst/>
              <a:ahLst/>
              <a:cxnLst/>
              <a:rect l="l" t="t" r="r" b="b"/>
              <a:pathLst>
                <a:path w="1490979" h="210819">
                  <a:moveTo>
                    <a:pt x="1490472" y="0"/>
                  </a:moveTo>
                  <a:lnTo>
                    <a:pt x="0" y="0"/>
                  </a:lnTo>
                  <a:lnTo>
                    <a:pt x="0" y="210312"/>
                  </a:lnTo>
                  <a:lnTo>
                    <a:pt x="1490472" y="210312"/>
                  </a:lnTo>
                  <a:lnTo>
                    <a:pt x="1490472" y="0"/>
                  </a:lnTo>
                  <a:close/>
                </a:path>
              </a:pathLst>
            </a:custGeom>
            <a:solidFill>
              <a:srgbClr val="233567">
                <a:alpha val="60000"/>
              </a:srgbClr>
            </a:solidFill>
          </p:spPr>
          <p:txBody>
            <a:bodyPr wrap="square" lIns="0" tIns="0" rIns="0" bIns="0" rtlCol="0" anchor="ctr" anchorCtr="0"/>
            <a:lstStyle/>
            <a:p>
              <a:pPr algn="ctr"/>
              <a:endParaRPr lang="de-DE" sz="1200" dirty="0">
                <a:solidFill>
                  <a:schemeClr val="tx1"/>
                </a:solidFill>
                <a:latin typeface="Roboto Light" panose="02000000000000000000" pitchFamily="2" charset="0"/>
                <a:ea typeface="Roboto Light" panose="02000000000000000000" pitchFamily="2" charset="0"/>
              </a:endParaRPr>
            </a:p>
          </p:txBody>
        </p:sp>
        <p:sp>
          <p:nvSpPr>
            <p:cNvPr id="21" name="object 8">
              <a:extLst>
                <a:ext uri="{FF2B5EF4-FFF2-40B4-BE49-F238E27FC236}">
                  <a16:creationId xmlns:a16="http://schemas.microsoft.com/office/drawing/2014/main" id="{FDBA49A0-98B0-42AA-5DF4-17B783BD1C0E}"/>
                </a:ext>
              </a:extLst>
            </p:cNvPr>
            <p:cNvSpPr/>
            <p:nvPr userDrawn="1"/>
          </p:nvSpPr>
          <p:spPr>
            <a:xfrm>
              <a:off x="8612371" y="2902998"/>
              <a:ext cx="2520000" cy="216000"/>
            </a:xfrm>
            <a:custGeom>
              <a:avLst/>
              <a:gdLst/>
              <a:ahLst/>
              <a:cxnLst/>
              <a:rect l="l" t="t" r="r" b="b"/>
              <a:pathLst>
                <a:path w="2269490" h="210819">
                  <a:moveTo>
                    <a:pt x="2269236" y="0"/>
                  </a:moveTo>
                  <a:lnTo>
                    <a:pt x="0" y="0"/>
                  </a:lnTo>
                  <a:lnTo>
                    <a:pt x="0" y="210312"/>
                  </a:lnTo>
                  <a:lnTo>
                    <a:pt x="2269236" y="210312"/>
                  </a:lnTo>
                  <a:lnTo>
                    <a:pt x="2269236" y="0"/>
                  </a:lnTo>
                  <a:close/>
                </a:path>
              </a:pathLst>
            </a:custGeom>
            <a:solidFill>
              <a:srgbClr val="233567"/>
            </a:solidFill>
          </p:spPr>
          <p:txBody>
            <a:bodyPr wrap="square" lIns="0" tIns="0" rIns="0" bIns="0" rtlCol="0" anchor="ctr" anchorCtr="0"/>
            <a:lstStyle/>
            <a:p>
              <a:pPr algn="ctr"/>
              <a:endParaRPr lang="de-DE" sz="1200" dirty="0">
                <a:solidFill>
                  <a:schemeClr val="tx1"/>
                </a:solidFill>
                <a:latin typeface="Roboto Light" panose="02000000000000000000" pitchFamily="2" charset="0"/>
                <a:ea typeface="Roboto Light" panose="02000000000000000000" pitchFamily="2" charset="0"/>
              </a:endParaRPr>
            </a:p>
          </p:txBody>
        </p:sp>
        <p:sp>
          <p:nvSpPr>
            <p:cNvPr id="22" name="object 5">
              <a:extLst>
                <a:ext uri="{FF2B5EF4-FFF2-40B4-BE49-F238E27FC236}">
                  <a16:creationId xmlns:a16="http://schemas.microsoft.com/office/drawing/2014/main" id="{505371C4-BBF4-BB5E-422C-73030BBF3B26}"/>
                </a:ext>
              </a:extLst>
            </p:cNvPr>
            <p:cNvSpPr/>
            <p:nvPr userDrawn="1"/>
          </p:nvSpPr>
          <p:spPr>
            <a:xfrm>
              <a:off x="1056000" y="2599617"/>
              <a:ext cx="2520000" cy="216000"/>
            </a:xfrm>
            <a:custGeom>
              <a:avLst/>
              <a:gdLst/>
              <a:ahLst/>
              <a:cxnLst/>
              <a:rect l="l" t="t" r="r" b="b"/>
              <a:pathLst>
                <a:path w="2575560" h="210819">
                  <a:moveTo>
                    <a:pt x="2575560" y="0"/>
                  </a:moveTo>
                  <a:lnTo>
                    <a:pt x="0" y="0"/>
                  </a:lnTo>
                  <a:lnTo>
                    <a:pt x="0" y="210312"/>
                  </a:lnTo>
                  <a:lnTo>
                    <a:pt x="2575560" y="210312"/>
                  </a:lnTo>
                  <a:lnTo>
                    <a:pt x="2575560" y="0"/>
                  </a:lnTo>
                  <a:close/>
                </a:path>
              </a:pathLst>
            </a:custGeom>
            <a:noFill/>
          </p:spPr>
          <p:txBody>
            <a:bodyPr wrap="square" lIns="0" tIns="0" rIns="0" bIns="0" rtlCol="0" anchor="ctr" anchorCtr="0"/>
            <a:lstStyle/>
            <a:p>
              <a:pPr algn="ctr"/>
              <a:r>
                <a:rPr lang="de-DE" sz="1100" dirty="0">
                  <a:solidFill>
                    <a:schemeClr val="tx1"/>
                  </a:solidFill>
                  <a:latin typeface="Roboto Light" panose="02000000000000000000" pitchFamily="2" charset="0"/>
                  <a:ea typeface="Roboto Light" panose="02000000000000000000" pitchFamily="2" charset="0"/>
                </a:rPr>
                <a:t>Vermarktungsvorbereitung</a:t>
              </a:r>
            </a:p>
          </p:txBody>
        </p:sp>
        <p:sp>
          <p:nvSpPr>
            <p:cNvPr id="23" name="object 6">
              <a:extLst>
                <a:ext uri="{FF2B5EF4-FFF2-40B4-BE49-F238E27FC236}">
                  <a16:creationId xmlns:a16="http://schemas.microsoft.com/office/drawing/2014/main" id="{A3F8C627-C7F8-88A8-DED7-FF130B1EB70A}"/>
                </a:ext>
              </a:extLst>
            </p:cNvPr>
            <p:cNvSpPr/>
            <p:nvPr userDrawn="1"/>
          </p:nvSpPr>
          <p:spPr>
            <a:xfrm>
              <a:off x="3572371" y="2599617"/>
              <a:ext cx="2520000" cy="216000"/>
            </a:xfrm>
            <a:custGeom>
              <a:avLst/>
              <a:gdLst/>
              <a:ahLst/>
              <a:cxnLst/>
              <a:rect l="l" t="t" r="r" b="b"/>
              <a:pathLst>
                <a:path w="1496695" h="212089">
                  <a:moveTo>
                    <a:pt x="1496567" y="0"/>
                  </a:moveTo>
                  <a:lnTo>
                    <a:pt x="0" y="0"/>
                  </a:lnTo>
                  <a:lnTo>
                    <a:pt x="0" y="211836"/>
                  </a:lnTo>
                  <a:lnTo>
                    <a:pt x="1496567" y="211836"/>
                  </a:lnTo>
                  <a:lnTo>
                    <a:pt x="1496567" y="0"/>
                  </a:lnTo>
                  <a:close/>
                </a:path>
              </a:pathLst>
            </a:custGeom>
            <a:noFill/>
          </p:spPr>
          <p:txBody>
            <a:bodyPr wrap="square" lIns="0" tIns="0" rIns="0" bIns="0" rtlCol="0" anchor="ctr" anchorCtr="0"/>
            <a:lstStyle/>
            <a:p>
              <a:pPr algn="ctr"/>
              <a:r>
                <a:rPr lang="de-DE" sz="1100" dirty="0">
                  <a:solidFill>
                    <a:schemeClr val="tx1"/>
                  </a:solidFill>
                  <a:latin typeface="Roboto Light" panose="02000000000000000000" pitchFamily="2" charset="0"/>
                  <a:ea typeface="Roboto Light" panose="02000000000000000000" pitchFamily="2" charset="0"/>
                </a:rPr>
                <a:t>Marktansprache und Vermarktung</a:t>
              </a:r>
            </a:p>
          </p:txBody>
        </p:sp>
        <p:sp>
          <p:nvSpPr>
            <p:cNvPr id="26" name="object 7">
              <a:extLst>
                <a:ext uri="{FF2B5EF4-FFF2-40B4-BE49-F238E27FC236}">
                  <a16:creationId xmlns:a16="http://schemas.microsoft.com/office/drawing/2014/main" id="{2C515679-5B78-636A-DC92-6C0D5CDCE944}"/>
                </a:ext>
              </a:extLst>
            </p:cNvPr>
            <p:cNvSpPr/>
            <p:nvPr userDrawn="1"/>
          </p:nvSpPr>
          <p:spPr>
            <a:xfrm>
              <a:off x="6092371" y="2599617"/>
              <a:ext cx="2520000" cy="216000"/>
            </a:xfrm>
            <a:custGeom>
              <a:avLst/>
              <a:gdLst/>
              <a:ahLst/>
              <a:cxnLst/>
              <a:rect l="l" t="t" r="r" b="b"/>
              <a:pathLst>
                <a:path w="1490979" h="210819">
                  <a:moveTo>
                    <a:pt x="1490472" y="0"/>
                  </a:moveTo>
                  <a:lnTo>
                    <a:pt x="0" y="0"/>
                  </a:lnTo>
                  <a:lnTo>
                    <a:pt x="0" y="210312"/>
                  </a:lnTo>
                  <a:lnTo>
                    <a:pt x="1490472" y="210312"/>
                  </a:lnTo>
                  <a:lnTo>
                    <a:pt x="1490472" y="0"/>
                  </a:lnTo>
                  <a:close/>
                </a:path>
              </a:pathLst>
            </a:custGeom>
            <a:noFill/>
          </p:spPr>
          <p:txBody>
            <a:bodyPr wrap="square" lIns="0" tIns="0" rIns="0" bIns="0" rtlCol="0" anchor="ctr" anchorCtr="0"/>
            <a:lstStyle/>
            <a:p>
              <a:pPr algn="ctr"/>
              <a:r>
                <a:rPr lang="de-DE" sz="1100" dirty="0">
                  <a:solidFill>
                    <a:schemeClr val="tx1"/>
                  </a:solidFill>
                  <a:latin typeface="Roboto Light" panose="02000000000000000000" pitchFamily="2" charset="0"/>
                  <a:ea typeface="Roboto Light" panose="02000000000000000000" pitchFamily="2" charset="0"/>
                </a:rPr>
                <a:t>Prüfung Kaufgebote</a:t>
              </a:r>
            </a:p>
          </p:txBody>
        </p:sp>
        <p:sp>
          <p:nvSpPr>
            <p:cNvPr id="27" name="object 8">
              <a:extLst>
                <a:ext uri="{FF2B5EF4-FFF2-40B4-BE49-F238E27FC236}">
                  <a16:creationId xmlns:a16="http://schemas.microsoft.com/office/drawing/2014/main" id="{35428CED-26F6-B269-B7C9-594D623AFA2A}"/>
                </a:ext>
              </a:extLst>
            </p:cNvPr>
            <p:cNvSpPr/>
            <p:nvPr userDrawn="1"/>
          </p:nvSpPr>
          <p:spPr>
            <a:xfrm>
              <a:off x="8612371" y="2599617"/>
              <a:ext cx="2520000" cy="216000"/>
            </a:xfrm>
            <a:custGeom>
              <a:avLst/>
              <a:gdLst/>
              <a:ahLst/>
              <a:cxnLst/>
              <a:rect l="l" t="t" r="r" b="b"/>
              <a:pathLst>
                <a:path w="2269490" h="210819">
                  <a:moveTo>
                    <a:pt x="2269236" y="0"/>
                  </a:moveTo>
                  <a:lnTo>
                    <a:pt x="0" y="0"/>
                  </a:lnTo>
                  <a:lnTo>
                    <a:pt x="0" y="210312"/>
                  </a:lnTo>
                  <a:lnTo>
                    <a:pt x="2269236" y="210312"/>
                  </a:lnTo>
                  <a:lnTo>
                    <a:pt x="2269236" y="0"/>
                  </a:lnTo>
                  <a:close/>
                </a:path>
              </a:pathLst>
            </a:custGeom>
            <a:noFill/>
          </p:spPr>
          <p:txBody>
            <a:bodyPr wrap="square" lIns="0" tIns="0" rIns="0" bIns="0" rtlCol="0" anchor="ctr" anchorCtr="0"/>
            <a:lstStyle/>
            <a:p>
              <a:pPr algn="ctr"/>
              <a:r>
                <a:rPr lang="de-DE" sz="1100" dirty="0">
                  <a:solidFill>
                    <a:schemeClr val="tx1"/>
                  </a:solidFill>
                  <a:latin typeface="Roboto Light" panose="02000000000000000000" pitchFamily="2" charset="0"/>
                  <a:ea typeface="Roboto Light" panose="02000000000000000000" pitchFamily="2" charset="0"/>
                </a:rPr>
                <a:t>Abschluss der Transaktion</a:t>
              </a:r>
            </a:p>
          </p:txBody>
        </p:sp>
        <p:sp>
          <p:nvSpPr>
            <p:cNvPr id="28" name="object 51">
              <a:extLst>
                <a:ext uri="{FF2B5EF4-FFF2-40B4-BE49-F238E27FC236}">
                  <a16:creationId xmlns:a16="http://schemas.microsoft.com/office/drawing/2014/main" id="{E5A48EAF-A7DA-BFD5-93FB-811679A4E53A}"/>
                </a:ext>
              </a:extLst>
            </p:cNvPr>
            <p:cNvSpPr/>
            <p:nvPr userDrawn="1"/>
          </p:nvSpPr>
          <p:spPr>
            <a:xfrm flipH="1">
              <a:off x="2794267" y="3288883"/>
              <a:ext cx="45719" cy="1146793"/>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29" name="object 51">
              <a:extLst>
                <a:ext uri="{FF2B5EF4-FFF2-40B4-BE49-F238E27FC236}">
                  <a16:creationId xmlns:a16="http://schemas.microsoft.com/office/drawing/2014/main" id="{A3B7F97D-60DC-A58B-57BD-3F41C062B4BD}"/>
                </a:ext>
              </a:extLst>
            </p:cNvPr>
            <p:cNvSpPr/>
            <p:nvPr userDrawn="1"/>
          </p:nvSpPr>
          <p:spPr>
            <a:xfrm flipH="1">
              <a:off x="3771889" y="3281119"/>
              <a:ext cx="47998" cy="419072"/>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30" name="object 51">
              <a:extLst>
                <a:ext uri="{FF2B5EF4-FFF2-40B4-BE49-F238E27FC236}">
                  <a16:creationId xmlns:a16="http://schemas.microsoft.com/office/drawing/2014/main" id="{A21E12B0-9105-8613-7265-10445796DFFD}"/>
                </a:ext>
              </a:extLst>
            </p:cNvPr>
            <p:cNvSpPr/>
            <p:nvPr userDrawn="1"/>
          </p:nvSpPr>
          <p:spPr>
            <a:xfrm flipH="1">
              <a:off x="4658109" y="3281117"/>
              <a:ext cx="53739" cy="1146792"/>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31" name="object 51">
              <a:extLst>
                <a:ext uri="{FF2B5EF4-FFF2-40B4-BE49-F238E27FC236}">
                  <a16:creationId xmlns:a16="http://schemas.microsoft.com/office/drawing/2014/main" id="{99CEADAA-2CDB-A8EF-58B4-FCF6355962C5}"/>
                </a:ext>
              </a:extLst>
            </p:cNvPr>
            <p:cNvSpPr/>
            <p:nvPr userDrawn="1"/>
          </p:nvSpPr>
          <p:spPr>
            <a:xfrm>
              <a:off x="5771091" y="3296026"/>
              <a:ext cx="48501" cy="404163"/>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32" name="object 51">
              <a:extLst>
                <a:ext uri="{FF2B5EF4-FFF2-40B4-BE49-F238E27FC236}">
                  <a16:creationId xmlns:a16="http://schemas.microsoft.com/office/drawing/2014/main" id="{84E37F7F-8066-6A5F-46BD-0521686CC909}"/>
                </a:ext>
              </a:extLst>
            </p:cNvPr>
            <p:cNvSpPr/>
            <p:nvPr userDrawn="1"/>
          </p:nvSpPr>
          <p:spPr>
            <a:xfrm flipH="1">
              <a:off x="7848895" y="3248106"/>
              <a:ext cx="45719" cy="447031"/>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33" name="object 51">
              <a:extLst>
                <a:ext uri="{FF2B5EF4-FFF2-40B4-BE49-F238E27FC236}">
                  <a16:creationId xmlns:a16="http://schemas.microsoft.com/office/drawing/2014/main" id="{F0215862-1E93-90CE-956E-7EFAB17DB7D4}"/>
                </a:ext>
              </a:extLst>
            </p:cNvPr>
            <p:cNvSpPr/>
            <p:nvPr userDrawn="1"/>
          </p:nvSpPr>
          <p:spPr>
            <a:xfrm flipH="1">
              <a:off x="8921731" y="3281117"/>
              <a:ext cx="54564" cy="1162327"/>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34" name="Ellipse 80">
              <a:extLst>
                <a:ext uri="{FF2B5EF4-FFF2-40B4-BE49-F238E27FC236}">
                  <a16:creationId xmlns:a16="http://schemas.microsoft.com/office/drawing/2014/main" id="{5684969A-44FD-949B-A3D5-B4CC1B589C7F}"/>
                </a:ext>
              </a:extLst>
            </p:cNvPr>
            <p:cNvSpPr/>
            <p:nvPr userDrawn="1"/>
          </p:nvSpPr>
          <p:spPr>
            <a:xfrm>
              <a:off x="1560745"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35" name="Ellipse 81">
              <a:extLst>
                <a:ext uri="{FF2B5EF4-FFF2-40B4-BE49-F238E27FC236}">
                  <a16:creationId xmlns:a16="http://schemas.microsoft.com/office/drawing/2014/main" id="{49BF9D35-B1AA-DCCB-B164-3CD7A3D532EF}"/>
                </a:ext>
              </a:extLst>
            </p:cNvPr>
            <p:cNvSpPr/>
            <p:nvPr userDrawn="1"/>
          </p:nvSpPr>
          <p:spPr>
            <a:xfrm>
              <a:off x="2808617"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36" name="Ellipse 82">
              <a:extLst>
                <a:ext uri="{FF2B5EF4-FFF2-40B4-BE49-F238E27FC236}">
                  <a16:creationId xmlns:a16="http://schemas.microsoft.com/office/drawing/2014/main" id="{0EAFCCF7-C620-D902-8B2C-75CAF0279EF2}"/>
                </a:ext>
              </a:extLst>
            </p:cNvPr>
            <p:cNvSpPr/>
            <p:nvPr userDrawn="1"/>
          </p:nvSpPr>
          <p:spPr>
            <a:xfrm>
              <a:off x="3784824"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37" name="Ellipse 83">
              <a:extLst>
                <a:ext uri="{FF2B5EF4-FFF2-40B4-BE49-F238E27FC236}">
                  <a16:creationId xmlns:a16="http://schemas.microsoft.com/office/drawing/2014/main" id="{00F2D9DD-5083-67D9-9442-3AC1476D457B}"/>
                </a:ext>
              </a:extLst>
            </p:cNvPr>
            <p:cNvSpPr/>
            <p:nvPr userDrawn="1"/>
          </p:nvSpPr>
          <p:spPr>
            <a:xfrm>
              <a:off x="4676764"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38" name="Ellipse 84">
              <a:extLst>
                <a:ext uri="{FF2B5EF4-FFF2-40B4-BE49-F238E27FC236}">
                  <a16:creationId xmlns:a16="http://schemas.microsoft.com/office/drawing/2014/main" id="{12F8F5D3-344F-4CAA-D04E-8B74F20DF42A}"/>
                </a:ext>
              </a:extLst>
            </p:cNvPr>
            <p:cNvSpPr/>
            <p:nvPr userDrawn="1"/>
          </p:nvSpPr>
          <p:spPr>
            <a:xfrm>
              <a:off x="5734960"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39" name="Ellipse 85">
              <a:extLst>
                <a:ext uri="{FF2B5EF4-FFF2-40B4-BE49-F238E27FC236}">
                  <a16:creationId xmlns:a16="http://schemas.microsoft.com/office/drawing/2014/main" id="{15FEE952-B13A-A625-440F-C491D9463F06}"/>
                </a:ext>
              </a:extLst>
            </p:cNvPr>
            <p:cNvSpPr/>
            <p:nvPr userDrawn="1"/>
          </p:nvSpPr>
          <p:spPr>
            <a:xfrm>
              <a:off x="7859418"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40" name="Ellipse 86">
              <a:extLst>
                <a:ext uri="{FF2B5EF4-FFF2-40B4-BE49-F238E27FC236}">
                  <a16:creationId xmlns:a16="http://schemas.microsoft.com/office/drawing/2014/main" id="{5A726663-BEE4-2EBA-FBBF-8541D284EC13}"/>
                </a:ext>
              </a:extLst>
            </p:cNvPr>
            <p:cNvSpPr/>
            <p:nvPr userDrawn="1"/>
          </p:nvSpPr>
          <p:spPr>
            <a:xfrm>
              <a:off x="8943805" y="3218446"/>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cxnSp>
          <p:nvCxnSpPr>
            <p:cNvPr id="41" name="Gerader Verbinder 87">
              <a:extLst>
                <a:ext uri="{FF2B5EF4-FFF2-40B4-BE49-F238E27FC236}">
                  <a16:creationId xmlns:a16="http://schemas.microsoft.com/office/drawing/2014/main" id="{C666D21D-FF10-75DC-EBAD-F88BC1184FC7}"/>
                </a:ext>
              </a:extLst>
            </p:cNvPr>
            <p:cNvCxnSpPr>
              <a:cxnSpLocks/>
            </p:cNvCxnSpPr>
            <p:nvPr userDrawn="1"/>
          </p:nvCxnSpPr>
          <p:spPr>
            <a:xfrm>
              <a:off x="1056000" y="5675381"/>
              <a:ext cx="10080000" cy="0"/>
            </a:xfrm>
            <a:prstGeom prst="line">
              <a:avLst/>
            </a:prstGeom>
            <a:ln w="12700">
              <a:solidFill>
                <a:srgbClr val="233567"/>
              </a:solidFill>
            </a:ln>
          </p:spPr>
          <p:style>
            <a:lnRef idx="1">
              <a:schemeClr val="accent1"/>
            </a:lnRef>
            <a:fillRef idx="0">
              <a:schemeClr val="accent1"/>
            </a:fillRef>
            <a:effectRef idx="0">
              <a:schemeClr val="accent1"/>
            </a:effectRef>
            <a:fontRef idx="minor">
              <a:schemeClr val="tx1"/>
            </a:fontRef>
          </p:style>
        </p:cxnSp>
        <p:sp>
          <p:nvSpPr>
            <p:cNvPr id="42" name="object 51">
              <a:extLst>
                <a:ext uri="{FF2B5EF4-FFF2-40B4-BE49-F238E27FC236}">
                  <a16:creationId xmlns:a16="http://schemas.microsoft.com/office/drawing/2014/main" id="{21ABF55E-EB7B-18C5-B13F-F5268052161D}"/>
                </a:ext>
              </a:extLst>
            </p:cNvPr>
            <p:cNvSpPr/>
            <p:nvPr userDrawn="1"/>
          </p:nvSpPr>
          <p:spPr>
            <a:xfrm>
              <a:off x="6095999" y="5675381"/>
              <a:ext cx="45719" cy="209528"/>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43" name="Textplatzhalter 26">
              <a:extLst>
                <a:ext uri="{FF2B5EF4-FFF2-40B4-BE49-F238E27FC236}">
                  <a16:creationId xmlns:a16="http://schemas.microsoft.com/office/drawing/2014/main" id="{B07C4C61-7650-A3C0-8F62-92D72C2A3EBF}"/>
                </a:ext>
              </a:extLst>
            </p:cNvPr>
            <p:cNvSpPr txBox="1">
              <a:spLocks/>
            </p:cNvSpPr>
            <p:nvPr userDrawn="1"/>
          </p:nvSpPr>
          <p:spPr>
            <a:xfrm>
              <a:off x="5016000" y="5884913"/>
              <a:ext cx="2160000" cy="396000"/>
            </a:xfrm>
            <a:prstGeom prst="roundRect">
              <a:avLst>
                <a:gd name="adj" fmla="val 0"/>
              </a:avLst>
            </a:prstGeom>
            <a:solidFill>
              <a:srgbClr val="233567"/>
            </a:solidFill>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e-DE" sz="1100" dirty="0">
                  <a:solidFill>
                    <a:schemeClr val="bg1"/>
                  </a:solidFill>
                  <a:latin typeface="Roboto Light" panose="02000000000000000000" pitchFamily="2" charset="0"/>
                  <a:ea typeface="Roboto Light" panose="02000000000000000000" pitchFamily="2" charset="0"/>
                </a:rPr>
                <a:t>Insgesamt ca. 3-6 Monate</a:t>
              </a:r>
            </a:p>
          </p:txBody>
        </p:sp>
        <p:sp>
          <p:nvSpPr>
            <p:cNvPr id="44" name="object 51">
              <a:extLst>
                <a:ext uri="{FF2B5EF4-FFF2-40B4-BE49-F238E27FC236}">
                  <a16:creationId xmlns:a16="http://schemas.microsoft.com/office/drawing/2014/main" id="{C59A787B-4933-E1CB-E663-619B09869A7F}"/>
                </a:ext>
              </a:extLst>
            </p:cNvPr>
            <p:cNvSpPr/>
            <p:nvPr/>
          </p:nvSpPr>
          <p:spPr>
            <a:xfrm>
              <a:off x="9800256" y="3276812"/>
              <a:ext cx="57711" cy="582504"/>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46" name="object 51">
              <a:extLst>
                <a:ext uri="{FF2B5EF4-FFF2-40B4-BE49-F238E27FC236}">
                  <a16:creationId xmlns:a16="http://schemas.microsoft.com/office/drawing/2014/main" id="{95963A3D-268B-2A47-F7F4-2C6A1F07EC8F}"/>
                </a:ext>
              </a:extLst>
            </p:cNvPr>
            <p:cNvSpPr/>
            <p:nvPr/>
          </p:nvSpPr>
          <p:spPr>
            <a:xfrm flipH="1">
              <a:off x="10497711" y="3232081"/>
              <a:ext cx="78609" cy="1207925"/>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48" name="Textplatzhalter 22">
              <a:extLst>
                <a:ext uri="{FF2B5EF4-FFF2-40B4-BE49-F238E27FC236}">
                  <a16:creationId xmlns:a16="http://schemas.microsoft.com/office/drawing/2014/main" id="{A8D321EC-D04D-CCCB-0D36-86D3FDA4E28E}"/>
                </a:ext>
              </a:extLst>
            </p:cNvPr>
            <p:cNvSpPr txBox="1">
              <a:spLocks/>
            </p:cNvSpPr>
            <p:nvPr/>
          </p:nvSpPr>
          <p:spPr>
            <a:xfrm>
              <a:off x="9416507" y="3851775"/>
              <a:ext cx="833309" cy="218141"/>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Beurkundung</a:t>
              </a:r>
            </a:p>
          </p:txBody>
        </p:sp>
        <p:sp>
          <p:nvSpPr>
            <p:cNvPr id="49" name="Textplatzhalter 22">
              <a:extLst>
                <a:ext uri="{FF2B5EF4-FFF2-40B4-BE49-F238E27FC236}">
                  <a16:creationId xmlns:a16="http://schemas.microsoft.com/office/drawing/2014/main" id="{E8B74F9F-BB9B-3702-E34C-B672F1A371D5}"/>
                </a:ext>
              </a:extLst>
            </p:cNvPr>
            <p:cNvSpPr txBox="1">
              <a:spLocks/>
            </p:cNvSpPr>
            <p:nvPr/>
          </p:nvSpPr>
          <p:spPr>
            <a:xfrm>
              <a:off x="10003412" y="4421082"/>
              <a:ext cx="1132064" cy="453666"/>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Unterstützung bei der Abwicklung und Übergabe</a:t>
              </a:r>
            </a:p>
          </p:txBody>
        </p:sp>
        <p:sp>
          <p:nvSpPr>
            <p:cNvPr id="50" name="object 51">
              <a:extLst>
                <a:ext uri="{FF2B5EF4-FFF2-40B4-BE49-F238E27FC236}">
                  <a16:creationId xmlns:a16="http://schemas.microsoft.com/office/drawing/2014/main" id="{80F4C7B4-1E34-5CD0-5054-696880548A27}"/>
                </a:ext>
              </a:extLst>
            </p:cNvPr>
            <p:cNvSpPr/>
            <p:nvPr/>
          </p:nvSpPr>
          <p:spPr>
            <a:xfrm flipH="1">
              <a:off x="6798266" y="3279388"/>
              <a:ext cx="58148" cy="1240883"/>
            </a:xfrm>
            <a:custGeom>
              <a:avLst/>
              <a:gdLst/>
              <a:ahLst/>
              <a:cxnLst/>
              <a:rect l="l" t="t" r="r" b="b"/>
              <a:pathLst>
                <a:path h="178435">
                  <a:moveTo>
                    <a:pt x="0" y="178053"/>
                  </a:moveTo>
                  <a:lnTo>
                    <a:pt x="0" y="0"/>
                  </a:lnTo>
                </a:path>
              </a:pathLst>
            </a:custGeom>
            <a:ln w="12700">
              <a:solidFill>
                <a:srgbClr val="233567"/>
              </a:solidFill>
            </a:ln>
          </p:spPr>
          <p:txBody>
            <a:bodyPr wrap="square" lIns="0" tIns="0" rIns="0" bIns="0" rtlCol="0"/>
            <a:lstStyle/>
            <a:p>
              <a:endParaRPr>
                <a:solidFill>
                  <a:schemeClr val="tx1"/>
                </a:solidFill>
                <a:latin typeface="Roboto Light" panose="02000000000000000000" pitchFamily="2" charset="0"/>
                <a:ea typeface="Roboto Light" panose="02000000000000000000" pitchFamily="2" charset="0"/>
              </a:endParaRPr>
            </a:p>
          </p:txBody>
        </p:sp>
        <p:sp>
          <p:nvSpPr>
            <p:cNvPr id="51" name="Ellipse 85">
              <a:extLst>
                <a:ext uri="{FF2B5EF4-FFF2-40B4-BE49-F238E27FC236}">
                  <a16:creationId xmlns:a16="http://schemas.microsoft.com/office/drawing/2014/main" id="{91E082F8-895D-F511-CCF2-D706DC37A587}"/>
                </a:ext>
              </a:extLst>
            </p:cNvPr>
            <p:cNvSpPr/>
            <p:nvPr/>
          </p:nvSpPr>
          <p:spPr>
            <a:xfrm>
              <a:off x="6820818" y="3216717"/>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52" name="Textplatzhalter 20">
              <a:extLst>
                <a:ext uri="{FF2B5EF4-FFF2-40B4-BE49-F238E27FC236}">
                  <a16:creationId xmlns:a16="http://schemas.microsoft.com/office/drawing/2014/main" id="{00392ADF-5ADF-AA7C-3010-8C428D2C64EC}"/>
                </a:ext>
              </a:extLst>
            </p:cNvPr>
            <p:cNvSpPr txBox="1">
              <a:spLocks/>
            </p:cNvSpPr>
            <p:nvPr/>
          </p:nvSpPr>
          <p:spPr>
            <a:xfrm>
              <a:off x="6323066" y="4428954"/>
              <a:ext cx="1022169" cy="466500"/>
            </a:xfrm>
            <a:prstGeom prst="rect">
              <a:avLst/>
            </a:prstGeom>
            <a:solidFill>
              <a:srgbClr val="F0F0F0"/>
            </a:solidFill>
          </p:spPr>
          <p:txBody>
            <a:bodyPr lIns="72000" r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900" dirty="0">
                  <a:solidFill>
                    <a:schemeClr val="tx1"/>
                  </a:solidFill>
                  <a:latin typeface="Roboto Light" panose="02000000000000000000" pitchFamily="2" charset="0"/>
                  <a:ea typeface="Roboto Light" panose="02000000000000000000" pitchFamily="2" charset="0"/>
                </a:rPr>
                <a:t>Verhandlungen zur Maximierung der Kaufangebote</a:t>
              </a:r>
            </a:p>
          </p:txBody>
        </p:sp>
      </p:grpSp>
      <p:sp>
        <p:nvSpPr>
          <p:cNvPr id="53" name="Ellipse 86">
            <a:extLst>
              <a:ext uri="{FF2B5EF4-FFF2-40B4-BE49-F238E27FC236}">
                <a16:creationId xmlns:a16="http://schemas.microsoft.com/office/drawing/2014/main" id="{5FA5CB26-2673-4375-D1DF-C7E84310BD88}"/>
              </a:ext>
            </a:extLst>
          </p:cNvPr>
          <p:cNvSpPr/>
          <p:nvPr/>
        </p:nvSpPr>
        <p:spPr>
          <a:xfrm>
            <a:off x="8974132" y="3320551"/>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
        <p:nvSpPr>
          <p:cNvPr id="54" name="Ellipse 86">
            <a:extLst>
              <a:ext uri="{FF2B5EF4-FFF2-40B4-BE49-F238E27FC236}">
                <a16:creationId xmlns:a16="http://schemas.microsoft.com/office/drawing/2014/main" id="{FFA6BF23-06AB-BB3B-8223-3969BDEAB542}"/>
              </a:ext>
            </a:extLst>
          </p:cNvPr>
          <p:cNvSpPr/>
          <p:nvPr/>
        </p:nvSpPr>
        <p:spPr>
          <a:xfrm>
            <a:off x="9750224" y="3320551"/>
            <a:ext cx="72000" cy="72000"/>
          </a:xfrm>
          <a:prstGeom prst="ellipse">
            <a:avLst/>
          </a:prstGeom>
          <a:solidFill>
            <a:srgbClr val="233567"/>
          </a:solidFill>
          <a:ln>
            <a:solidFill>
              <a:srgbClr val="2335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30345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E55A98E6-AA40-6623-F268-8DB40AE3DBC7}"/>
              </a:ext>
            </a:extLst>
          </p:cNvPr>
          <p:cNvSpPr>
            <a:spLocks noGrp="1"/>
          </p:cNvSpPr>
          <p:nvPr>
            <p:ph type="body" sz="quarter" idx="17"/>
          </p:nvPr>
        </p:nvSpPr>
        <p:spPr>
          <a:prstGeom prst="rect">
            <a:avLst/>
          </a:prstGeom>
        </p:spPr>
        <p:txBody>
          <a:bodyPr/>
          <a:lstStyle/>
          <a:p>
            <a:r>
              <a:rPr lang="de-DE" dirty="0"/>
              <a:t>WEITERE INFORMATIONEN</a:t>
            </a:r>
          </a:p>
        </p:txBody>
      </p:sp>
      <p:sp>
        <p:nvSpPr>
          <p:cNvPr id="10" name="Textplatzhalter 9">
            <a:extLst>
              <a:ext uri="{FF2B5EF4-FFF2-40B4-BE49-F238E27FC236}">
                <a16:creationId xmlns:a16="http://schemas.microsoft.com/office/drawing/2014/main" id="{1ABA4991-F413-61F2-A239-85896C40148B}"/>
              </a:ext>
            </a:extLst>
          </p:cNvPr>
          <p:cNvSpPr>
            <a:spLocks noGrp="1"/>
          </p:cNvSpPr>
          <p:nvPr>
            <p:ph type="body" sz="quarter" idx="18"/>
          </p:nvPr>
        </p:nvSpPr>
        <p:spPr>
          <a:prstGeom prst="rect">
            <a:avLst/>
          </a:prstGeom>
        </p:spPr>
        <p:txBody>
          <a:bodyPr/>
          <a:lstStyle/>
          <a:p>
            <a:r>
              <a:rPr lang="de-DE" dirty="0"/>
              <a:t>Disclaimer</a:t>
            </a:r>
          </a:p>
        </p:txBody>
      </p:sp>
      <p:sp>
        <p:nvSpPr>
          <p:cNvPr id="2" name="Textfeld 1">
            <a:extLst>
              <a:ext uri="{FF2B5EF4-FFF2-40B4-BE49-F238E27FC236}">
                <a16:creationId xmlns:a16="http://schemas.microsoft.com/office/drawing/2014/main" id="{9858A57C-2C35-3EC1-11CE-0EC777FB6D75}"/>
              </a:ext>
            </a:extLst>
          </p:cNvPr>
          <p:cNvSpPr txBox="1"/>
          <p:nvPr/>
        </p:nvSpPr>
        <p:spPr>
          <a:xfrm>
            <a:off x="809689" y="2260359"/>
            <a:ext cx="8439414" cy="3268082"/>
          </a:xfrm>
          <a:prstGeom prst="rect">
            <a:avLst/>
          </a:prstGeom>
          <a:solidFill>
            <a:srgbClr val="F0F0F0"/>
          </a:solidFill>
        </p:spPr>
        <p:txBody>
          <a:bodyPr wrap="square" lIns="108000" tIns="0" rIns="180000" bIns="0" rtlCol="0">
            <a:noAutofit/>
          </a:bodyPr>
          <a:lstStyle/>
          <a:p>
            <a:pPr algn="just">
              <a:spcBef>
                <a:spcPts val="1000"/>
              </a:spcBef>
            </a:pPr>
            <a:endParaRPr lang="de-DE" sz="1000" dirty="0">
              <a:latin typeface="Roboto Light" panose="02000000000000000000" pitchFamily="2" charset="0"/>
              <a:ea typeface="Roboto Light" panose="02000000000000000000" pitchFamily="2" charset="0"/>
            </a:endParaRP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Gegenstand der vorliegenden Ausarbeitung von Grenz &amp; Co. ist die Erarbeitung einer unverbindlichen </a:t>
            </a:r>
            <a:r>
              <a:rPr lang="de-DE" sz="900" dirty="0" err="1">
                <a:latin typeface="Roboto Light" panose="02000000000000000000" pitchFamily="2" charset="0"/>
                <a:ea typeface="Roboto Light" panose="02000000000000000000" pitchFamily="2" charset="0"/>
              </a:rPr>
              <a:t>Vermarktungseinschätzung</a:t>
            </a:r>
            <a:r>
              <a:rPr lang="de-DE" sz="900" dirty="0">
                <a:latin typeface="Roboto Light" panose="02000000000000000000" pitchFamily="2" charset="0"/>
                <a:ea typeface="Roboto Light" panose="02000000000000000000" pitchFamily="2" charset="0"/>
              </a:rPr>
              <a:t> auf Basis eines stark limitierten Datenkranzes.</a:t>
            </a: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Alle Einschätzungen von Grenz &amp; Co. dienen ausschließlich dem Zweck, als eine von verschiedenen Grundlagen zur internen Einschätzung des Auftraggebers, die zur Vermarktbarkeit und zur Erlöseinschätzung herangezogen zu werden. Eine Weitergabe des Dokuments an Dritte in Teilen oder in seiner Gesamtheit ist nicht zulässig – mit Ausnahme der vorherigen schriftlichen Zustimmung durch Grenz &amp; Co. Die Haftung von Grenz &amp; Co. gegenüber Dritten wird hiermit ausdrücklich ausgeschlossen.</a:t>
            </a: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Es wurde ausdrücklich kein Marktwert gemäß den Wertdefinitionen des International </a:t>
            </a:r>
            <a:r>
              <a:rPr lang="de-DE" sz="900" dirty="0" err="1">
                <a:latin typeface="Roboto Light" panose="02000000000000000000" pitchFamily="2" charset="0"/>
                <a:ea typeface="Roboto Light" panose="02000000000000000000" pitchFamily="2" charset="0"/>
              </a:rPr>
              <a:t>Valuation</a:t>
            </a:r>
            <a:r>
              <a:rPr lang="de-DE" sz="900" dirty="0">
                <a:latin typeface="Roboto Light" panose="02000000000000000000" pitchFamily="2" charset="0"/>
                <a:ea typeface="Roboto Light" panose="02000000000000000000" pitchFamily="2" charset="0"/>
              </a:rPr>
              <a:t> Standards Committee (International </a:t>
            </a:r>
            <a:r>
              <a:rPr lang="de-DE" sz="900" dirty="0" err="1">
                <a:latin typeface="Roboto Light" panose="02000000000000000000" pitchFamily="2" charset="0"/>
                <a:ea typeface="Roboto Light" panose="02000000000000000000" pitchFamily="2" charset="0"/>
              </a:rPr>
              <a:t>Valuation</a:t>
            </a:r>
            <a:r>
              <a:rPr lang="de-DE" sz="900" dirty="0">
                <a:latin typeface="Roboto Light" panose="02000000000000000000" pitchFamily="2" charset="0"/>
                <a:ea typeface="Roboto Light" panose="02000000000000000000" pitchFamily="2" charset="0"/>
              </a:rPr>
              <a:t> Standards Committee IVS 3.1) und der Royal Institution </a:t>
            </a:r>
            <a:r>
              <a:rPr lang="de-DE" sz="900" dirty="0" err="1">
                <a:latin typeface="Roboto Light" panose="02000000000000000000" pitchFamily="2" charset="0"/>
                <a:ea typeface="Roboto Light" panose="02000000000000000000" pitchFamily="2" charset="0"/>
              </a:rPr>
              <a:t>of</a:t>
            </a:r>
            <a:r>
              <a:rPr lang="de-DE" sz="900" dirty="0">
                <a:latin typeface="Roboto Light" panose="02000000000000000000" pitchFamily="2" charset="0"/>
                <a:ea typeface="Roboto Light" panose="02000000000000000000" pitchFamily="2" charset="0"/>
              </a:rPr>
              <a:t> Chartered </a:t>
            </a:r>
            <a:r>
              <a:rPr lang="de-DE" sz="900" dirty="0" err="1">
                <a:latin typeface="Roboto Light" panose="02000000000000000000" pitchFamily="2" charset="0"/>
                <a:ea typeface="Roboto Light" panose="02000000000000000000" pitchFamily="2" charset="0"/>
              </a:rPr>
              <a:t>Surveyors</a:t>
            </a:r>
            <a:r>
              <a:rPr lang="de-DE" sz="900" dirty="0">
                <a:latin typeface="Roboto Light" panose="02000000000000000000" pitchFamily="2" charset="0"/>
                <a:ea typeface="Roboto Light" panose="02000000000000000000" pitchFamily="2" charset="0"/>
              </a:rPr>
              <a:t> (</a:t>
            </a:r>
            <a:r>
              <a:rPr lang="de-DE" sz="900" dirty="0" err="1">
                <a:latin typeface="Roboto Light" panose="02000000000000000000" pitchFamily="2" charset="0"/>
                <a:ea typeface="Roboto Light" panose="02000000000000000000" pitchFamily="2" charset="0"/>
              </a:rPr>
              <a:t>Valuation</a:t>
            </a:r>
            <a:r>
              <a:rPr lang="de-DE" sz="900" dirty="0">
                <a:latin typeface="Roboto Light" panose="02000000000000000000" pitchFamily="2" charset="0"/>
                <a:ea typeface="Roboto Light" panose="02000000000000000000" pitchFamily="2" charset="0"/>
              </a:rPr>
              <a:t> Professional Standards VPS 4.1.2) oder ein Verkehrswert im Sinne des §194 Baugesetzbuch ermittelt.</a:t>
            </a: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Die Angaben zum Objekt beruhen auf den vom Auftraggeber zur Verfügung gestellten, ausgewählten Informationen. Insbesondere wurden die Angaben zu Flächen und Mieten ungeprüft von Grenz &amp; Co. übernommen.</a:t>
            </a: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Die getroffenen Aussagen und Prognosen wurden nach bestem Wissen und Gewissen erstellt. Sie unterstellen stabile wirtschaftliche und politische Rahmenbedingungen.</a:t>
            </a:r>
          </a:p>
          <a:p>
            <a:pPr marL="171450" indent="-171450" algn="just">
              <a:spcBef>
                <a:spcPts val="1000"/>
              </a:spcBef>
              <a:buFontTx/>
              <a:buChar char="-"/>
            </a:pPr>
            <a:r>
              <a:rPr lang="de-DE" sz="900" dirty="0">
                <a:latin typeface="Roboto Light" panose="02000000000000000000" pitchFamily="2" charset="0"/>
                <a:ea typeface="Roboto Light" panose="02000000000000000000" pitchFamily="2" charset="0"/>
              </a:rPr>
              <a:t>Grenz &amp; Co. kann keine Gewähr für die volle Gültigkeit, insbesondere für die Vermarktungsmöglichkeiten übernehmen. Im Übrigen verweisen wir auf die allgemeinen Geschäftsbedingungen von Grenz &amp; Co.</a:t>
            </a:r>
          </a:p>
        </p:txBody>
      </p:sp>
    </p:spTree>
    <p:extLst>
      <p:ext uri="{BB962C8B-B14F-4D97-AF65-F5344CB8AC3E}">
        <p14:creationId xmlns:p14="http://schemas.microsoft.com/office/powerpoint/2010/main" val="4082261358"/>
      </p:ext>
    </p:extLst>
  </p:cSld>
  <p:clrMapOvr>
    <a:masterClrMapping/>
  </p:clrMapOvr>
</p:sld>
</file>

<file path=ppt/theme/theme1.xml><?xml version="1.0" encoding="utf-8"?>
<a:theme xmlns:a="http://schemas.openxmlformats.org/drawingml/2006/main" name="Office 2013 – 2022-Design">
  <a:themeElements>
    <a:clrScheme name="Office 2013 – 2022-Desig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PE">
      <a:majorFont>
        <a:latin typeface="Roboto Medium"/>
        <a:ea typeface=""/>
        <a:cs typeface=""/>
      </a:majorFont>
      <a:minorFont>
        <a:latin typeface="Roboto Light"/>
        <a:ea typeface=""/>
        <a:cs typeface=""/>
      </a:minorFont>
    </a:fontScheme>
    <a:fmtScheme name="Office 2013 – 2022-Desig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999</Words>
  <Application>Microsoft Office PowerPoint</Application>
  <PresentationFormat>Benutzerdefiniert</PresentationFormat>
  <Paragraphs>196</Paragraphs>
  <Slides>9</Slides>
  <Notes>2</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9</vt:i4>
      </vt:variant>
    </vt:vector>
  </HeadingPairs>
  <TitlesOfParts>
    <vt:vector size="17" baseType="lpstr">
      <vt:lpstr>Aktiv Grotesk</vt:lpstr>
      <vt:lpstr>Arial</vt:lpstr>
      <vt:lpstr>BNPP Sans Condensed</vt:lpstr>
      <vt:lpstr>Calibri</vt:lpstr>
      <vt:lpstr>Roboto Light</vt:lpstr>
      <vt:lpstr>Roboto Medium</vt:lpstr>
      <vt:lpstr>Symbol</vt:lpstr>
      <vt:lpstr>Office 2013 – 2022-Design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Frenken, Maurice</dc:creator>
  <cp:keywords/>
  <dc:description/>
  <cp:lastModifiedBy>Frenken, Maurice</cp:lastModifiedBy>
  <cp:revision>1277</cp:revision>
  <cp:lastPrinted>2025-05-30T09:58:03Z</cp:lastPrinted>
  <dcterms:created xsi:type="dcterms:W3CDTF">2020-02-10T13:29:12Z</dcterms:created>
  <dcterms:modified xsi:type="dcterms:W3CDTF">2025-10-29T08:03:22Z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ffbc0b8-e97b-47d1-beac-cb0955d66f3b_Enabled">
    <vt:lpwstr>true</vt:lpwstr>
  </property>
  <property fmtid="{D5CDD505-2E9C-101B-9397-08002B2CF9AE}" pid="3" name="MSIP_Label_8ffbc0b8-e97b-47d1-beac-cb0955d66f3b_SetDate">
    <vt:lpwstr>2025-02-06T13:12:13Z</vt:lpwstr>
  </property>
  <property fmtid="{D5CDD505-2E9C-101B-9397-08002B2CF9AE}" pid="4" name="MSIP_Label_8ffbc0b8-e97b-47d1-beac-cb0955d66f3b_Method">
    <vt:lpwstr>Privileged</vt:lpwstr>
  </property>
  <property fmtid="{D5CDD505-2E9C-101B-9397-08002B2CF9AE}" pid="5" name="MSIP_Label_8ffbc0b8-e97b-47d1-beac-cb0955d66f3b_Name">
    <vt:lpwstr>8ffbc0b8-e97b-47d1-beac-cb0955d66f3b</vt:lpwstr>
  </property>
  <property fmtid="{D5CDD505-2E9C-101B-9397-08002B2CF9AE}" pid="6" name="MSIP_Label_8ffbc0b8-e97b-47d1-beac-cb0955d66f3b_SiteId">
    <vt:lpwstr>614f9c25-bffa-42c7-86d8-964101f55fa2</vt:lpwstr>
  </property>
  <property fmtid="{D5CDD505-2E9C-101B-9397-08002B2CF9AE}" pid="7" name="MSIP_Label_8ffbc0b8-e97b-47d1-beac-cb0955d66f3b_ActionId">
    <vt:lpwstr>7107e60a-f222-41f9-94a4-10cef0a173d4</vt:lpwstr>
  </property>
  <property fmtid="{D5CDD505-2E9C-101B-9397-08002B2CF9AE}" pid="8" name="MSIP_Label_8ffbc0b8-e97b-47d1-beac-cb0955d66f3b_ContentBits">
    <vt:lpwstr>2</vt:lpwstr>
  </property>
  <property fmtid="{D5CDD505-2E9C-101B-9397-08002B2CF9AE}" pid="9" name="ClassificationContentMarkingFooterLocations">
    <vt:lpwstr>Master:6</vt:lpwstr>
  </property>
  <property fmtid="{D5CDD505-2E9C-101B-9397-08002B2CF9AE}" pid="10" name="ClassificationContentMarkingFooterText">
    <vt:lpwstr>Classification : Internal</vt:lpwstr>
  </property>
</Properties>
</file>