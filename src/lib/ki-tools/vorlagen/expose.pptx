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92" r:id="rId2"/>
    <p:sldId id="257" r:id="rId3"/>
    <p:sldId id="259" r:id="rId4"/>
    <p:sldId id="258" r:id="rId5"/>
    <p:sldId id="296" r:id="rId6"/>
    <p:sldId id="260" r:id="rId7"/>
    <p:sldId id="273" r:id="rId8"/>
    <p:sldId id="274" r:id="rId9"/>
    <p:sldId id="279" r:id="rId10"/>
    <p:sldId id="291" r:id="rId11"/>
    <p:sldId id="266" r:id="rId12"/>
    <p:sldId id="267" r:id="rId13"/>
    <p:sldId id="288" r:id="rId14"/>
    <p:sldId id="286" r:id="rId15"/>
    <p:sldId id="297" r:id="rId16"/>
    <p:sldId id="293" r:id="rId17"/>
    <p:sldId id="290" r:id="rId18"/>
    <p:sldId id="294" r:id="rId19"/>
  </p:sldIdLst>
  <p:sldSz cx="11160125" cy="75596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CD4E5"/>
    <a:srgbClr val="233567"/>
    <a:srgbClr val="F2F2F2"/>
    <a:srgbClr val="D6D1CA"/>
    <a:srgbClr val="1C2C36"/>
    <a:srgbClr val="11A5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97505C-8362-9F40-8A9F-74225E7D0E35}" v="15" dt="2026-03-10T11:07:29.391"/>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14" autoAdjust="0"/>
    <p:restoredTop sz="96347"/>
  </p:normalViewPr>
  <p:slideViewPr>
    <p:cSldViewPr snapToGrid="0" showGuides="1">
      <p:cViewPr varScale="1">
        <p:scale>
          <a:sx n="141" d="100"/>
          <a:sy n="141" d="100"/>
        </p:scale>
        <p:origin x="1112" y="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Grenz" userId="bda5a7a6-c852-442d-ad62-d82bd12968c7" providerId="ADAL" clId="{C0730813-C549-5DA5-8505-040D590545CE}"/>
    <pc:docChg chg="undo custSel addSld delSld modSld sldOrd modMainMaster">
      <pc:chgData name="Sebastian  Grenz" userId="bda5a7a6-c852-442d-ad62-d82bd12968c7" providerId="ADAL" clId="{C0730813-C549-5DA5-8505-040D590545CE}" dt="2026-03-10T11:09:26.253" v="295" actId="14100"/>
      <pc:docMkLst>
        <pc:docMk/>
      </pc:docMkLst>
      <pc:sldChg chg="modSp mod">
        <pc:chgData name="Sebastian  Grenz" userId="bda5a7a6-c852-442d-ad62-d82bd12968c7" providerId="ADAL" clId="{C0730813-C549-5DA5-8505-040D590545CE}" dt="2026-03-04T15:13:25.682" v="1" actId="14100"/>
        <pc:sldMkLst>
          <pc:docMk/>
          <pc:sldMk cId="945473520" sldId="257"/>
        </pc:sldMkLst>
        <pc:spChg chg="mod">
          <ac:chgData name="Sebastian  Grenz" userId="bda5a7a6-c852-442d-ad62-d82bd12968c7" providerId="ADAL" clId="{C0730813-C549-5DA5-8505-040D590545CE}" dt="2026-03-04T15:13:23.543" v="0" actId="14100"/>
          <ac:spMkLst>
            <pc:docMk/>
            <pc:sldMk cId="945473520" sldId="257"/>
            <ac:spMk id="2" creationId="{8ED2CE8A-CE0B-FFD9-423D-5760B940D0E5}"/>
          </ac:spMkLst>
        </pc:spChg>
        <pc:graphicFrameChg chg="modGraphic">
          <ac:chgData name="Sebastian  Grenz" userId="bda5a7a6-c852-442d-ad62-d82bd12968c7" providerId="ADAL" clId="{C0730813-C549-5DA5-8505-040D590545CE}" dt="2026-03-04T15:13:25.682" v="1" actId="14100"/>
          <ac:graphicFrameMkLst>
            <pc:docMk/>
            <pc:sldMk cId="945473520" sldId="257"/>
            <ac:graphicFrameMk id="8" creationId="{00000000-0000-0000-0000-000000000000}"/>
          </ac:graphicFrameMkLst>
        </pc:graphicFrameChg>
      </pc:sldChg>
      <pc:sldChg chg="addSp delSp modSp mod">
        <pc:chgData name="Sebastian  Grenz" userId="bda5a7a6-c852-442d-ad62-d82bd12968c7" providerId="ADAL" clId="{C0730813-C549-5DA5-8505-040D590545CE}" dt="2026-03-04T15:13:48.034" v="7" actId="14100"/>
        <pc:sldMkLst>
          <pc:docMk/>
          <pc:sldMk cId="980800033" sldId="259"/>
        </pc:sldMkLst>
        <pc:spChg chg="mod">
          <ac:chgData name="Sebastian  Grenz" userId="bda5a7a6-c852-442d-ad62-d82bd12968c7" providerId="ADAL" clId="{C0730813-C549-5DA5-8505-040D590545CE}" dt="2026-03-04T15:13:48.034" v="7" actId="14100"/>
          <ac:spMkLst>
            <pc:docMk/>
            <pc:sldMk cId="980800033" sldId="259"/>
            <ac:spMk id="2" creationId="{75208FF4-23B6-EE39-6137-C2B3C09DF5C3}"/>
          </ac:spMkLst>
        </pc:spChg>
        <pc:graphicFrameChg chg="modGraphic">
          <ac:chgData name="Sebastian  Grenz" userId="bda5a7a6-c852-442d-ad62-d82bd12968c7" providerId="ADAL" clId="{C0730813-C549-5DA5-8505-040D590545CE}" dt="2026-03-04T15:13:42.139" v="5" actId="14100"/>
          <ac:graphicFrameMkLst>
            <pc:docMk/>
            <pc:sldMk cId="980800033" sldId="259"/>
            <ac:graphicFrameMk id="8" creationId="{00000000-0000-0000-0000-000000000000}"/>
          </ac:graphicFrameMkLst>
        </pc:graphicFrameChg>
      </pc:sldChg>
      <pc:sldChg chg="modSp mod">
        <pc:chgData name="Sebastian  Grenz" userId="bda5a7a6-c852-442d-ad62-d82bd12968c7" providerId="ADAL" clId="{C0730813-C549-5DA5-8505-040D590545CE}" dt="2026-03-10T11:09:26.253" v="295" actId="14100"/>
        <pc:sldMkLst>
          <pc:docMk/>
          <pc:sldMk cId="1278703608" sldId="286"/>
        </pc:sldMkLst>
        <pc:spChg chg="mod">
          <ac:chgData name="Sebastian  Grenz" userId="bda5a7a6-c852-442d-ad62-d82bd12968c7" providerId="ADAL" clId="{C0730813-C549-5DA5-8505-040D590545CE}" dt="2026-03-10T11:09:26.253" v="295" actId="14100"/>
          <ac:spMkLst>
            <pc:docMk/>
            <pc:sldMk cId="1278703608" sldId="286"/>
            <ac:spMk id="6" creationId="{A15E71A9-B9C8-AEBA-F3B2-F8A486A97FD9}"/>
          </ac:spMkLst>
        </pc:spChg>
        <pc:spChg chg="mod">
          <ac:chgData name="Sebastian  Grenz" userId="bda5a7a6-c852-442d-ad62-d82bd12968c7" providerId="ADAL" clId="{C0730813-C549-5DA5-8505-040D590545CE}" dt="2026-03-10T11:09:22.409" v="294" actId="14100"/>
          <ac:spMkLst>
            <pc:docMk/>
            <pc:sldMk cId="1278703608" sldId="286"/>
            <ac:spMk id="16" creationId="{00000000-0000-0000-0000-000000000000}"/>
          </ac:spMkLst>
        </pc:spChg>
      </pc:sldChg>
      <pc:sldChg chg="modSp new mod ord">
        <pc:chgData name="Sebastian  Grenz" userId="bda5a7a6-c852-442d-ad62-d82bd12968c7" providerId="ADAL" clId="{C0730813-C549-5DA5-8505-040D590545CE}" dt="2026-03-04T15:37:18.941" v="235" actId="20577"/>
        <pc:sldMkLst>
          <pc:docMk/>
          <pc:sldMk cId="3945243419" sldId="296"/>
        </pc:sldMkLst>
        <pc:spChg chg="mod">
          <ac:chgData name="Sebastian  Grenz" userId="bda5a7a6-c852-442d-ad62-d82bd12968c7" providerId="ADAL" clId="{C0730813-C549-5DA5-8505-040D590545CE}" dt="2026-03-04T15:37:06.182" v="233"/>
          <ac:spMkLst>
            <pc:docMk/>
            <pc:sldMk cId="3945243419" sldId="296"/>
            <ac:spMk id="3" creationId="{31950E5E-77D8-F39C-7356-69662E9BDE99}"/>
          </ac:spMkLst>
        </pc:spChg>
        <pc:spChg chg="mod">
          <ac:chgData name="Sebastian  Grenz" userId="bda5a7a6-c852-442d-ad62-d82bd12968c7" providerId="ADAL" clId="{C0730813-C549-5DA5-8505-040D590545CE}" dt="2026-03-04T15:37:18.941" v="235" actId="20577"/>
          <ac:spMkLst>
            <pc:docMk/>
            <pc:sldMk cId="3945243419" sldId="296"/>
            <ac:spMk id="4" creationId="{89A26F18-D02E-5418-2012-24BB6EB92718}"/>
          </ac:spMkLst>
        </pc:spChg>
      </pc:sldChg>
      <pc:sldChg chg="add">
        <pc:chgData name="Sebastian  Grenz" userId="bda5a7a6-c852-442d-ad62-d82bd12968c7" providerId="ADAL" clId="{C0730813-C549-5DA5-8505-040D590545CE}" dt="2026-03-10T11:07:14.825" v="236" actId="2890"/>
        <pc:sldMkLst>
          <pc:docMk/>
          <pc:sldMk cId="3766250151" sldId="297"/>
        </pc:sldMkLst>
      </pc:sldChg>
      <pc:sldMasterChg chg="modSldLayout">
        <pc:chgData name="Sebastian  Grenz" userId="bda5a7a6-c852-442d-ad62-d82bd12968c7" providerId="ADAL" clId="{C0730813-C549-5DA5-8505-040D590545CE}" dt="2026-03-04T15:34:34.114" v="226" actId="1076"/>
        <pc:sldMasterMkLst>
          <pc:docMk/>
          <pc:sldMasterMk cId="2740543648" sldId="2147483684"/>
        </pc:sldMasterMkLst>
        <pc:sldLayoutChg chg="addSp delSp modSp mod">
          <pc:chgData name="Sebastian  Grenz" userId="bda5a7a6-c852-442d-ad62-d82bd12968c7" providerId="ADAL" clId="{C0730813-C549-5DA5-8505-040D590545CE}" dt="2026-03-04T15:34:34.114" v="226" actId="1076"/>
          <pc:sldLayoutMkLst>
            <pc:docMk/>
            <pc:sldMasterMk cId="2740543648" sldId="2147483684"/>
            <pc:sldLayoutMk cId="1308334187" sldId="2147483702"/>
          </pc:sldLayoutMkLst>
          <pc:spChg chg="mod">
            <ac:chgData name="Sebastian  Grenz" userId="bda5a7a6-c852-442d-ad62-d82bd12968c7" providerId="ADAL" clId="{C0730813-C549-5DA5-8505-040D590545CE}" dt="2026-03-04T15:29:06.829" v="119" actId="20577"/>
            <ac:spMkLst>
              <pc:docMk/>
              <pc:sldMasterMk cId="2740543648" sldId="2147483684"/>
              <pc:sldLayoutMk cId="1308334187" sldId="2147483702"/>
              <ac:spMk id="3" creationId="{929AFF33-378D-C564-177D-696E9D9397D2}"/>
            </ac:spMkLst>
          </pc:spChg>
          <pc:spChg chg="mod">
            <ac:chgData name="Sebastian  Grenz" userId="bda5a7a6-c852-442d-ad62-d82bd12968c7" providerId="ADAL" clId="{C0730813-C549-5DA5-8505-040D590545CE}" dt="2026-03-04T15:34:19.591" v="224" actId="14100"/>
            <ac:spMkLst>
              <pc:docMk/>
              <pc:sldMasterMk cId="2740543648" sldId="2147483684"/>
              <pc:sldLayoutMk cId="1308334187" sldId="2147483702"/>
              <ac:spMk id="7" creationId="{00000000-0000-0000-0000-000000000000}"/>
            </ac:spMkLst>
          </pc:spChg>
          <pc:spChg chg="add mod">
            <ac:chgData name="Sebastian  Grenz" userId="bda5a7a6-c852-442d-ad62-d82bd12968c7" providerId="ADAL" clId="{C0730813-C549-5DA5-8505-040D590545CE}" dt="2026-03-04T15:30:46.828" v="206" actId="167"/>
            <ac:spMkLst>
              <pc:docMk/>
              <pc:sldMasterMk cId="2740543648" sldId="2147483684"/>
              <pc:sldLayoutMk cId="1308334187" sldId="2147483702"/>
              <ac:spMk id="10" creationId="{3334CE86-A1D3-1AF0-CA47-68C18D01E5FD}"/>
            </ac:spMkLst>
          </pc:spChg>
          <pc:spChg chg="add mod">
            <ac:chgData name="Sebastian  Grenz" userId="bda5a7a6-c852-442d-ad62-d82bd12968c7" providerId="ADAL" clId="{C0730813-C549-5DA5-8505-040D590545CE}" dt="2026-03-04T15:34:34.114" v="226" actId="1076"/>
            <ac:spMkLst>
              <pc:docMk/>
              <pc:sldMasterMk cId="2740543648" sldId="2147483684"/>
              <pc:sldLayoutMk cId="1308334187" sldId="2147483702"/>
              <ac:spMk id="14" creationId="{AD8B6E85-AF4A-503D-7264-DDAC73CBB5CE}"/>
            </ac:spMkLst>
          </pc:spChg>
          <pc:spChg chg="add mod">
            <ac:chgData name="Sebastian  Grenz" userId="bda5a7a6-c852-442d-ad62-d82bd12968c7" providerId="ADAL" clId="{C0730813-C549-5DA5-8505-040D590545CE}" dt="2026-03-04T15:34:26.355" v="225" actId="1076"/>
            <ac:spMkLst>
              <pc:docMk/>
              <pc:sldMasterMk cId="2740543648" sldId="2147483684"/>
              <pc:sldLayoutMk cId="1308334187" sldId="2147483702"/>
              <ac:spMk id="16" creationId="{C84C9FF4-09F4-F3B4-627D-C5A6C536FAF3}"/>
            </ac:spMkLst>
          </pc:spChg>
        </pc:sldLayoutChg>
        <pc:sldLayoutChg chg="addSp delSp modSp mod">
          <pc:chgData name="Sebastian  Grenz" userId="bda5a7a6-c852-442d-ad62-d82bd12968c7" providerId="ADAL" clId="{C0730813-C549-5DA5-8505-040D590545CE}" dt="2026-03-04T15:27:41.152" v="91" actId="14100"/>
          <pc:sldLayoutMkLst>
            <pc:docMk/>
            <pc:sldMasterMk cId="2740543648" sldId="2147483684"/>
            <pc:sldLayoutMk cId="1336165702" sldId="2147483709"/>
          </pc:sldLayoutMkLst>
          <pc:spChg chg="add mod">
            <ac:chgData name="Sebastian  Grenz" userId="bda5a7a6-c852-442d-ad62-d82bd12968c7" providerId="ADAL" clId="{C0730813-C549-5DA5-8505-040D590545CE}" dt="2026-03-04T15:24:11.779" v="11" actId="167"/>
            <ac:spMkLst>
              <pc:docMk/>
              <pc:sldMasterMk cId="2740543648" sldId="2147483684"/>
              <pc:sldLayoutMk cId="1336165702" sldId="2147483709"/>
              <ac:spMk id="5" creationId="{68BEF8FA-97AD-0797-A433-990E3F0CD85D}"/>
            </ac:spMkLst>
          </pc:spChg>
          <pc:spChg chg="mod">
            <ac:chgData name="Sebastian  Grenz" userId="bda5a7a6-c852-442d-ad62-d82bd12968c7" providerId="ADAL" clId="{C0730813-C549-5DA5-8505-040D590545CE}" dt="2026-03-04T15:27:41.152" v="91" actId="14100"/>
            <ac:spMkLst>
              <pc:docMk/>
              <pc:sldMasterMk cId="2740543648" sldId="2147483684"/>
              <pc:sldLayoutMk cId="1336165702" sldId="2147483709"/>
              <ac:spMk id="7" creationId="{00000000-0000-0000-0000-000000000000}"/>
            </ac:spMkLst>
          </pc:spChg>
          <pc:spChg chg="mod">
            <ac:chgData name="Sebastian  Grenz" userId="bda5a7a6-c852-442d-ad62-d82bd12968c7" providerId="ADAL" clId="{C0730813-C549-5DA5-8505-040D590545CE}" dt="2026-03-04T15:27:41.152" v="91" actId="14100"/>
            <ac:spMkLst>
              <pc:docMk/>
              <pc:sldMasterMk cId="2740543648" sldId="2147483684"/>
              <pc:sldLayoutMk cId="1336165702" sldId="2147483709"/>
              <ac:spMk id="8" creationId="{19CE4A6B-427C-BCA6-61EA-B11F7055A6A7}"/>
            </ac:spMkLst>
          </pc:spChg>
          <pc:spChg chg="mod">
            <ac:chgData name="Sebastian  Grenz" userId="bda5a7a6-c852-442d-ad62-d82bd12968c7" providerId="ADAL" clId="{C0730813-C549-5DA5-8505-040D590545CE}" dt="2026-03-04T15:27:41.152" v="91" actId="14100"/>
            <ac:spMkLst>
              <pc:docMk/>
              <pc:sldMasterMk cId="2740543648" sldId="2147483684"/>
              <pc:sldLayoutMk cId="1336165702" sldId="2147483709"/>
              <ac:spMk id="9" creationId="{A26D1B56-E17F-BF8F-7F4F-ECD0E625BA0A}"/>
            </ac:spMkLst>
          </pc:spChg>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halt 1">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5295E3BE-1AE3-6EE8-EB8F-2DC3F9ED3938}"/>
              </a:ext>
            </a:extLst>
          </p:cNvPr>
          <p:cNvSpPr/>
          <p:nvPr userDrawn="1"/>
        </p:nvSpPr>
        <p:spPr>
          <a:xfrm>
            <a:off x="7200125" y="0"/>
            <a:ext cx="3960000" cy="7559675"/>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extplatzhalter 4">
            <a:extLst>
              <a:ext uri="{FF2B5EF4-FFF2-40B4-BE49-F238E27FC236}">
                <a16:creationId xmlns:a16="http://schemas.microsoft.com/office/drawing/2014/main" id="{E2A9FBED-D1DD-75EC-66AE-6F9435FAD548}"/>
              </a:ext>
            </a:extLst>
          </p:cNvPr>
          <p:cNvSpPr>
            <a:spLocks noGrp="1"/>
          </p:cNvSpPr>
          <p:nvPr>
            <p:ph type="body" sz="quarter" idx="13" hasCustomPrompt="1"/>
          </p:nvPr>
        </p:nvSpPr>
        <p:spPr>
          <a:xfrm>
            <a:off x="360000" y="356560"/>
            <a:ext cx="9000000" cy="576956"/>
          </a:xfrm>
          <a:prstGeom prst="rect">
            <a:avLst/>
          </a:prstGeom>
        </p:spPr>
        <p:txBody>
          <a:bodyPr lIns="0" tIns="0" rIns="0" bIns="0"/>
          <a:lstStyle>
            <a:lvl1pPr marL="0" indent="0">
              <a:buNone/>
              <a:defRPr sz="40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3" name="Textplatzhalter 10">
            <a:extLst>
              <a:ext uri="{FF2B5EF4-FFF2-40B4-BE49-F238E27FC236}">
                <a16:creationId xmlns:a16="http://schemas.microsoft.com/office/drawing/2014/main" id="{34E3E35D-ABD3-A24D-1FC1-643B76152C98}"/>
              </a:ext>
            </a:extLst>
          </p:cNvPr>
          <p:cNvSpPr>
            <a:spLocks noGrp="1"/>
          </p:cNvSpPr>
          <p:nvPr>
            <p:ph type="body" sz="quarter" idx="14"/>
          </p:nvPr>
        </p:nvSpPr>
        <p:spPr>
          <a:xfrm>
            <a:off x="359999" y="933516"/>
            <a:ext cx="9000000" cy="252000"/>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pic>
        <p:nvPicPr>
          <p:cNvPr id="6" name="Grafik 5" descr="Ein Bild, das Schrift, Grafiken, Typografie, Kalligrafie enthält.&#10;&#10;KI-generierte Inhalte können fehlerhaft sein.">
            <a:extLst>
              <a:ext uri="{FF2B5EF4-FFF2-40B4-BE49-F238E27FC236}">
                <a16:creationId xmlns:a16="http://schemas.microsoft.com/office/drawing/2014/main" id="{781360FA-9356-69F5-CD30-5311D874D9B1}"/>
              </a:ext>
            </a:extLst>
          </p:cNvPr>
          <p:cNvPicPr>
            <a:picLocks noChangeAspect="1"/>
          </p:cNvPicPr>
          <p:nvPr userDrawn="1"/>
        </p:nvPicPr>
        <p:blipFill>
          <a:blip r:embed="rId2"/>
          <a:stretch>
            <a:fillRect/>
          </a:stretch>
        </p:blipFill>
        <p:spPr>
          <a:xfrm>
            <a:off x="9422565" y="356559"/>
            <a:ext cx="1376035" cy="212006"/>
          </a:xfrm>
          <a:prstGeom prst="rect">
            <a:avLst/>
          </a:prstGeom>
        </p:spPr>
      </p:pic>
      <p:sp>
        <p:nvSpPr>
          <p:cNvPr id="8" name="Slide Number Placeholder 3">
            <a:extLst>
              <a:ext uri="{FF2B5EF4-FFF2-40B4-BE49-F238E27FC236}">
                <a16:creationId xmlns:a16="http://schemas.microsoft.com/office/drawing/2014/main" id="{F6D7AA20-9418-8575-D49B-EBA7B334F223}"/>
              </a:ext>
            </a:extLst>
          </p:cNvPr>
          <p:cNvSpPr txBox="1">
            <a:spLocks/>
          </p:cNvSpPr>
          <p:nvPr userDrawn="1"/>
        </p:nvSpPr>
        <p:spPr>
          <a:xfrm>
            <a:off x="10438600" y="7199675"/>
            <a:ext cx="360000" cy="360000"/>
          </a:xfrm>
          <a:prstGeom prst="rect">
            <a:avLst/>
          </a:prstGeom>
          <a:solidFill>
            <a:srgbClr val="233567"/>
          </a:solidFill>
        </p:spPr>
        <p:txBody>
          <a:bodyPr lIns="0" tIns="0" rIns="0" bIns="0" anchor="ctr" anchorCtr="0"/>
          <a:lstStyle>
            <a:defPPr>
              <a:defRPr lang="en-US"/>
            </a:defPPr>
            <a:lvl1pPr marL="0" algn="l" defTabSz="457200" rtl="0" eaLnBrk="1" latinLnBrk="0" hangingPunct="1">
              <a:defRPr sz="900" kern="1200">
                <a:solidFill>
                  <a:schemeClr val="bg1"/>
                </a:solidFill>
                <a:latin typeface="Roboto Light" panose="02000000000000000000" pitchFamily="2" charset="0"/>
                <a:ea typeface="Roboto Light" panose="02000000000000000000" pitchFamily="2"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5677B82C-5688-48AA-97C2-6AAA7FDF91C0}" type="slidenum">
              <a:rPr lang="de-DE" smtClean="0"/>
              <a:pPr algn="ctr"/>
              <a:t>‹Nr.›</a:t>
            </a:fld>
            <a:endParaRPr lang="de-DE" dirty="0"/>
          </a:p>
        </p:txBody>
      </p:sp>
    </p:spTree>
    <p:extLst>
      <p:ext uri="{BB962C8B-B14F-4D97-AF65-F5344CB8AC3E}">
        <p14:creationId xmlns:p14="http://schemas.microsoft.com/office/powerpoint/2010/main" val="1291018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alt 2">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A51FB14C-EDDC-B866-D93E-36961CD566CF}"/>
              </a:ext>
            </a:extLst>
          </p:cNvPr>
          <p:cNvSpPr/>
          <p:nvPr userDrawn="1"/>
        </p:nvSpPr>
        <p:spPr>
          <a:xfrm>
            <a:off x="0" y="2267675"/>
            <a:ext cx="9000000" cy="5292000"/>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Bildplatzhalter 6"/>
          <p:cNvSpPr>
            <a:spLocks noGrp="1"/>
          </p:cNvSpPr>
          <p:nvPr>
            <p:ph type="pic" sz="quarter" idx="10"/>
          </p:nvPr>
        </p:nvSpPr>
        <p:spPr>
          <a:xfrm>
            <a:off x="359999" y="1336673"/>
            <a:ext cx="10438601" cy="5863002"/>
          </a:xfrm>
          <a:prstGeom prst="rect">
            <a:avLst/>
          </a:prstGeom>
        </p:spPr>
        <p:txBody>
          <a:bodyPr/>
          <a:lstStyle>
            <a:lvl1pPr marL="0" indent="0">
              <a:buNone/>
              <a:defRPr sz="900"/>
            </a:lvl1pPr>
          </a:lstStyle>
          <a:p>
            <a:endParaRPr lang="de-DE"/>
          </a:p>
        </p:txBody>
      </p:sp>
      <p:sp>
        <p:nvSpPr>
          <p:cNvPr id="5" name="Textplatzhalter 4">
            <a:extLst>
              <a:ext uri="{FF2B5EF4-FFF2-40B4-BE49-F238E27FC236}">
                <a16:creationId xmlns:a16="http://schemas.microsoft.com/office/drawing/2014/main" id="{558EADEF-CBB1-8FCB-0F12-97322D44B739}"/>
              </a:ext>
            </a:extLst>
          </p:cNvPr>
          <p:cNvSpPr>
            <a:spLocks noGrp="1"/>
          </p:cNvSpPr>
          <p:nvPr>
            <p:ph type="body" sz="quarter" idx="13" hasCustomPrompt="1"/>
          </p:nvPr>
        </p:nvSpPr>
        <p:spPr>
          <a:xfrm>
            <a:off x="360000" y="356560"/>
            <a:ext cx="9000000" cy="576956"/>
          </a:xfrm>
          <a:prstGeom prst="rect">
            <a:avLst/>
          </a:prstGeom>
        </p:spPr>
        <p:txBody>
          <a:bodyPr lIns="0" tIns="0" rIns="0" bIns="0"/>
          <a:lstStyle>
            <a:lvl1pPr marL="0" indent="0">
              <a:buNone/>
              <a:defRPr sz="40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11" name="Textplatzhalter 10">
            <a:extLst>
              <a:ext uri="{FF2B5EF4-FFF2-40B4-BE49-F238E27FC236}">
                <a16:creationId xmlns:a16="http://schemas.microsoft.com/office/drawing/2014/main" id="{B439C44F-1470-E5C5-D6E7-F2F56F01884C}"/>
              </a:ext>
            </a:extLst>
          </p:cNvPr>
          <p:cNvSpPr>
            <a:spLocks noGrp="1"/>
          </p:cNvSpPr>
          <p:nvPr>
            <p:ph type="body" sz="quarter" idx="14"/>
          </p:nvPr>
        </p:nvSpPr>
        <p:spPr>
          <a:xfrm>
            <a:off x="359999" y="933516"/>
            <a:ext cx="9000000" cy="252000"/>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sp>
        <p:nvSpPr>
          <p:cNvPr id="4" name="Slide Number Placeholder 3">
            <a:extLst>
              <a:ext uri="{FF2B5EF4-FFF2-40B4-BE49-F238E27FC236}">
                <a16:creationId xmlns:a16="http://schemas.microsoft.com/office/drawing/2014/main" id="{8F42A3C5-649B-646E-4D95-7CF7715028E0}"/>
              </a:ext>
            </a:extLst>
          </p:cNvPr>
          <p:cNvSpPr txBox="1">
            <a:spLocks/>
          </p:cNvSpPr>
          <p:nvPr userDrawn="1"/>
        </p:nvSpPr>
        <p:spPr>
          <a:xfrm>
            <a:off x="10438600" y="7199675"/>
            <a:ext cx="360000" cy="360000"/>
          </a:xfrm>
          <a:prstGeom prst="rect">
            <a:avLst/>
          </a:prstGeom>
          <a:solidFill>
            <a:srgbClr val="233567"/>
          </a:solidFill>
        </p:spPr>
        <p:txBody>
          <a:bodyPr lIns="0" tIns="0" rIns="0" bIns="0" anchor="ctr" anchorCtr="0"/>
          <a:lstStyle>
            <a:defPPr>
              <a:defRPr lang="en-US"/>
            </a:defPPr>
            <a:lvl1pPr marL="0" algn="l" defTabSz="457200" rtl="0" eaLnBrk="1" latinLnBrk="0" hangingPunct="1">
              <a:defRPr sz="900" kern="1200">
                <a:solidFill>
                  <a:schemeClr val="bg1"/>
                </a:solidFill>
                <a:latin typeface="Roboto Light" panose="02000000000000000000" pitchFamily="2" charset="0"/>
                <a:ea typeface="Roboto Light" panose="02000000000000000000" pitchFamily="2"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5677B82C-5688-48AA-97C2-6AAA7FDF91C0}" type="slidenum">
              <a:rPr lang="de-DE" smtClean="0"/>
              <a:pPr algn="ctr"/>
              <a:t>‹Nr.›</a:t>
            </a:fld>
            <a:endParaRPr lang="de-DE" dirty="0"/>
          </a:p>
        </p:txBody>
      </p:sp>
    </p:spTree>
    <p:extLst>
      <p:ext uri="{BB962C8B-B14F-4D97-AF65-F5344CB8AC3E}">
        <p14:creationId xmlns:p14="http://schemas.microsoft.com/office/powerpoint/2010/main" val="3622185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halt 3">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DB66B4B1-3FF7-9ED5-429F-69127F37E693}"/>
              </a:ext>
            </a:extLst>
          </p:cNvPr>
          <p:cNvSpPr/>
          <p:nvPr userDrawn="1"/>
        </p:nvSpPr>
        <p:spPr>
          <a:xfrm>
            <a:off x="2160126" y="2501673"/>
            <a:ext cx="8999999" cy="5058002"/>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Bildplatzhalter 6"/>
          <p:cNvSpPr>
            <a:spLocks noGrp="1"/>
          </p:cNvSpPr>
          <p:nvPr>
            <p:ph type="pic" sz="quarter" idx="10"/>
          </p:nvPr>
        </p:nvSpPr>
        <p:spPr>
          <a:xfrm>
            <a:off x="5612056" y="1336674"/>
            <a:ext cx="5186543" cy="5863001"/>
          </a:xfrm>
          <a:prstGeom prst="rect">
            <a:avLst/>
          </a:prstGeom>
        </p:spPr>
        <p:txBody>
          <a:bodyPr/>
          <a:lstStyle>
            <a:lvl1pPr marL="0" indent="0">
              <a:buNone/>
              <a:defRPr sz="900"/>
            </a:lvl1pPr>
          </a:lstStyle>
          <a:p>
            <a:endParaRPr lang="de-DE" dirty="0"/>
          </a:p>
        </p:txBody>
      </p:sp>
      <p:sp>
        <p:nvSpPr>
          <p:cNvPr id="3" name="Textplatzhalter 4">
            <a:extLst>
              <a:ext uri="{FF2B5EF4-FFF2-40B4-BE49-F238E27FC236}">
                <a16:creationId xmlns:a16="http://schemas.microsoft.com/office/drawing/2014/main" id="{B30E57B0-4081-B5E6-BEDF-95FAB8770A53}"/>
              </a:ext>
            </a:extLst>
          </p:cNvPr>
          <p:cNvSpPr>
            <a:spLocks noGrp="1"/>
          </p:cNvSpPr>
          <p:nvPr>
            <p:ph type="body" sz="quarter" idx="13" hasCustomPrompt="1"/>
          </p:nvPr>
        </p:nvSpPr>
        <p:spPr>
          <a:xfrm>
            <a:off x="360000" y="356560"/>
            <a:ext cx="9000000" cy="576956"/>
          </a:xfrm>
          <a:prstGeom prst="rect">
            <a:avLst/>
          </a:prstGeom>
        </p:spPr>
        <p:txBody>
          <a:bodyPr lIns="0" tIns="0" rIns="0" bIns="0"/>
          <a:lstStyle>
            <a:lvl1pPr marL="0" indent="0">
              <a:buNone/>
              <a:defRPr sz="40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5" name="Textplatzhalter 10">
            <a:extLst>
              <a:ext uri="{FF2B5EF4-FFF2-40B4-BE49-F238E27FC236}">
                <a16:creationId xmlns:a16="http://schemas.microsoft.com/office/drawing/2014/main" id="{567276A1-4B2F-1022-3A85-B6C31EEA2E1B}"/>
              </a:ext>
            </a:extLst>
          </p:cNvPr>
          <p:cNvSpPr>
            <a:spLocks noGrp="1"/>
          </p:cNvSpPr>
          <p:nvPr>
            <p:ph type="body" sz="quarter" idx="14"/>
          </p:nvPr>
        </p:nvSpPr>
        <p:spPr>
          <a:xfrm>
            <a:off x="359999" y="933516"/>
            <a:ext cx="9000000" cy="252000"/>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sp>
        <p:nvSpPr>
          <p:cNvPr id="2" name="Slide Number Placeholder 3">
            <a:extLst>
              <a:ext uri="{FF2B5EF4-FFF2-40B4-BE49-F238E27FC236}">
                <a16:creationId xmlns:a16="http://schemas.microsoft.com/office/drawing/2014/main" id="{95E57619-558A-1BD2-5BDC-2CB7EF85F2D0}"/>
              </a:ext>
            </a:extLst>
          </p:cNvPr>
          <p:cNvSpPr txBox="1">
            <a:spLocks/>
          </p:cNvSpPr>
          <p:nvPr userDrawn="1"/>
        </p:nvSpPr>
        <p:spPr>
          <a:xfrm>
            <a:off x="10438600" y="7199675"/>
            <a:ext cx="360000" cy="360000"/>
          </a:xfrm>
          <a:prstGeom prst="rect">
            <a:avLst/>
          </a:prstGeom>
          <a:solidFill>
            <a:srgbClr val="233567"/>
          </a:solidFill>
        </p:spPr>
        <p:txBody>
          <a:bodyPr lIns="0" tIns="0" rIns="0" bIns="0" anchor="ctr" anchorCtr="0"/>
          <a:lstStyle>
            <a:defPPr>
              <a:defRPr lang="en-US"/>
            </a:defPPr>
            <a:lvl1pPr marL="0" algn="l" defTabSz="457200" rtl="0" eaLnBrk="1" latinLnBrk="0" hangingPunct="1">
              <a:defRPr sz="900" kern="1200">
                <a:solidFill>
                  <a:schemeClr val="bg1"/>
                </a:solidFill>
                <a:latin typeface="Roboto Light" panose="02000000000000000000" pitchFamily="2" charset="0"/>
                <a:ea typeface="Roboto Light" panose="02000000000000000000" pitchFamily="2"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5677B82C-5688-48AA-97C2-6AAA7FDF91C0}" type="slidenum">
              <a:rPr lang="de-DE" smtClean="0"/>
              <a:pPr algn="ctr"/>
              <a:t>‹Nr.›</a:t>
            </a:fld>
            <a:endParaRPr lang="de-DE" dirty="0"/>
          </a:p>
        </p:txBody>
      </p:sp>
    </p:spTree>
    <p:extLst>
      <p:ext uri="{BB962C8B-B14F-4D97-AF65-F5344CB8AC3E}">
        <p14:creationId xmlns:p14="http://schemas.microsoft.com/office/powerpoint/2010/main" val="965200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alt 4">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2127F77C-FADE-1CFE-816F-07844D30C95E}"/>
              </a:ext>
            </a:extLst>
          </p:cNvPr>
          <p:cNvSpPr/>
          <p:nvPr userDrawn="1"/>
        </p:nvSpPr>
        <p:spPr>
          <a:xfrm>
            <a:off x="0" y="2267675"/>
            <a:ext cx="9000000" cy="5292000"/>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Bildplatzhalter 6"/>
          <p:cNvSpPr>
            <a:spLocks noGrp="1"/>
          </p:cNvSpPr>
          <p:nvPr>
            <p:ph type="pic" sz="quarter" idx="10"/>
          </p:nvPr>
        </p:nvSpPr>
        <p:spPr>
          <a:xfrm>
            <a:off x="374557" y="1336299"/>
            <a:ext cx="5025505" cy="5863376"/>
          </a:xfrm>
          <a:prstGeom prst="rect">
            <a:avLst/>
          </a:prstGeom>
        </p:spPr>
        <p:txBody>
          <a:bodyPr/>
          <a:lstStyle>
            <a:lvl1pPr marL="0" indent="0">
              <a:buNone/>
              <a:defRPr sz="900"/>
            </a:lvl1pPr>
          </a:lstStyle>
          <a:p>
            <a:endParaRPr lang="de-DE"/>
          </a:p>
        </p:txBody>
      </p:sp>
      <p:sp>
        <p:nvSpPr>
          <p:cNvPr id="3" name="Textplatzhalter 4">
            <a:extLst>
              <a:ext uri="{FF2B5EF4-FFF2-40B4-BE49-F238E27FC236}">
                <a16:creationId xmlns:a16="http://schemas.microsoft.com/office/drawing/2014/main" id="{CDA5847C-4DF2-444B-75BD-502CC9E30F43}"/>
              </a:ext>
            </a:extLst>
          </p:cNvPr>
          <p:cNvSpPr>
            <a:spLocks noGrp="1"/>
          </p:cNvSpPr>
          <p:nvPr>
            <p:ph type="body" sz="quarter" idx="13" hasCustomPrompt="1"/>
          </p:nvPr>
        </p:nvSpPr>
        <p:spPr>
          <a:xfrm>
            <a:off x="360000" y="356560"/>
            <a:ext cx="9000000" cy="576956"/>
          </a:xfrm>
          <a:prstGeom prst="rect">
            <a:avLst/>
          </a:prstGeom>
        </p:spPr>
        <p:txBody>
          <a:bodyPr lIns="0" tIns="0" rIns="0" bIns="0"/>
          <a:lstStyle>
            <a:lvl1pPr marL="0" indent="0">
              <a:buNone/>
              <a:defRPr sz="40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4" name="Textplatzhalter 10">
            <a:extLst>
              <a:ext uri="{FF2B5EF4-FFF2-40B4-BE49-F238E27FC236}">
                <a16:creationId xmlns:a16="http://schemas.microsoft.com/office/drawing/2014/main" id="{3BF2AFF8-4379-6B15-58F8-99338C75C9B9}"/>
              </a:ext>
            </a:extLst>
          </p:cNvPr>
          <p:cNvSpPr>
            <a:spLocks noGrp="1"/>
          </p:cNvSpPr>
          <p:nvPr>
            <p:ph type="body" sz="quarter" idx="14"/>
          </p:nvPr>
        </p:nvSpPr>
        <p:spPr>
          <a:xfrm>
            <a:off x="359999" y="933516"/>
            <a:ext cx="9000000" cy="252000"/>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sp>
        <p:nvSpPr>
          <p:cNvPr id="2" name="Slide Number Placeholder 3">
            <a:extLst>
              <a:ext uri="{FF2B5EF4-FFF2-40B4-BE49-F238E27FC236}">
                <a16:creationId xmlns:a16="http://schemas.microsoft.com/office/drawing/2014/main" id="{8D36CC68-A8CE-A62F-719E-B8349A2D8340}"/>
              </a:ext>
            </a:extLst>
          </p:cNvPr>
          <p:cNvSpPr txBox="1">
            <a:spLocks/>
          </p:cNvSpPr>
          <p:nvPr userDrawn="1"/>
        </p:nvSpPr>
        <p:spPr>
          <a:xfrm>
            <a:off x="10438600" y="7199675"/>
            <a:ext cx="360000" cy="360000"/>
          </a:xfrm>
          <a:prstGeom prst="rect">
            <a:avLst/>
          </a:prstGeom>
          <a:solidFill>
            <a:srgbClr val="233567"/>
          </a:solidFill>
        </p:spPr>
        <p:txBody>
          <a:bodyPr lIns="0" tIns="0" rIns="0" bIns="0" anchor="ctr" anchorCtr="0"/>
          <a:lstStyle>
            <a:defPPr>
              <a:defRPr lang="en-US"/>
            </a:defPPr>
            <a:lvl1pPr marL="0" algn="l" defTabSz="457200" rtl="0" eaLnBrk="1" latinLnBrk="0" hangingPunct="1">
              <a:defRPr sz="900" kern="1200">
                <a:solidFill>
                  <a:schemeClr val="bg1"/>
                </a:solidFill>
                <a:latin typeface="Roboto Light" panose="02000000000000000000" pitchFamily="2" charset="0"/>
                <a:ea typeface="Roboto Light" panose="02000000000000000000" pitchFamily="2"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5677B82C-5688-48AA-97C2-6AAA7FDF91C0}" type="slidenum">
              <a:rPr lang="de-DE" smtClean="0"/>
              <a:pPr algn="ctr"/>
              <a:t>‹Nr.›</a:t>
            </a:fld>
            <a:endParaRPr lang="de-DE" dirty="0"/>
          </a:p>
        </p:txBody>
      </p:sp>
    </p:spTree>
    <p:extLst>
      <p:ext uri="{BB962C8B-B14F-4D97-AF65-F5344CB8AC3E}">
        <p14:creationId xmlns:p14="http://schemas.microsoft.com/office/powerpoint/2010/main" val="1186962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halt 5">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9255A3D1-B9E9-3F0F-3849-C88B2C42F549}"/>
              </a:ext>
            </a:extLst>
          </p:cNvPr>
          <p:cNvSpPr/>
          <p:nvPr userDrawn="1"/>
        </p:nvSpPr>
        <p:spPr>
          <a:xfrm>
            <a:off x="7200125" y="0"/>
            <a:ext cx="3960000" cy="7559675"/>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Bildplatzhalter 6"/>
          <p:cNvSpPr>
            <a:spLocks noGrp="1"/>
          </p:cNvSpPr>
          <p:nvPr>
            <p:ph type="pic" sz="quarter" idx="10"/>
          </p:nvPr>
        </p:nvSpPr>
        <p:spPr>
          <a:xfrm>
            <a:off x="359999" y="1728323"/>
            <a:ext cx="4714419" cy="4915668"/>
          </a:xfrm>
          <a:prstGeom prst="rect">
            <a:avLst/>
          </a:prstGeom>
        </p:spPr>
        <p:txBody>
          <a:bodyPr/>
          <a:lstStyle>
            <a:lvl1pPr marL="0" indent="0">
              <a:buNone/>
              <a:defRPr sz="900"/>
            </a:lvl1pPr>
          </a:lstStyle>
          <a:p>
            <a:endParaRPr lang="de-DE"/>
          </a:p>
        </p:txBody>
      </p:sp>
      <p:sp>
        <p:nvSpPr>
          <p:cNvPr id="8" name="Bildplatzhalter 6">
            <a:extLst>
              <a:ext uri="{FF2B5EF4-FFF2-40B4-BE49-F238E27FC236}">
                <a16:creationId xmlns:a16="http://schemas.microsoft.com/office/drawing/2014/main" id="{86726212-C3C8-D235-1A67-E6D6C932900C}"/>
              </a:ext>
            </a:extLst>
          </p:cNvPr>
          <p:cNvSpPr>
            <a:spLocks noGrp="1"/>
          </p:cNvSpPr>
          <p:nvPr>
            <p:ph type="pic" sz="quarter" idx="13"/>
          </p:nvPr>
        </p:nvSpPr>
        <p:spPr>
          <a:xfrm>
            <a:off x="5218419" y="1728323"/>
            <a:ext cx="5567148" cy="4915668"/>
          </a:xfrm>
          <a:prstGeom prst="rect">
            <a:avLst/>
          </a:prstGeom>
        </p:spPr>
        <p:txBody>
          <a:bodyPr/>
          <a:lstStyle>
            <a:lvl1pPr marL="0" indent="0">
              <a:buNone/>
              <a:defRPr sz="900"/>
            </a:lvl1pPr>
          </a:lstStyle>
          <a:p>
            <a:endParaRPr lang="de-DE"/>
          </a:p>
        </p:txBody>
      </p:sp>
      <p:sp>
        <p:nvSpPr>
          <p:cNvPr id="3" name="Textplatzhalter 4">
            <a:extLst>
              <a:ext uri="{FF2B5EF4-FFF2-40B4-BE49-F238E27FC236}">
                <a16:creationId xmlns:a16="http://schemas.microsoft.com/office/drawing/2014/main" id="{3B4B3CE7-D2D6-0EFD-737D-6E0FEABB33C5}"/>
              </a:ext>
            </a:extLst>
          </p:cNvPr>
          <p:cNvSpPr>
            <a:spLocks noGrp="1"/>
          </p:cNvSpPr>
          <p:nvPr>
            <p:ph type="body" sz="quarter" idx="14" hasCustomPrompt="1"/>
          </p:nvPr>
        </p:nvSpPr>
        <p:spPr>
          <a:xfrm>
            <a:off x="360000" y="356560"/>
            <a:ext cx="9000000" cy="576956"/>
          </a:xfrm>
          <a:prstGeom prst="rect">
            <a:avLst/>
          </a:prstGeom>
        </p:spPr>
        <p:txBody>
          <a:bodyPr lIns="0" tIns="0" rIns="0" bIns="0"/>
          <a:lstStyle>
            <a:lvl1pPr marL="0" indent="0">
              <a:buNone/>
              <a:defRPr sz="40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4" name="Textplatzhalter 10">
            <a:extLst>
              <a:ext uri="{FF2B5EF4-FFF2-40B4-BE49-F238E27FC236}">
                <a16:creationId xmlns:a16="http://schemas.microsoft.com/office/drawing/2014/main" id="{27AFA7FB-EBFA-42EF-F3C4-A06DFE2A9AAA}"/>
              </a:ext>
            </a:extLst>
          </p:cNvPr>
          <p:cNvSpPr>
            <a:spLocks noGrp="1"/>
          </p:cNvSpPr>
          <p:nvPr>
            <p:ph type="body" sz="quarter" idx="15"/>
          </p:nvPr>
        </p:nvSpPr>
        <p:spPr>
          <a:xfrm>
            <a:off x="359999" y="933516"/>
            <a:ext cx="9000000" cy="252000"/>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pic>
        <p:nvPicPr>
          <p:cNvPr id="2" name="Grafik 1" descr="Ein Bild, das Schrift, Grafiken, Typografie, Kalligrafie enthält.&#10;&#10;KI-generierte Inhalte können fehlerhaft sein.">
            <a:extLst>
              <a:ext uri="{FF2B5EF4-FFF2-40B4-BE49-F238E27FC236}">
                <a16:creationId xmlns:a16="http://schemas.microsoft.com/office/drawing/2014/main" id="{BC275912-0F22-C048-0458-33B6610099EE}"/>
              </a:ext>
            </a:extLst>
          </p:cNvPr>
          <p:cNvPicPr>
            <a:picLocks noChangeAspect="1"/>
          </p:cNvPicPr>
          <p:nvPr userDrawn="1"/>
        </p:nvPicPr>
        <p:blipFill>
          <a:blip r:embed="rId2"/>
          <a:stretch>
            <a:fillRect/>
          </a:stretch>
        </p:blipFill>
        <p:spPr>
          <a:xfrm>
            <a:off x="9422565" y="356559"/>
            <a:ext cx="1376035" cy="212006"/>
          </a:xfrm>
          <a:prstGeom prst="rect">
            <a:avLst/>
          </a:prstGeom>
        </p:spPr>
      </p:pic>
      <p:sp>
        <p:nvSpPr>
          <p:cNvPr id="7" name="Slide Number Placeholder 3">
            <a:extLst>
              <a:ext uri="{FF2B5EF4-FFF2-40B4-BE49-F238E27FC236}">
                <a16:creationId xmlns:a16="http://schemas.microsoft.com/office/drawing/2014/main" id="{7E48239A-4DAF-E5D8-2D69-C592D1BFA72D}"/>
              </a:ext>
            </a:extLst>
          </p:cNvPr>
          <p:cNvSpPr txBox="1">
            <a:spLocks/>
          </p:cNvSpPr>
          <p:nvPr userDrawn="1"/>
        </p:nvSpPr>
        <p:spPr>
          <a:xfrm>
            <a:off x="10438600" y="7199675"/>
            <a:ext cx="360000" cy="360000"/>
          </a:xfrm>
          <a:prstGeom prst="rect">
            <a:avLst/>
          </a:prstGeom>
          <a:solidFill>
            <a:srgbClr val="233567"/>
          </a:solidFill>
        </p:spPr>
        <p:txBody>
          <a:bodyPr lIns="0" tIns="0" rIns="0" bIns="0" anchor="ctr" anchorCtr="0"/>
          <a:lstStyle>
            <a:defPPr>
              <a:defRPr lang="en-US"/>
            </a:defPPr>
            <a:lvl1pPr marL="0" algn="l" defTabSz="457200" rtl="0" eaLnBrk="1" latinLnBrk="0" hangingPunct="1">
              <a:defRPr sz="900" kern="1200">
                <a:solidFill>
                  <a:schemeClr val="bg1"/>
                </a:solidFill>
                <a:latin typeface="Roboto Light" panose="02000000000000000000" pitchFamily="2" charset="0"/>
                <a:ea typeface="Roboto Light" panose="02000000000000000000" pitchFamily="2"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5677B82C-5688-48AA-97C2-6AAA7FDF91C0}" type="slidenum">
              <a:rPr lang="de-DE" smtClean="0"/>
              <a:pPr algn="ctr"/>
              <a:t>‹Nr.›</a:t>
            </a:fld>
            <a:endParaRPr lang="de-DE" dirty="0"/>
          </a:p>
        </p:txBody>
      </p:sp>
    </p:spTree>
    <p:extLst>
      <p:ext uri="{BB962C8B-B14F-4D97-AF65-F5344CB8AC3E}">
        <p14:creationId xmlns:p14="http://schemas.microsoft.com/office/powerpoint/2010/main" val="3744683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 6">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3E7B296F-D4FC-128B-0B53-2071372FF5AD}"/>
              </a:ext>
            </a:extLst>
          </p:cNvPr>
          <p:cNvSpPr/>
          <p:nvPr userDrawn="1"/>
        </p:nvSpPr>
        <p:spPr>
          <a:xfrm>
            <a:off x="7200125" y="0"/>
            <a:ext cx="3960000" cy="7559675"/>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Bildplatzhalter 6">
            <a:extLst>
              <a:ext uri="{FF2B5EF4-FFF2-40B4-BE49-F238E27FC236}">
                <a16:creationId xmlns:a16="http://schemas.microsoft.com/office/drawing/2014/main" id="{A2B7F379-4C6B-26FA-9AB9-9FAB7E2450B9}"/>
              </a:ext>
            </a:extLst>
          </p:cNvPr>
          <p:cNvSpPr>
            <a:spLocks noGrp="1"/>
          </p:cNvSpPr>
          <p:nvPr>
            <p:ph type="pic" sz="quarter" idx="10"/>
          </p:nvPr>
        </p:nvSpPr>
        <p:spPr>
          <a:xfrm>
            <a:off x="359999" y="1728323"/>
            <a:ext cx="4714419" cy="4915668"/>
          </a:xfrm>
          <a:prstGeom prst="rect">
            <a:avLst/>
          </a:prstGeom>
        </p:spPr>
        <p:txBody>
          <a:bodyPr/>
          <a:lstStyle>
            <a:lvl1pPr marL="0" indent="0">
              <a:buNone/>
              <a:defRPr sz="900"/>
            </a:lvl1pPr>
          </a:lstStyle>
          <a:p>
            <a:endParaRPr lang="de-DE"/>
          </a:p>
        </p:txBody>
      </p:sp>
      <p:sp>
        <p:nvSpPr>
          <p:cNvPr id="14" name="Bildplatzhalter 6">
            <a:extLst>
              <a:ext uri="{FF2B5EF4-FFF2-40B4-BE49-F238E27FC236}">
                <a16:creationId xmlns:a16="http://schemas.microsoft.com/office/drawing/2014/main" id="{AB14003E-E998-5189-3E6F-97754F5285F2}"/>
              </a:ext>
            </a:extLst>
          </p:cNvPr>
          <p:cNvSpPr>
            <a:spLocks noGrp="1"/>
          </p:cNvSpPr>
          <p:nvPr>
            <p:ph type="pic" sz="quarter" idx="13"/>
          </p:nvPr>
        </p:nvSpPr>
        <p:spPr>
          <a:xfrm>
            <a:off x="5218419" y="1728323"/>
            <a:ext cx="5567148" cy="2827017"/>
          </a:xfrm>
          <a:prstGeom prst="rect">
            <a:avLst/>
          </a:prstGeom>
        </p:spPr>
        <p:txBody>
          <a:bodyPr/>
          <a:lstStyle>
            <a:lvl1pPr marL="0" indent="0">
              <a:buNone/>
              <a:defRPr sz="900"/>
            </a:lvl1pPr>
          </a:lstStyle>
          <a:p>
            <a:endParaRPr lang="de-DE"/>
          </a:p>
        </p:txBody>
      </p:sp>
      <p:sp>
        <p:nvSpPr>
          <p:cNvPr id="15" name="Bildplatzhalter 6">
            <a:extLst>
              <a:ext uri="{FF2B5EF4-FFF2-40B4-BE49-F238E27FC236}">
                <a16:creationId xmlns:a16="http://schemas.microsoft.com/office/drawing/2014/main" id="{D07B40A1-5CA2-1C2C-CDA3-767FD18D7978}"/>
              </a:ext>
            </a:extLst>
          </p:cNvPr>
          <p:cNvSpPr>
            <a:spLocks noGrp="1"/>
          </p:cNvSpPr>
          <p:nvPr>
            <p:ph type="pic" sz="quarter" idx="14"/>
          </p:nvPr>
        </p:nvSpPr>
        <p:spPr>
          <a:xfrm>
            <a:off x="7917786" y="4699340"/>
            <a:ext cx="2867779" cy="1944651"/>
          </a:xfrm>
          <a:prstGeom prst="rect">
            <a:avLst/>
          </a:prstGeom>
        </p:spPr>
        <p:txBody>
          <a:bodyPr/>
          <a:lstStyle>
            <a:lvl1pPr marL="0" indent="0">
              <a:buNone/>
              <a:defRPr sz="900"/>
            </a:lvl1pPr>
          </a:lstStyle>
          <a:p>
            <a:endParaRPr lang="de-DE"/>
          </a:p>
        </p:txBody>
      </p:sp>
      <p:sp>
        <p:nvSpPr>
          <p:cNvPr id="16" name="Bildplatzhalter 6">
            <a:extLst>
              <a:ext uri="{FF2B5EF4-FFF2-40B4-BE49-F238E27FC236}">
                <a16:creationId xmlns:a16="http://schemas.microsoft.com/office/drawing/2014/main" id="{7E996B14-E372-9A7E-2EB5-0E61C99DF3D0}"/>
              </a:ext>
            </a:extLst>
          </p:cNvPr>
          <p:cNvSpPr>
            <a:spLocks noGrp="1"/>
          </p:cNvSpPr>
          <p:nvPr>
            <p:ph type="pic" sz="quarter" idx="15"/>
          </p:nvPr>
        </p:nvSpPr>
        <p:spPr>
          <a:xfrm>
            <a:off x="5218419" y="4699340"/>
            <a:ext cx="2558572" cy="1944651"/>
          </a:xfrm>
          <a:prstGeom prst="rect">
            <a:avLst/>
          </a:prstGeom>
        </p:spPr>
        <p:txBody>
          <a:bodyPr/>
          <a:lstStyle>
            <a:lvl1pPr marL="0" indent="0">
              <a:buNone/>
              <a:defRPr sz="900"/>
            </a:lvl1pPr>
          </a:lstStyle>
          <a:p>
            <a:endParaRPr lang="de-DE"/>
          </a:p>
        </p:txBody>
      </p:sp>
      <p:sp>
        <p:nvSpPr>
          <p:cNvPr id="3" name="Textplatzhalter 4">
            <a:extLst>
              <a:ext uri="{FF2B5EF4-FFF2-40B4-BE49-F238E27FC236}">
                <a16:creationId xmlns:a16="http://schemas.microsoft.com/office/drawing/2014/main" id="{35B0E670-33E4-AA5F-2D57-5725354F4AE2}"/>
              </a:ext>
            </a:extLst>
          </p:cNvPr>
          <p:cNvSpPr>
            <a:spLocks noGrp="1"/>
          </p:cNvSpPr>
          <p:nvPr>
            <p:ph type="body" sz="quarter" idx="16" hasCustomPrompt="1"/>
          </p:nvPr>
        </p:nvSpPr>
        <p:spPr>
          <a:xfrm>
            <a:off x="360000" y="356560"/>
            <a:ext cx="9000000" cy="576956"/>
          </a:xfrm>
          <a:prstGeom prst="rect">
            <a:avLst/>
          </a:prstGeom>
        </p:spPr>
        <p:txBody>
          <a:bodyPr lIns="0" tIns="0" rIns="0" bIns="0"/>
          <a:lstStyle>
            <a:lvl1pPr marL="0" indent="0">
              <a:buNone/>
              <a:defRPr sz="40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4" name="Textplatzhalter 10">
            <a:extLst>
              <a:ext uri="{FF2B5EF4-FFF2-40B4-BE49-F238E27FC236}">
                <a16:creationId xmlns:a16="http://schemas.microsoft.com/office/drawing/2014/main" id="{630EBC4C-54AC-E412-B725-430135B87B3A}"/>
              </a:ext>
            </a:extLst>
          </p:cNvPr>
          <p:cNvSpPr>
            <a:spLocks noGrp="1"/>
          </p:cNvSpPr>
          <p:nvPr>
            <p:ph type="body" sz="quarter" idx="17"/>
          </p:nvPr>
        </p:nvSpPr>
        <p:spPr>
          <a:xfrm>
            <a:off x="359999" y="933516"/>
            <a:ext cx="9000000" cy="252000"/>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pic>
        <p:nvPicPr>
          <p:cNvPr id="2" name="Grafik 1" descr="Ein Bild, das Schrift, Grafiken, Typografie, Kalligrafie enthält.&#10;&#10;KI-generierte Inhalte können fehlerhaft sein.">
            <a:extLst>
              <a:ext uri="{FF2B5EF4-FFF2-40B4-BE49-F238E27FC236}">
                <a16:creationId xmlns:a16="http://schemas.microsoft.com/office/drawing/2014/main" id="{37470561-D3D0-F49C-C01A-02BB7B7EFE4C}"/>
              </a:ext>
            </a:extLst>
          </p:cNvPr>
          <p:cNvPicPr>
            <a:picLocks noChangeAspect="1"/>
          </p:cNvPicPr>
          <p:nvPr userDrawn="1"/>
        </p:nvPicPr>
        <p:blipFill>
          <a:blip r:embed="rId2"/>
          <a:stretch>
            <a:fillRect/>
          </a:stretch>
        </p:blipFill>
        <p:spPr>
          <a:xfrm>
            <a:off x="9422565" y="356559"/>
            <a:ext cx="1376035" cy="212006"/>
          </a:xfrm>
          <a:prstGeom prst="rect">
            <a:avLst/>
          </a:prstGeom>
        </p:spPr>
      </p:pic>
      <p:sp>
        <p:nvSpPr>
          <p:cNvPr id="8" name="Slide Number Placeholder 3">
            <a:extLst>
              <a:ext uri="{FF2B5EF4-FFF2-40B4-BE49-F238E27FC236}">
                <a16:creationId xmlns:a16="http://schemas.microsoft.com/office/drawing/2014/main" id="{F867B9C0-6A07-F59E-8C33-CF0BB36C5B83}"/>
              </a:ext>
            </a:extLst>
          </p:cNvPr>
          <p:cNvSpPr txBox="1">
            <a:spLocks/>
          </p:cNvSpPr>
          <p:nvPr userDrawn="1"/>
        </p:nvSpPr>
        <p:spPr>
          <a:xfrm>
            <a:off x="10438600" y="7199675"/>
            <a:ext cx="360000" cy="360000"/>
          </a:xfrm>
          <a:prstGeom prst="rect">
            <a:avLst/>
          </a:prstGeom>
          <a:solidFill>
            <a:srgbClr val="233567"/>
          </a:solidFill>
        </p:spPr>
        <p:txBody>
          <a:bodyPr lIns="0" tIns="0" rIns="0" bIns="0" anchor="ctr" anchorCtr="0"/>
          <a:lstStyle>
            <a:defPPr>
              <a:defRPr lang="en-US"/>
            </a:defPPr>
            <a:lvl1pPr marL="0" algn="l" defTabSz="457200" rtl="0" eaLnBrk="1" latinLnBrk="0" hangingPunct="1">
              <a:defRPr sz="900" kern="1200">
                <a:solidFill>
                  <a:schemeClr val="bg1"/>
                </a:solidFill>
                <a:latin typeface="Roboto Light" panose="02000000000000000000" pitchFamily="2" charset="0"/>
                <a:ea typeface="Roboto Light" panose="02000000000000000000" pitchFamily="2"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5677B82C-5688-48AA-97C2-6AAA7FDF91C0}" type="slidenum">
              <a:rPr lang="de-DE" smtClean="0"/>
              <a:pPr algn="ctr"/>
              <a:t>‹Nr.›</a:t>
            </a:fld>
            <a:endParaRPr lang="de-DE" dirty="0"/>
          </a:p>
        </p:txBody>
      </p:sp>
    </p:spTree>
    <p:extLst>
      <p:ext uri="{BB962C8B-B14F-4D97-AF65-F5344CB8AC3E}">
        <p14:creationId xmlns:p14="http://schemas.microsoft.com/office/powerpoint/2010/main" val="70284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 7">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952BA284-178F-323F-7CEB-A2E216CADD9A}"/>
              </a:ext>
            </a:extLst>
          </p:cNvPr>
          <p:cNvSpPr/>
          <p:nvPr userDrawn="1"/>
        </p:nvSpPr>
        <p:spPr>
          <a:xfrm>
            <a:off x="7200125" y="0"/>
            <a:ext cx="3960000" cy="7559675"/>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Bildplatzhalter 6">
            <a:extLst>
              <a:ext uri="{FF2B5EF4-FFF2-40B4-BE49-F238E27FC236}">
                <a16:creationId xmlns:a16="http://schemas.microsoft.com/office/drawing/2014/main" id="{AA14BE98-8B3D-5D18-9E11-87CA8CE1040B}"/>
              </a:ext>
            </a:extLst>
          </p:cNvPr>
          <p:cNvSpPr>
            <a:spLocks noGrp="1"/>
          </p:cNvSpPr>
          <p:nvPr>
            <p:ph type="pic" sz="quarter" idx="10"/>
          </p:nvPr>
        </p:nvSpPr>
        <p:spPr>
          <a:xfrm>
            <a:off x="359999" y="1728323"/>
            <a:ext cx="6368419" cy="4915668"/>
          </a:xfrm>
          <a:prstGeom prst="rect">
            <a:avLst/>
          </a:prstGeom>
        </p:spPr>
        <p:txBody>
          <a:bodyPr/>
          <a:lstStyle>
            <a:lvl1pPr marL="0" indent="0">
              <a:buNone/>
              <a:defRPr sz="900"/>
            </a:lvl1pPr>
          </a:lstStyle>
          <a:p>
            <a:endParaRPr lang="de-DE"/>
          </a:p>
        </p:txBody>
      </p:sp>
      <p:sp>
        <p:nvSpPr>
          <p:cNvPr id="8" name="Bildplatzhalter 6">
            <a:extLst>
              <a:ext uri="{FF2B5EF4-FFF2-40B4-BE49-F238E27FC236}">
                <a16:creationId xmlns:a16="http://schemas.microsoft.com/office/drawing/2014/main" id="{9ED71EB0-D53B-57FA-5D51-BE0BF9050C2C}"/>
              </a:ext>
            </a:extLst>
          </p:cNvPr>
          <p:cNvSpPr>
            <a:spLocks noGrp="1"/>
          </p:cNvSpPr>
          <p:nvPr>
            <p:ph type="pic" sz="quarter" idx="13"/>
          </p:nvPr>
        </p:nvSpPr>
        <p:spPr>
          <a:xfrm>
            <a:off x="6872417" y="1728323"/>
            <a:ext cx="3913149" cy="4915668"/>
          </a:xfrm>
          <a:prstGeom prst="rect">
            <a:avLst/>
          </a:prstGeom>
        </p:spPr>
        <p:txBody>
          <a:bodyPr/>
          <a:lstStyle>
            <a:lvl1pPr marL="0" indent="0">
              <a:buNone/>
              <a:defRPr sz="900"/>
            </a:lvl1pPr>
          </a:lstStyle>
          <a:p>
            <a:endParaRPr lang="de-DE"/>
          </a:p>
        </p:txBody>
      </p:sp>
      <p:sp>
        <p:nvSpPr>
          <p:cNvPr id="3" name="Textplatzhalter 4">
            <a:extLst>
              <a:ext uri="{FF2B5EF4-FFF2-40B4-BE49-F238E27FC236}">
                <a16:creationId xmlns:a16="http://schemas.microsoft.com/office/drawing/2014/main" id="{E11BCA86-ADCD-5503-4AE0-61A1C95C36E6}"/>
              </a:ext>
            </a:extLst>
          </p:cNvPr>
          <p:cNvSpPr>
            <a:spLocks noGrp="1"/>
          </p:cNvSpPr>
          <p:nvPr>
            <p:ph type="body" sz="quarter" idx="14" hasCustomPrompt="1"/>
          </p:nvPr>
        </p:nvSpPr>
        <p:spPr>
          <a:xfrm>
            <a:off x="360000" y="356560"/>
            <a:ext cx="9000000" cy="576956"/>
          </a:xfrm>
          <a:prstGeom prst="rect">
            <a:avLst/>
          </a:prstGeom>
        </p:spPr>
        <p:txBody>
          <a:bodyPr lIns="0" tIns="0" rIns="0" bIns="0"/>
          <a:lstStyle>
            <a:lvl1pPr marL="0" indent="0">
              <a:buNone/>
              <a:defRPr sz="40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4" name="Textplatzhalter 10">
            <a:extLst>
              <a:ext uri="{FF2B5EF4-FFF2-40B4-BE49-F238E27FC236}">
                <a16:creationId xmlns:a16="http://schemas.microsoft.com/office/drawing/2014/main" id="{CDE86599-1474-10C3-9552-E97F2FF3CFBE}"/>
              </a:ext>
            </a:extLst>
          </p:cNvPr>
          <p:cNvSpPr>
            <a:spLocks noGrp="1"/>
          </p:cNvSpPr>
          <p:nvPr>
            <p:ph type="body" sz="quarter" idx="15"/>
          </p:nvPr>
        </p:nvSpPr>
        <p:spPr>
          <a:xfrm>
            <a:off x="359999" y="933516"/>
            <a:ext cx="9000000" cy="252000"/>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pic>
        <p:nvPicPr>
          <p:cNvPr id="2" name="Grafik 1" descr="Ein Bild, das Schrift, Grafiken, Typografie, Kalligrafie enthält.&#10;&#10;KI-generierte Inhalte können fehlerhaft sein.">
            <a:extLst>
              <a:ext uri="{FF2B5EF4-FFF2-40B4-BE49-F238E27FC236}">
                <a16:creationId xmlns:a16="http://schemas.microsoft.com/office/drawing/2014/main" id="{6BD448DB-3A2B-C888-2162-F2E3C362F117}"/>
              </a:ext>
            </a:extLst>
          </p:cNvPr>
          <p:cNvPicPr>
            <a:picLocks noChangeAspect="1"/>
          </p:cNvPicPr>
          <p:nvPr userDrawn="1"/>
        </p:nvPicPr>
        <p:blipFill>
          <a:blip r:embed="rId2"/>
          <a:stretch>
            <a:fillRect/>
          </a:stretch>
        </p:blipFill>
        <p:spPr>
          <a:xfrm>
            <a:off x="9422565" y="356559"/>
            <a:ext cx="1376035" cy="212006"/>
          </a:xfrm>
          <a:prstGeom prst="rect">
            <a:avLst/>
          </a:prstGeom>
        </p:spPr>
      </p:pic>
      <p:sp>
        <p:nvSpPr>
          <p:cNvPr id="10" name="Slide Number Placeholder 3">
            <a:extLst>
              <a:ext uri="{FF2B5EF4-FFF2-40B4-BE49-F238E27FC236}">
                <a16:creationId xmlns:a16="http://schemas.microsoft.com/office/drawing/2014/main" id="{ED9D2357-F2E3-3DBA-A306-E4D354E4348D}"/>
              </a:ext>
            </a:extLst>
          </p:cNvPr>
          <p:cNvSpPr txBox="1">
            <a:spLocks/>
          </p:cNvSpPr>
          <p:nvPr userDrawn="1"/>
        </p:nvSpPr>
        <p:spPr>
          <a:xfrm>
            <a:off x="10438600" y="7199675"/>
            <a:ext cx="360000" cy="360000"/>
          </a:xfrm>
          <a:prstGeom prst="rect">
            <a:avLst/>
          </a:prstGeom>
          <a:solidFill>
            <a:srgbClr val="233567"/>
          </a:solidFill>
        </p:spPr>
        <p:txBody>
          <a:bodyPr lIns="0" tIns="0" rIns="0" bIns="0" anchor="ctr" anchorCtr="0"/>
          <a:lstStyle>
            <a:defPPr>
              <a:defRPr lang="en-US"/>
            </a:defPPr>
            <a:lvl1pPr marL="0" algn="l" defTabSz="457200" rtl="0" eaLnBrk="1" latinLnBrk="0" hangingPunct="1">
              <a:defRPr sz="900" kern="1200">
                <a:solidFill>
                  <a:schemeClr val="bg1"/>
                </a:solidFill>
                <a:latin typeface="Roboto Light" panose="02000000000000000000" pitchFamily="2" charset="0"/>
                <a:ea typeface="Roboto Light" panose="02000000000000000000" pitchFamily="2"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5677B82C-5688-48AA-97C2-6AAA7FDF91C0}" type="slidenum">
              <a:rPr lang="de-DE" smtClean="0"/>
              <a:pPr algn="ctr"/>
              <a:t>‹Nr.›</a:t>
            </a:fld>
            <a:endParaRPr lang="de-DE" dirty="0"/>
          </a:p>
        </p:txBody>
      </p:sp>
    </p:spTree>
    <p:extLst>
      <p:ext uri="{BB962C8B-B14F-4D97-AF65-F5344CB8AC3E}">
        <p14:creationId xmlns:p14="http://schemas.microsoft.com/office/powerpoint/2010/main" val="1901764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 8">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4E0B1D63-4562-BEB5-428E-F73E0351E296}"/>
              </a:ext>
            </a:extLst>
          </p:cNvPr>
          <p:cNvSpPr/>
          <p:nvPr userDrawn="1"/>
        </p:nvSpPr>
        <p:spPr>
          <a:xfrm>
            <a:off x="7200125" y="0"/>
            <a:ext cx="3960000" cy="7559675"/>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Bildplatzhalter 6">
            <a:extLst>
              <a:ext uri="{FF2B5EF4-FFF2-40B4-BE49-F238E27FC236}">
                <a16:creationId xmlns:a16="http://schemas.microsoft.com/office/drawing/2014/main" id="{AA14BE98-8B3D-5D18-9E11-87CA8CE1040B}"/>
              </a:ext>
            </a:extLst>
          </p:cNvPr>
          <p:cNvSpPr>
            <a:spLocks noGrp="1"/>
          </p:cNvSpPr>
          <p:nvPr>
            <p:ph type="pic" sz="quarter" idx="10"/>
          </p:nvPr>
        </p:nvSpPr>
        <p:spPr>
          <a:xfrm>
            <a:off x="359999" y="1728323"/>
            <a:ext cx="10425567" cy="4915668"/>
          </a:xfrm>
          <a:prstGeom prst="rect">
            <a:avLst/>
          </a:prstGeom>
        </p:spPr>
        <p:txBody>
          <a:bodyPr/>
          <a:lstStyle>
            <a:lvl1pPr marL="0" indent="0">
              <a:buNone/>
              <a:defRPr sz="900"/>
            </a:lvl1pPr>
          </a:lstStyle>
          <a:p>
            <a:endParaRPr lang="de-DE"/>
          </a:p>
        </p:txBody>
      </p:sp>
      <p:sp>
        <p:nvSpPr>
          <p:cNvPr id="3" name="Textplatzhalter 4">
            <a:extLst>
              <a:ext uri="{FF2B5EF4-FFF2-40B4-BE49-F238E27FC236}">
                <a16:creationId xmlns:a16="http://schemas.microsoft.com/office/drawing/2014/main" id="{1462AAC1-FF53-749D-EC40-1B675A515651}"/>
              </a:ext>
            </a:extLst>
          </p:cNvPr>
          <p:cNvSpPr>
            <a:spLocks noGrp="1"/>
          </p:cNvSpPr>
          <p:nvPr>
            <p:ph type="body" sz="quarter" idx="13" hasCustomPrompt="1"/>
          </p:nvPr>
        </p:nvSpPr>
        <p:spPr>
          <a:xfrm>
            <a:off x="360000" y="356560"/>
            <a:ext cx="9000000" cy="576956"/>
          </a:xfrm>
          <a:prstGeom prst="rect">
            <a:avLst/>
          </a:prstGeom>
        </p:spPr>
        <p:txBody>
          <a:bodyPr lIns="0" tIns="0" rIns="0" bIns="0"/>
          <a:lstStyle>
            <a:lvl1pPr marL="0" indent="0">
              <a:buNone/>
              <a:defRPr sz="40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4" name="Textplatzhalter 10">
            <a:extLst>
              <a:ext uri="{FF2B5EF4-FFF2-40B4-BE49-F238E27FC236}">
                <a16:creationId xmlns:a16="http://schemas.microsoft.com/office/drawing/2014/main" id="{B9B0D124-CA40-BBAF-B63B-6F8CCBEA186D}"/>
              </a:ext>
            </a:extLst>
          </p:cNvPr>
          <p:cNvSpPr>
            <a:spLocks noGrp="1"/>
          </p:cNvSpPr>
          <p:nvPr>
            <p:ph type="body" sz="quarter" idx="14"/>
          </p:nvPr>
        </p:nvSpPr>
        <p:spPr>
          <a:xfrm>
            <a:off x="359999" y="933516"/>
            <a:ext cx="9000000" cy="252000"/>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pic>
        <p:nvPicPr>
          <p:cNvPr id="2" name="Grafik 1" descr="Ein Bild, das Schrift, Grafiken, Typografie, Kalligrafie enthält.&#10;&#10;KI-generierte Inhalte können fehlerhaft sein.">
            <a:extLst>
              <a:ext uri="{FF2B5EF4-FFF2-40B4-BE49-F238E27FC236}">
                <a16:creationId xmlns:a16="http://schemas.microsoft.com/office/drawing/2014/main" id="{F0030823-D603-45D8-22F5-D291FCF227EA}"/>
              </a:ext>
            </a:extLst>
          </p:cNvPr>
          <p:cNvPicPr>
            <a:picLocks noChangeAspect="1"/>
          </p:cNvPicPr>
          <p:nvPr userDrawn="1"/>
        </p:nvPicPr>
        <p:blipFill>
          <a:blip r:embed="rId2"/>
          <a:stretch>
            <a:fillRect/>
          </a:stretch>
        </p:blipFill>
        <p:spPr>
          <a:xfrm>
            <a:off x="9422565" y="356559"/>
            <a:ext cx="1376035" cy="212006"/>
          </a:xfrm>
          <a:prstGeom prst="rect">
            <a:avLst/>
          </a:prstGeom>
        </p:spPr>
      </p:pic>
      <p:sp>
        <p:nvSpPr>
          <p:cNvPr id="9" name="Slide Number Placeholder 3">
            <a:extLst>
              <a:ext uri="{FF2B5EF4-FFF2-40B4-BE49-F238E27FC236}">
                <a16:creationId xmlns:a16="http://schemas.microsoft.com/office/drawing/2014/main" id="{4A8DC856-77C2-9B13-B08E-1DA1EEA5B97A}"/>
              </a:ext>
            </a:extLst>
          </p:cNvPr>
          <p:cNvSpPr txBox="1">
            <a:spLocks/>
          </p:cNvSpPr>
          <p:nvPr userDrawn="1"/>
        </p:nvSpPr>
        <p:spPr>
          <a:xfrm>
            <a:off x="10438600" y="7199675"/>
            <a:ext cx="360000" cy="360000"/>
          </a:xfrm>
          <a:prstGeom prst="rect">
            <a:avLst/>
          </a:prstGeom>
          <a:solidFill>
            <a:srgbClr val="233567"/>
          </a:solidFill>
        </p:spPr>
        <p:txBody>
          <a:bodyPr lIns="0" tIns="0" rIns="0" bIns="0" anchor="ctr" anchorCtr="0"/>
          <a:lstStyle>
            <a:defPPr>
              <a:defRPr lang="en-US"/>
            </a:defPPr>
            <a:lvl1pPr marL="0" algn="l" defTabSz="457200" rtl="0" eaLnBrk="1" latinLnBrk="0" hangingPunct="1">
              <a:defRPr sz="900" kern="1200">
                <a:solidFill>
                  <a:schemeClr val="bg1"/>
                </a:solidFill>
                <a:latin typeface="Roboto Light" panose="02000000000000000000" pitchFamily="2" charset="0"/>
                <a:ea typeface="Roboto Light" panose="02000000000000000000" pitchFamily="2"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5677B82C-5688-48AA-97C2-6AAA7FDF91C0}" type="slidenum">
              <a:rPr lang="de-DE" smtClean="0"/>
              <a:pPr algn="ctr"/>
              <a:t>‹Nr.›</a:t>
            </a:fld>
            <a:endParaRPr lang="de-DE" dirty="0"/>
          </a:p>
        </p:txBody>
      </p:sp>
    </p:spTree>
    <p:extLst>
      <p:ext uri="{BB962C8B-B14F-4D97-AF65-F5344CB8AC3E}">
        <p14:creationId xmlns:p14="http://schemas.microsoft.com/office/powerpoint/2010/main" val="3824017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 9">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40132C01-6EB8-C306-5D40-F64D4612444B}"/>
              </a:ext>
            </a:extLst>
          </p:cNvPr>
          <p:cNvSpPr/>
          <p:nvPr userDrawn="1"/>
        </p:nvSpPr>
        <p:spPr>
          <a:xfrm>
            <a:off x="7200125" y="0"/>
            <a:ext cx="3960000" cy="7559675"/>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Bildplatzhalter 6"/>
          <p:cNvSpPr>
            <a:spLocks noGrp="1"/>
          </p:cNvSpPr>
          <p:nvPr>
            <p:ph type="pic" sz="quarter" idx="10"/>
          </p:nvPr>
        </p:nvSpPr>
        <p:spPr>
          <a:xfrm>
            <a:off x="5617900" y="1509871"/>
            <a:ext cx="5182225" cy="5689804"/>
          </a:xfrm>
          <a:prstGeom prst="rect">
            <a:avLst/>
          </a:prstGeom>
        </p:spPr>
        <p:txBody>
          <a:bodyPr/>
          <a:lstStyle>
            <a:lvl1pPr marL="0" indent="0">
              <a:buNone/>
              <a:defRPr sz="900"/>
            </a:lvl1pPr>
          </a:lstStyle>
          <a:p>
            <a:endParaRPr lang="de-DE"/>
          </a:p>
        </p:txBody>
      </p:sp>
      <p:sp>
        <p:nvSpPr>
          <p:cNvPr id="3" name="Textplatzhalter 4">
            <a:extLst>
              <a:ext uri="{FF2B5EF4-FFF2-40B4-BE49-F238E27FC236}">
                <a16:creationId xmlns:a16="http://schemas.microsoft.com/office/drawing/2014/main" id="{B5D9EDD2-F03E-F649-A87E-2CAD2FFF16BB}"/>
              </a:ext>
            </a:extLst>
          </p:cNvPr>
          <p:cNvSpPr>
            <a:spLocks noGrp="1"/>
          </p:cNvSpPr>
          <p:nvPr>
            <p:ph type="body" sz="quarter" idx="13" hasCustomPrompt="1"/>
          </p:nvPr>
        </p:nvSpPr>
        <p:spPr>
          <a:xfrm>
            <a:off x="360000" y="356560"/>
            <a:ext cx="9000000" cy="576956"/>
          </a:xfrm>
          <a:prstGeom prst="rect">
            <a:avLst/>
          </a:prstGeom>
        </p:spPr>
        <p:txBody>
          <a:bodyPr lIns="0" tIns="0" rIns="0" bIns="0"/>
          <a:lstStyle>
            <a:lvl1pPr marL="0" indent="0">
              <a:buNone/>
              <a:defRPr sz="40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4" name="Textplatzhalter 10">
            <a:extLst>
              <a:ext uri="{FF2B5EF4-FFF2-40B4-BE49-F238E27FC236}">
                <a16:creationId xmlns:a16="http://schemas.microsoft.com/office/drawing/2014/main" id="{7CC80BF0-4F3D-016F-26A5-7F53D6DDBD70}"/>
              </a:ext>
            </a:extLst>
          </p:cNvPr>
          <p:cNvSpPr>
            <a:spLocks noGrp="1"/>
          </p:cNvSpPr>
          <p:nvPr>
            <p:ph type="body" sz="quarter" idx="14"/>
          </p:nvPr>
        </p:nvSpPr>
        <p:spPr>
          <a:xfrm>
            <a:off x="359999" y="933516"/>
            <a:ext cx="9000000" cy="252000"/>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pic>
        <p:nvPicPr>
          <p:cNvPr id="2" name="Grafik 1" descr="Ein Bild, das Schrift, Grafiken, Typografie, Kalligrafie enthält.&#10;&#10;KI-generierte Inhalte können fehlerhaft sein.">
            <a:extLst>
              <a:ext uri="{FF2B5EF4-FFF2-40B4-BE49-F238E27FC236}">
                <a16:creationId xmlns:a16="http://schemas.microsoft.com/office/drawing/2014/main" id="{BD32D2F0-DD0B-471F-9692-0C58382CB148}"/>
              </a:ext>
            </a:extLst>
          </p:cNvPr>
          <p:cNvPicPr>
            <a:picLocks noChangeAspect="1"/>
          </p:cNvPicPr>
          <p:nvPr userDrawn="1"/>
        </p:nvPicPr>
        <p:blipFill>
          <a:blip r:embed="rId2"/>
          <a:stretch>
            <a:fillRect/>
          </a:stretch>
        </p:blipFill>
        <p:spPr>
          <a:xfrm>
            <a:off x="9422565" y="356559"/>
            <a:ext cx="1376035" cy="212006"/>
          </a:xfrm>
          <a:prstGeom prst="rect">
            <a:avLst/>
          </a:prstGeom>
        </p:spPr>
      </p:pic>
      <p:sp>
        <p:nvSpPr>
          <p:cNvPr id="9" name="Slide Number Placeholder 3">
            <a:extLst>
              <a:ext uri="{FF2B5EF4-FFF2-40B4-BE49-F238E27FC236}">
                <a16:creationId xmlns:a16="http://schemas.microsoft.com/office/drawing/2014/main" id="{70CEE766-848B-6AA0-4922-8ECBD0F9CCC1}"/>
              </a:ext>
            </a:extLst>
          </p:cNvPr>
          <p:cNvSpPr txBox="1">
            <a:spLocks/>
          </p:cNvSpPr>
          <p:nvPr userDrawn="1"/>
        </p:nvSpPr>
        <p:spPr>
          <a:xfrm>
            <a:off x="10438600" y="7199675"/>
            <a:ext cx="360000" cy="360000"/>
          </a:xfrm>
          <a:prstGeom prst="rect">
            <a:avLst/>
          </a:prstGeom>
          <a:solidFill>
            <a:srgbClr val="233567"/>
          </a:solidFill>
        </p:spPr>
        <p:txBody>
          <a:bodyPr lIns="0" tIns="0" rIns="0" bIns="0" anchor="ctr" anchorCtr="0"/>
          <a:lstStyle>
            <a:defPPr>
              <a:defRPr lang="en-US"/>
            </a:defPPr>
            <a:lvl1pPr marL="0" algn="l" defTabSz="457200" rtl="0" eaLnBrk="1" latinLnBrk="0" hangingPunct="1">
              <a:defRPr sz="900" kern="1200">
                <a:solidFill>
                  <a:schemeClr val="bg1"/>
                </a:solidFill>
                <a:latin typeface="Roboto Light" panose="02000000000000000000" pitchFamily="2" charset="0"/>
                <a:ea typeface="Roboto Light" panose="02000000000000000000" pitchFamily="2"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5677B82C-5688-48AA-97C2-6AAA7FDF91C0}" type="slidenum">
              <a:rPr lang="de-DE" smtClean="0"/>
              <a:pPr algn="ctr"/>
              <a:t>‹Nr.›</a:t>
            </a:fld>
            <a:endParaRPr lang="de-DE" dirty="0"/>
          </a:p>
        </p:txBody>
      </p:sp>
    </p:spTree>
    <p:extLst>
      <p:ext uri="{BB962C8B-B14F-4D97-AF65-F5344CB8AC3E}">
        <p14:creationId xmlns:p14="http://schemas.microsoft.com/office/powerpoint/2010/main" val="1077740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10">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3334CE86-A1D3-1AF0-CA47-68C18D01E5FD}"/>
              </a:ext>
            </a:extLst>
          </p:cNvPr>
          <p:cNvSpPr/>
          <p:nvPr userDrawn="1"/>
        </p:nvSpPr>
        <p:spPr>
          <a:xfrm>
            <a:off x="2160126" y="2501673"/>
            <a:ext cx="8999999" cy="5058002"/>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Bildplatzhalter 6"/>
          <p:cNvSpPr>
            <a:spLocks noGrp="1"/>
          </p:cNvSpPr>
          <p:nvPr>
            <p:ph type="pic" sz="quarter" idx="10"/>
          </p:nvPr>
        </p:nvSpPr>
        <p:spPr>
          <a:xfrm>
            <a:off x="359999" y="1696639"/>
            <a:ext cx="3348000" cy="4824000"/>
          </a:xfrm>
          <a:prstGeom prst="rect">
            <a:avLst/>
          </a:prstGeom>
        </p:spPr>
        <p:txBody>
          <a:bodyPr/>
          <a:lstStyle>
            <a:lvl1pPr marL="0" indent="0">
              <a:buNone/>
              <a:defRPr sz="900"/>
            </a:lvl1pPr>
          </a:lstStyle>
          <a:p>
            <a:endParaRPr lang="de-DE"/>
          </a:p>
        </p:txBody>
      </p:sp>
      <p:sp>
        <p:nvSpPr>
          <p:cNvPr id="3" name="Textplatzhalter 4">
            <a:extLst>
              <a:ext uri="{FF2B5EF4-FFF2-40B4-BE49-F238E27FC236}">
                <a16:creationId xmlns:a16="http://schemas.microsoft.com/office/drawing/2014/main" id="{929AFF33-378D-C564-177D-696E9D9397D2}"/>
              </a:ext>
            </a:extLst>
          </p:cNvPr>
          <p:cNvSpPr>
            <a:spLocks noGrp="1"/>
          </p:cNvSpPr>
          <p:nvPr>
            <p:ph type="body" sz="quarter" idx="13" hasCustomPrompt="1"/>
          </p:nvPr>
        </p:nvSpPr>
        <p:spPr>
          <a:xfrm>
            <a:off x="360000" y="356560"/>
            <a:ext cx="9000000" cy="576956"/>
          </a:xfrm>
          <a:prstGeom prst="rect">
            <a:avLst/>
          </a:prstGeom>
        </p:spPr>
        <p:txBody>
          <a:bodyPr lIns="0" tIns="0" rIns="0" bIns="0"/>
          <a:lstStyle>
            <a:lvl1pPr marL="0" indent="0">
              <a:buNone/>
              <a:defRPr sz="4000">
                <a:solidFill>
                  <a:srgbClr val="233567"/>
                </a:solidFill>
                <a:latin typeface="Roboto Medium" panose="02000000000000000000" pitchFamily="2" charset="0"/>
                <a:ea typeface="Roboto Medium" panose="02000000000000000000" pitchFamily="2" charset="0"/>
              </a:defRPr>
            </a:lvl1pPr>
          </a:lstStyle>
          <a:p>
            <a:pPr lvl="0"/>
            <a:r>
              <a:rPr lang="de-DE" dirty="0"/>
              <a:t>OBJEKTINFORMATIONEN</a:t>
            </a:r>
          </a:p>
        </p:txBody>
      </p:sp>
      <p:sp>
        <p:nvSpPr>
          <p:cNvPr id="4" name="Textplatzhalter 10">
            <a:extLst>
              <a:ext uri="{FF2B5EF4-FFF2-40B4-BE49-F238E27FC236}">
                <a16:creationId xmlns:a16="http://schemas.microsoft.com/office/drawing/2014/main" id="{22E7E454-06ED-7C94-D5D9-4C99BAF1DABB}"/>
              </a:ext>
            </a:extLst>
          </p:cNvPr>
          <p:cNvSpPr>
            <a:spLocks noGrp="1"/>
          </p:cNvSpPr>
          <p:nvPr>
            <p:ph type="body" sz="quarter" idx="14"/>
          </p:nvPr>
        </p:nvSpPr>
        <p:spPr>
          <a:xfrm>
            <a:off x="359999" y="933516"/>
            <a:ext cx="9000000" cy="252000"/>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pic>
        <p:nvPicPr>
          <p:cNvPr id="2" name="Grafik 1" descr="Ein Bild, das Schrift, Grafiken, Typografie, Kalligrafie enthält.&#10;&#10;KI-generierte Inhalte können fehlerhaft sein.">
            <a:extLst>
              <a:ext uri="{FF2B5EF4-FFF2-40B4-BE49-F238E27FC236}">
                <a16:creationId xmlns:a16="http://schemas.microsoft.com/office/drawing/2014/main" id="{8339CE54-34C7-7868-4A08-DD194EF42C02}"/>
              </a:ext>
            </a:extLst>
          </p:cNvPr>
          <p:cNvPicPr>
            <a:picLocks noChangeAspect="1"/>
          </p:cNvPicPr>
          <p:nvPr userDrawn="1"/>
        </p:nvPicPr>
        <p:blipFill>
          <a:blip r:embed="rId2"/>
          <a:stretch>
            <a:fillRect/>
          </a:stretch>
        </p:blipFill>
        <p:spPr>
          <a:xfrm>
            <a:off x="9422565" y="356559"/>
            <a:ext cx="1376035" cy="212006"/>
          </a:xfrm>
          <a:prstGeom prst="rect">
            <a:avLst/>
          </a:prstGeom>
        </p:spPr>
      </p:pic>
      <p:sp>
        <p:nvSpPr>
          <p:cNvPr id="9" name="Slide Number Placeholder 3">
            <a:extLst>
              <a:ext uri="{FF2B5EF4-FFF2-40B4-BE49-F238E27FC236}">
                <a16:creationId xmlns:a16="http://schemas.microsoft.com/office/drawing/2014/main" id="{7D11787C-F9F3-739E-871D-EDCAA72D7830}"/>
              </a:ext>
            </a:extLst>
          </p:cNvPr>
          <p:cNvSpPr txBox="1">
            <a:spLocks/>
          </p:cNvSpPr>
          <p:nvPr userDrawn="1"/>
        </p:nvSpPr>
        <p:spPr>
          <a:xfrm>
            <a:off x="10438600" y="7199675"/>
            <a:ext cx="360000" cy="360000"/>
          </a:xfrm>
          <a:prstGeom prst="rect">
            <a:avLst/>
          </a:prstGeom>
          <a:solidFill>
            <a:srgbClr val="233567"/>
          </a:solidFill>
        </p:spPr>
        <p:txBody>
          <a:bodyPr lIns="0" tIns="0" rIns="0" bIns="0" anchor="ctr" anchorCtr="0"/>
          <a:lstStyle>
            <a:defPPr>
              <a:defRPr lang="en-US"/>
            </a:defPPr>
            <a:lvl1pPr marL="0" algn="l" defTabSz="457200" rtl="0" eaLnBrk="1" latinLnBrk="0" hangingPunct="1">
              <a:defRPr sz="900" kern="1200">
                <a:solidFill>
                  <a:schemeClr val="bg1"/>
                </a:solidFill>
                <a:latin typeface="Roboto Light" panose="02000000000000000000" pitchFamily="2" charset="0"/>
                <a:ea typeface="Roboto Light" panose="02000000000000000000" pitchFamily="2"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5677B82C-5688-48AA-97C2-6AAA7FDF91C0}" type="slidenum">
              <a:rPr lang="de-DE" smtClean="0"/>
              <a:pPr algn="ctr"/>
              <a:t>‹Nr.›</a:t>
            </a:fld>
            <a:endParaRPr lang="de-DE" dirty="0"/>
          </a:p>
        </p:txBody>
      </p:sp>
      <p:sp>
        <p:nvSpPr>
          <p:cNvPr id="14" name="Bildplatzhalter 13">
            <a:extLst>
              <a:ext uri="{FF2B5EF4-FFF2-40B4-BE49-F238E27FC236}">
                <a16:creationId xmlns:a16="http://schemas.microsoft.com/office/drawing/2014/main" id="{AD8B6E85-AF4A-503D-7264-DDAC73CBB5CE}"/>
              </a:ext>
            </a:extLst>
          </p:cNvPr>
          <p:cNvSpPr>
            <a:spLocks noGrp="1"/>
          </p:cNvSpPr>
          <p:nvPr>
            <p:ph type="pic" sz="quarter" idx="15"/>
          </p:nvPr>
        </p:nvSpPr>
        <p:spPr>
          <a:xfrm>
            <a:off x="3870761" y="1696639"/>
            <a:ext cx="3348000" cy="4824000"/>
          </a:xfrm>
          <a:prstGeom prst="rect">
            <a:avLst/>
          </a:prstGeom>
        </p:spPr>
        <p:txBody>
          <a:bodyPr/>
          <a:lstStyle/>
          <a:p>
            <a:endParaRPr lang="de-DE"/>
          </a:p>
        </p:txBody>
      </p:sp>
      <p:sp>
        <p:nvSpPr>
          <p:cNvPr id="16" name="Bildplatzhalter 15">
            <a:extLst>
              <a:ext uri="{FF2B5EF4-FFF2-40B4-BE49-F238E27FC236}">
                <a16:creationId xmlns:a16="http://schemas.microsoft.com/office/drawing/2014/main" id="{C84C9FF4-09F4-F3B4-627D-C5A6C536FAF3}"/>
              </a:ext>
            </a:extLst>
          </p:cNvPr>
          <p:cNvSpPr>
            <a:spLocks noGrp="1"/>
          </p:cNvSpPr>
          <p:nvPr>
            <p:ph type="pic" sz="quarter" idx="16"/>
          </p:nvPr>
        </p:nvSpPr>
        <p:spPr>
          <a:xfrm>
            <a:off x="7381524" y="1696639"/>
            <a:ext cx="3348000" cy="4824000"/>
          </a:xfrm>
          <a:prstGeom prst="rect">
            <a:avLst/>
          </a:prstGeom>
        </p:spPr>
        <p:txBody>
          <a:bodyPr/>
          <a:lstStyle/>
          <a:p>
            <a:endParaRPr lang="de-DE"/>
          </a:p>
        </p:txBody>
      </p:sp>
    </p:spTree>
    <p:extLst>
      <p:ext uri="{BB962C8B-B14F-4D97-AF65-F5344CB8AC3E}">
        <p14:creationId xmlns:p14="http://schemas.microsoft.com/office/powerpoint/2010/main" val="1308334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ikro-Makrolage">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4B0BF4AD-E652-6BBE-F524-24F5527A666C}"/>
              </a:ext>
            </a:extLst>
          </p:cNvPr>
          <p:cNvSpPr/>
          <p:nvPr userDrawn="1"/>
        </p:nvSpPr>
        <p:spPr>
          <a:xfrm>
            <a:off x="7200125" y="0"/>
            <a:ext cx="3960000" cy="7559675"/>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Bildplatzhalter 6">
            <a:extLst>
              <a:ext uri="{FF2B5EF4-FFF2-40B4-BE49-F238E27FC236}">
                <a16:creationId xmlns:a16="http://schemas.microsoft.com/office/drawing/2014/main" id="{9AFBC9A5-5A4C-F556-9077-5B8505D8A9D7}"/>
              </a:ext>
            </a:extLst>
          </p:cNvPr>
          <p:cNvSpPr>
            <a:spLocks noGrp="1"/>
          </p:cNvSpPr>
          <p:nvPr>
            <p:ph type="pic" sz="quarter" idx="13"/>
          </p:nvPr>
        </p:nvSpPr>
        <p:spPr>
          <a:xfrm>
            <a:off x="5658490" y="1509869"/>
            <a:ext cx="5127075" cy="5344289"/>
          </a:xfrm>
          <a:prstGeom prst="rect">
            <a:avLst/>
          </a:prstGeom>
        </p:spPr>
        <p:txBody>
          <a:bodyPr/>
          <a:lstStyle>
            <a:lvl1pPr marL="0" indent="0">
              <a:buNone/>
              <a:defRPr sz="900"/>
            </a:lvl1pPr>
          </a:lstStyle>
          <a:p>
            <a:endParaRPr lang="de-DE"/>
          </a:p>
        </p:txBody>
      </p:sp>
      <p:sp>
        <p:nvSpPr>
          <p:cNvPr id="7" name="Bildplatzhalter 6"/>
          <p:cNvSpPr>
            <a:spLocks noGrp="1"/>
          </p:cNvSpPr>
          <p:nvPr>
            <p:ph type="pic" sz="quarter" idx="10"/>
          </p:nvPr>
        </p:nvSpPr>
        <p:spPr>
          <a:xfrm>
            <a:off x="359999" y="1509870"/>
            <a:ext cx="5154492" cy="3307080"/>
          </a:xfrm>
          <a:prstGeom prst="rect">
            <a:avLst/>
          </a:prstGeom>
        </p:spPr>
        <p:txBody>
          <a:bodyPr/>
          <a:lstStyle>
            <a:lvl1pPr marL="0" indent="0">
              <a:buNone/>
              <a:defRPr sz="900"/>
            </a:lvl1pPr>
          </a:lstStyle>
          <a:p>
            <a:endParaRPr lang="de-DE"/>
          </a:p>
        </p:txBody>
      </p:sp>
      <p:sp>
        <p:nvSpPr>
          <p:cNvPr id="3" name="Textplatzhalter 4">
            <a:extLst>
              <a:ext uri="{FF2B5EF4-FFF2-40B4-BE49-F238E27FC236}">
                <a16:creationId xmlns:a16="http://schemas.microsoft.com/office/drawing/2014/main" id="{1EE81CD8-FC05-1735-41FE-7B2596FFAC91}"/>
              </a:ext>
            </a:extLst>
          </p:cNvPr>
          <p:cNvSpPr>
            <a:spLocks noGrp="1"/>
          </p:cNvSpPr>
          <p:nvPr>
            <p:ph type="body" sz="quarter" idx="14" hasCustomPrompt="1"/>
          </p:nvPr>
        </p:nvSpPr>
        <p:spPr>
          <a:xfrm>
            <a:off x="360000" y="356560"/>
            <a:ext cx="9000000" cy="576956"/>
          </a:xfrm>
          <a:prstGeom prst="rect">
            <a:avLst/>
          </a:prstGeom>
        </p:spPr>
        <p:txBody>
          <a:bodyPr lIns="0" tIns="0" rIns="0" bIns="0"/>
          <a:lstStyle>
            <a:lvl1pPr marL="0" indent="0">
              <a:buNone/>
              <a:defRPr sz="40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4" name="Textplatzhalter 10">
            <a:extLst>
              <a:ext uri="{FF2B5EF4-FFF2-40B4-BE49-F238E27FC236}">
                <a16:creationId xmlns:a16="http://schemas.microsoft.com/office/drawing/2014/main" id="{A4C351F4-2170-E925-7CC0-B73C3F697415}"/>
              </a:ext>
            </a:extLst>
          </p:cNvPr>
          <p:cNvSpPr>
            <a:spLocks noGrp="1"/>
          </p:cNvSpPr>
          <p:nvPr>
            <p:ph type="body" sz="quarter" idx="15"/>
          </p:nvPr>
        </p:nvSpPr>
        <p:spPr>
          <a:xfrm>
            <a:off x="359999" y="933516"/>
            <a:ext cx="9000000" cy="252000"/>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pic>
        <p:nvPicPr>
          <p:cNvPr id="2" name="Grafik 1" descr="Ein Bild, das Schrift, Grafiken, Typografie, Kalligrafie enthält.&#10;&#10;KI-generierte Inhalte können fehlerhaft sein.">
            <a:extLst>
              <a:ext uri="{FF2B5EF4-FFF2-40B4-BE49-F238E27FC236}">
                <a16:creationId xmlns:a16="http://schemas.microsoft.com/office/drawing/2014/main" id="{30AFD7E7-3154-8ED4-E42F-123EE669450B}"/>
              </a:ext>
            </a:extLst>
          </p:cNvPr>
          <p:cNvPicPr>
            <a:picLocks noChangeAspect="1"/>
          </p:cNvPicPr>
          <p:nvPr userDrawn="1"/>
        </p:nvPicPr>
        <p:blipFill>
          <a:blip r:embed="rId2"/>
          <a:stretch>
            <a:fillRect/>
          </a:stretch>
        </p:blipFill>
        <p:spPr>
          <a:xfrm>
            <a:off x="9422565" y="356559"/>
            <a:ext cx="1376035" cy="212006"/>
          </a:xfrm>
          <a:prstGeom prst="rect">
            <a:avLst/>
          </a:prstGeom>
        </p:spPr>
      </p:pic>
      <p:sp>
        <p:nvSpPr>
          <p:cNvPr id="10" name="Slide Number Placeholder 3">
            <a:extLst>
              <a:ext uri="{FF2B5EF4-FFF2-40B4-BE49-F238E27FC236}">
                <a16:creationId xmlns:a16="http://schemas.microsoft.com/office/drawing/2014/main" id="{4BA48CC2-8807-0670-8F34-69DAD7AC181D}"/>
              </a:ext>
            </a:extLst>
          </p:cNvPr>
          <p:cNvSpPr txBox="1">
            <a:spLocks/>
          </p:cNvSpPr>
          <p:nvPr userDrawn="1"/>
        </p:nvSpPr>
        <p:spPr>
          <a:xfrm>
            <a:off x="10438600" y="7199675"/>
            <a:ext cx="360000" cy="360000"/>
          </a:xfrm>
          <a:prstGeom prst="rect">
            <a:avLst/>
          </a:prstGeom>
          <a:solidFill>
            <a:srgbClr val="233567"/>
          </a:solidFill>
        </p:spPr>
        <p:txBody>
          <a:bodyPr lIns="0" tIns="0" rIns="0" bIns="0" anchor="ctr" anchorCtr="0"/>
          <a:lstStyle>
            <a:defPPr>
              <a:defRPr lang="en-US"/>
            </a:defPPr>
            <a:lvl1pPr marL="0" algn="l" defTabSz="457200" rtl="0" eaLnBrk="1" latinLnBrk="0" hangingPunct="1">
              <a:defRPr sz="900" kern="1200">
                <a:solidFill>
                  <a:schemeClr val="bg1"/>
                </a:solidFill>
                <a:latin typeface="Roboto Light" panose="02000000000000000000" pitchFamily="2" charset="0"/>
                <a:ea typeface="Roboto Light" panose="02000000000000000000" pitchFamily="2"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5677B82C-5688-48AA-97C2-6AAA7FDF91C0}" type="slidenum">
              <a:rPr lang="de-DE" smtClean="0"/>
              <a:pPr algn="ctr"/>
              <a:t>‹Nr.›</a:t>
            </a:fld>
            <a:endParaRPr lang="de-DE" dirty="0"/>
          </a:p>
        </p:txBody>
      </p:sp>
    </p:spTree>
    <p:extLst>
      <p:ext uri="{BB962C8B-B14F-4D97-AF65-F5344CB8AC3E}">
        <p14:creationId xmlns:p14="http://schemas.microsoft.com/office/powerpoint/2010/main" val="676422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Wohnmarktanalyse">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68BEF8FA-97AD-0797-A433-990E3F0CD85D}"/>
              </a:ext>
            </a:extLst>
          </p:cNvPr>
          <p:cNvSpPr/>
          <p:nvPr userDrawn="1"/>
        </p:nvSpPr>
        <p:spPr>
          <a:xfrm>
            <a:off x="2160126" y="2501673"/>
            <a:ext cx="8999999" cy="5058002"/>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Bildplatzhalter 6"/>
          <p:cNvSpPr>
            <a:spLocks noGrp="1"/>
          </p:cNvSpPr>
          <p:nvPr>
            <p:ph type="pic" sz="quarter" idx="10"/>
          </p:nvPr>
        </p:nvSpPr>
        <p:spPr>
          <a:xfrm>
            <a:off x="359998" y="2127380"/>
            <a:ext cx="3384000" cy="612000"/>
          </a:xfrm>
          <a:prstGeom prst="rect">
            <a:avLst/>
          </a:prstGeom>
        </p:spPr>
        <p:txBody>
          <a:bodyPr/>
          <a:lstStyle>
            <a:lvl1pPr marL="0" indent="0">
              <a:buNone/>
              <a:defRPr sz="900"/>
            </a:lvl1pPr>
          </a:lstStyle>
          <a:p>
            <a:endParaRPr lang="de-DE"/>
          </a:p>
        </p:txBody>
      </p:sp>
      <p:sp>
        <p:nvSpPr>
          <p:cNvPr id="8" name="Bildplatzhalter 6">
            <a:extLst>
              <a:ext uri="{FF2B5EF4-FFF2-40B4-BE49-F238E27FC236}">
                <a16:creationId xmlns:a16="http://schemas.microsoft.com/office/drawing/2014/main" id="{19CE4A6B-427C-BCA6-61EA-B11F7055A6A7}"/>
              </a:ext>
            </a:extLst>
          </p:cNvPr>
          <p:cNvSpPr>
            <a:spLocks noGrp="1"/>
          </p:cNvSpPr>
          <p:nvPr>
            <p:ph type="pic" sz="quarter" idx="13"/>
          </p:nvPr>
        </p:nvSpPr>
        <p:spPr>
          <a:xfrm>
            <a:off x="7469203" y="2127380"/>
            <a:ext cx="3384000" cy="612000"/>
          </a:xfrm>
          <a:prstGeom prst="rect">
            <a:avLst/>
          </a:prstGeom>
        </p:spPr>
        <p:txBody>
          <a:bodyPr/>
          <a:lstStyle>
            <a:lvl1pPr marL="0" indent="0">
              <a:buNone/>
              <a:defRPr sz="900"/>
            </a:lvl1pPr>
          </a:lstStyle>
          <a:p>
            <a:endParaRPr lang="de-DE"/>
          </a:p>
        </p:txBody>
      </p:sp>
      <p:sp>
        <p:nvSpPr>
          <p:cNvPr id="9" name="Bildplatzhalter 6">
            <a:extLst>
              <a:ext uri="{FF2B5EF4-FFF2-40B4-BE49-F238E27FC236}">
                <a16:creationId xmlns:a16="http://schemas.microsoft.com/office/drawing/2014/main" id="{A26D1B56-E17F-BF8F-7F4F-ECD0E625BA0A}"/>
              </a:ext>
            </a:extLst>
          </p:cNvPr>
          <p:cNvSpPr>
            <a:spLocks noGrp="1"/>
          </p:cNvSpPr>
          <p:nvPr>
            <p:ph type="pic" sz="quarter" idx="14"/>
          </p:nvPr>
        </p:nvSpPr>
        <p:spPr>
          <a:xfrm>
            <a:off x="3966490" y="2127380"/>
            <a:ext cx="3384000" cy="612000"/>
          </a:xfrm>
          <a:prstGeom prst="rect">
            <a:avLst/>
          </a:prstGeom>
        </p:spPr>
        <p:txBody>
          <a:bodyPr/>
          <a:lstStyle>
            <a:lvl1pPr marL="0" indent="0">
              <a:buNone/>
              <a:defRPr sz="900"/>
            </a:lvl1pPr>
          </a:lstStyle>
          <a:p>
            <a:endParaRPr lang="de-DE"/>
          </a:p>
        </p:txBody>
      </p:sp>
      <p:sp>
        <p:nvSpPr>
          <p:cNvPr id="3" name="Textplatzhalter 4">
            <a:extLst>
              <a:ext uri="{FF2B5EF4-FFF2-40B4-BE49-F238E27FC236}">
                <a16:creationId xmlns:a16="http://schemas.microsoft.com/office/drawing/2014/main" id="{F1A627C2-A02E-C6F2-0DFF-FF6E3D8A468D}"/>
              </a:ext>
            </a:extLst>
          </p:cNvPr>
          <p:cNvSpPr>
            <a:spLocks noGrp="1"/>
          </p:cNvSpPr>
          <p:nvPr>
            <p:ph type="body" sz="quarter" idx="15" hasCustomPrompt="1"/>
          </p:nvPr>
        </p:nvSpPr>
        <p:spPr>
          <a:xfrm>
            <a:off x="360000" y="356560"/>
            <a:ext cx="9000000" cy="576956"/>
          </a:xfrm>
          <a:prstGeom prst="rect">
            <a:avLst/>
          </a:prstGeom>
        </p:spPr>
        <p:txBody>
          <a:bodyPr lIns="0" tIns="0" rIns="0" bIns="0"/>
          <a:lstStyle>
            <a:lvl1pPr marL="0" indent="0">
              <a:buNone/>
              <a:defRPr sz="40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4" name="Textplatzhalter 10">
            <a:extLst>
              <a:ext uri="{FF2B5EF4-FFF2-40B4-BE49-F238E27FC236}">
                <a16:creationId xmlns:a16="http://schemas.microsoft.com/office/drawing/2014/main" id="{8FCA6E03-0581-4570-3657-3ED7225395E9}"/>
              </a:ext>
            </a:extLst>
          </p:cNvPr>
          <p:cNvSpPr>
            <a:spLocks noGrp="1"/>
          </p:cNvSpPr>
          <p:nvPr>
            <p:ph type="body" sz="quarter" idx="16"/>
          </p:nvPr>
        </p:nvSpPr>
        <p:spPr>
          <a:xfrm>
            <a:off x="359999" y="933516"/>
            <a:ext cx="9000000" cy="252000"/>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pPr lvl="0"/>
            <a:r>
              <a:rPr lang="de-DE" dirty="0"/>
              <a:t>Mastertextformat bearbeiten</a:t>
            </a:r>
          </a:p>
        </p:txBody>
      </p:sp>
      <p:pic>
        <p:nvPicPr>
          <p:cNvPr id="2" name="Grafik 1" descr="Ein Bild, das Schrift, Grafiken, Typografie, Kalligrafie enthält.&#10;&#10;KI-generierte Inhalte können fehlerhaft sein.">
            <a:extLst>
              <a:ext uri="{FF2B5EF4-FFF2-40B4-BE49-F238E27FC236}">
                <a16:creationId xmlns:a16="http://schemas.microsoft.com/office/drawing/2014/main" id="{CFEC09CC-8BD0-C1E6-FE08-BBD6FDC8271E}"/>
              </a:ext>
            </a:extLst>
          </p:cNvPr>
          <p:cNvPicPr>
            <a:picLocks noChangeAspect="1"/>
          </p:cNvPicPr>
          <p:nvPr userDrawn="1"/>
        </p:nvPicPr>
        <p:blipFill>
          <a:blip r:embed="rId2"/>
          <a:stretch>
            <a:fillRect/>
          </a:stretch>
        </p:blipFill>
        <p:spPr>
          <a:xfrm>
            <a:off x="9422565" y="356559"/>
            <a:ext cx="1376035" cy="212006"/>
          </a:xfrm>
          <a:prstGeom prst="rect">
            <a:avLst/>
          </a:prstGeom>
        </p:spPr>
      </p:pic>
      <p:sp>
        <p:nvSpPr>
          <p:cNvPr id="11" name="Slide Number Placeholder 3">
            <a:extLst>
              <a:ext uri="{FF2B5EF4-FFF2-40B4-BE49-F238E27FC236}">
                <a16:creationId xmlns:a16="http://schemas.microsoft.com/office/drawing/2014/main" id="{BEA69D1D-1342-4941-6E9B-CB340BDB505C}"/>
              </a:ext>
            </a:extLst>
          </p:cNvPr>
          <p:cNvSpPr txBox="1">
            <a:spLocks/>
          </p:cNvSpPr>
          <p:nvPr userDrawn="1"/>
        </p:nvSpPr>
        <p:spPr>
          <a:xfrm>
            <a:off x="10438600" y="7199675"/>
            <a:ext cx="360000" cy="360000"/>
          </a:xfrm>
          <a:prstGeom prst="rect">
            <a:avLst/>
          </a:prstGeom>
          <a:solidFill>
            <a:srgbClr val="233567"/>
          </a:solidFill>
        </p:spPr>
        <p:txBody>
          <a:bodyPr lIns="0" tIns="0" rIns="0" bIns="0" anchor="ctr" anchorCtr="0"/>
          <a:lstStyle>
            <a:defPPr>
              <a:defRPr lang="en-US"/>
            </a:defPPr>
            <a:lvl1pPr marL="0" algn="l" defTabSz="457200" rtl="0" eaLnBrk="1" latinLnBrk="0" hangingPunct="1">
              <a:defRPr sz="900" kern="1200">
                <a:solidFill>
                  <a:schemeClr val="bg1"/>
                </a:solidFill>
                <a:latin typeface="Roboto Light" panose="02000000000000000000" pitchFamily="2" charset="0"/>
                <a:ea typeface="Roboto Light" panose="02000000000000000000" pitchFamily="2"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5677B82C-5688-48AA-97C2-6AAA7FDF91C0}" type="slidenum">
              <a:rPr lang="de-DE" smtClean="0"/>
              <a:pPr algn="ctr"/>
              <a:t>‹Nr.›</a:t>
            </a:fld>
            <a:endParaRPr lang="de-DE" dirty="0"/>
          </a:p>
        </p:txBody>
      </p:sp>
    </p:spTree>
    <p:extLst>
      <p:ext uri="{BB962C8B-B14F-4D97-AF65-F5344CB8AC3E}">
        <p14:creationId xmlns:p14="http://schemas.microsoft.com/office/powerpoint/2010/main" val="1336165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Kontakt">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CF2A1341-362B-632C-8F72-07338B0108E1}"/>
              </a:ext>
            </a:extLst>
          </p:cNvPr>
          <p:cNvSpPr/>
          <p:nvPr userDrawn="1"/>
        </p:nvSpPr>
        <p:spPr>
          <a:xfrm>
            <a:off x="7200125" y="0"/>
            <a:ext cx="3960000" cy="7559675"/>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Bildplatzhalter 6"/>
          <p:cNvSpPr>
            <a:spLocks noGrp="1"/>
          </p:cNvSpPr>
          <p:nvPr>
            <p:ph type="pic" sz="quarter" idx="13"/>
          </p:nvPr>
        </p:nvSpPr>
        <p:spPr>
          <a:xfrm>
            <a:off x="1176332" y="2611800"/>
            <a:ext cx="1005353" cy="1333500"/>
          </a:xfrm>
          <a:prstGeom prst="rect">
            <a:avLst/>
          </a:prstGeom>
        </p:spPr>
        <p:txBody>
          <a:bodyPr>
            <a:normAutofit/>
          </a:bodyPr>
          <a:lstStyle>
            <a:lvl1pPr marL="0" indent="0">
              <a:buNone/>
              <a:defRPr sz="800"/>
            </a:lvl1pPr>
          </a:lstStyle>
          <a:p>
            <a:endParaRPr lang="de-DE"/>
          </a:p>
        </p:txBody>
      </p:sp>
      <p:sp>
        <p:nvSpPr>
          <p:cNvPr id="3" name="Bildplatzhalter 6">
            <a:extLst>
              <a:ext uri="{FF2B5EF4-FFF2-40B4-BE49-F238E27FC236}">
                <a16:creationId xmlns:a16="http://schemas.microsoft.com/office/drawing/2014/main" id="{8516DE94-D2D7-910C-AE78-4C4B01486759}"/>
              </a:ext>
            </a:extLst>
          </p:cNvPr>
          <p:cNvSpPr>
            <a:spLocks noGrp="1"/>
          </p:cNvSpPr>
          <p:nvPr>
            <p:ph type="pic" sz="quarter" idx="14"/>
          </p:nvPr>
        </p:nvSpPr>
        <p:spPr>
          <a:xfrm>
            <a:off x="5791936" y="1390649"/>
            <a:ext cx="4993627" cy="5109303"/>
          </a:xfrm>
          <a:prstGeom prst="rect">
            <a:avLst/>
          </a:prstGeom>
        </p:spPr>
        <p:txBody>
          <a:bodyPr/>
          <a:lstStyle>
            <a:lvl1pPr marL="0" indent="0">
              <a:buNone/>
              <a:defRPr sz="900"/>
            </a:lvl1pPr>
          </a:lstStyle>
          <a:p>
            <a:endParaRPr lang="de-DE"/>
          </a:p>
        </p:txBody>
      </p:sp>
      <p:sp>
        <p:nvSpPr>
          <p:cNvPr id="4" name="Textplatzhalter 4">
            <a:extLst>
              <a:ext uri="{FF2B5EF4-FFF2-40B4-BE49-F238E27FC236}">
                <a16:creationId xmlns:a16="http://schemas.microsoft.com/office/drawing/2014/main" id="{CEEBC18D-B7CD-1766-3B04-7286CBD937A3}"/>
              </a:ext>
            </a:extLst>
          </p:cNvPr>
          <p:cNvSpPr>
            <a:spLocks noGrp="1"/>
          </p:cNvSpPr>
          <p:nvPr>
            <p:ph type="body" sz="quarter" idx="15" hasCustomPrompt="1"/>
          </p:nvPr>
        </p:nvSpPr>
        <p:spPr>
          <a:xfrm>
            <a:off x="360000" y="356560"/>
            <a:ext cx="9000000" cy="576956"/>
          </a:xfrm>
          <a:prstGeom prst="rect">
            <a:avLst/>
          </a:prstGeom>
        </p:spPr>
        <p:txBody>
          <a:bodyPr lIns="0" tIns="0" rIns="0" bIns="0"/>
          <a:lstStyle>
            <a:lvl1pPr marL="0" indent="0">
              <a:buNone/>
              <a:defRPr sz="40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sp>
        <p:nvSpPr>
          <p:cNvPr id="7" name="Slide Number Placeholder 3">
            <a:extLst>
              <a:ext uri="{FF2B5EF4-FFF2-40B4-BE49-F238E27FC236}">
                <a16:creationId xmlns:a16="http://schemas.microsoft.com/office/drawing/2014/main" id="{A3C13241-1335-885F-0E29-EA13B9E8401B}"/>
              </a:ext>
            </a:extLst>
          </p:cNvPr>
          <p:cNvSpPr txBox="1">
            <a:spLocks/>
          </p:cNvSpPr>
          <p:nvPr userDrawn="1"/>
        </p:nvSpPr>
        <p:spPr>
          <a:xfrm>
            <a:off x="10438600" y="7199675"/>
            <a:ext cx="360000" cy="360000"/>
          </a:xfrm>
          <a:prstGeom prst="rect">
            <a:avLst/>
          </a:prstGeom>
          <a:solidFill>
            <a:srgbClr val="233567"/>
          </a:solidFill>
        </p:spPr>
        <p:txBody>
          <a:bodyPr lIns="0" tIns="0" rIns="0" bIns="0" anchor="ctr" anchorCtr="0"/>
          <a:lstStyle>
            <a:defPPr>
              <a:defRPr lang="en-US"/>
            </a:defPPr>
            <a:lvl1pPr marL="0" algn="l" defTabSz="457200" rtl="0" eaLnBrk="1" latinLnBrk="0" hangingPunct="1">
              <a:defRPr sz="900" kern="1200">
                <a:solidFill>
                  <a:schemeClr val="bg1"/>
                </a:solidFill>
                <a:latin typeface="Roboto Light" panose="02000000000000000000" pitchFamily="2" charset="0"/>
                <a:ea typeface="Roboto Light" panose="02000000000000000000" pitchFamily="2"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5677B82C-5688-48AA-97C2-6AAA7FDF91C0}" type="slidenum">
              <a:rPr lang="de-DE" smtClean="0"/>
              <a:pPr algn="ctr"/>
              <a:t>‹Nr.›</a:t>
            </a:fld>
            <a:endParaRPr lang="de-DE" dirty="0"/>
          </a:p>
        </p:txBody>
      </p:sp>
      <p:pic>
        <p:nvPicPr>
          <p:cNvPr id="2" name="Grafik 1" descr="Ein Bild, das Schrift, Grafiken, Typografie, Kalligrafie enthält.&#10;&#10;KI-generierte Inhalte können fehlerhaft sein.">
            <a:extLst>
              <a:ext uri="{FF2B5EF4-FFF2-40B4-BE49-F238E27FC236}">
                <a16:creationId xmlns:a16="http://schemas.microsoft.com/office/drawing/2014/main" id="{A222C737-B96C-4C86-0CD8-5750F3F48D00}"/>
              </a:ext>
            </a:extLst>
          </p:cNvPr>
          <p:cNvPicPr>
            <a:picLocks noChangeAspect="1"/>
          </p:cNvPicPr>
          <p:nvPr userDrawn="1"/>
        </p:nvPicPr>
        <p:blipFill>
          <a:blip r:embed="rId2"/>
          <a:stretch>
            <a:fillRect/>
          </a:stretch>
        </p:blipFill>
        <p:spPr>
          <a:xfrm>
            <a:off x="9422565" y="356559"/>
            <a:ext cx="1376035" cy="212006"/>
          </a:xfrm>
          <a:prstGeom prst="rect">
            <a:avLst/>
          </a:prstGeom>
        </p:spPr>
      </p:pic>
    </p:spTree>
    <p:extLst>
      <p:ext uri="{BB962C8B-B14F-4D97-AF65-F5344CB8AC3E}">
        <p14:creationId xmlns:p14="http://schemas.microsoft.com/office/powerpoint/2010/main" val="11575387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Inhalt 1">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5295E3BE-1AE3-6EE8-EB8F-2DC3F9ED3938}"/>
              </a:ext>
            </a:extLst>
          </p:cNvPr>
          <p:cNvSpPr/>
          <p:nvPr userDrawn="1"/>
        </p:nvSpPr>
        <p:spPr>
          <a:xfrm>
            <a:off x="7200125" y="0"/>
            <a:ext cx="3960000" cy="7559675"/>
          </a:xfrm>
          <a:prstGeom prst="rect">
            <a:avLst/>
          </a:prstGeom>
          <a:solidFill>
            <a:srgbClr val="BCD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extplatzhalter 4">
            <a:extLst>
              <a:ext uri="{FF2B5EF4-FFF2-40B4-BE49-F238E27FC236}">
                <a16:creationId xmlns:a16="http://schemas.microsoft.com/office/drawing/2014/main" id="{E2A9FBED-D1DD-75EC-66AE-6F9435FAD548}"/>
              </a:ext>
            </a:extLst>
          </p:cNvPr>
          <p:cNvSpPr>
            <a:spLocks noGrp="1"/>
          </p:cNvSpPr>
          <p:nvPr>
            <p:ph type="body" sz="quarter" idx="13" hasCustomPrompt="1"/>
          </p:nvPr>
        </p:nvSpPr>
        <p:spPr>
          <a:xfrm>
            <a:off x="360000" y="356560"/>
            <a:ext cx="9000000" cy="576956"/>
          </a:xfrm>
          <a:prstGeom prst="rect">
            <a:avLst/>
          </a:prstGeom>
        </p:spPr>
        <p:txBody>
          <a:bodyPr lIns="0" tIns="0" rIns="0" bIns="0"/>
          <a:lstStyle>
            <a:lvl1pPr marL="0" indent="0">
              <a:buNone/>
              <a:defRPr sz="4000">
                <a:solidFill>
                  <a:srgbClr val="233567"/>
                </a:solidFill>
                <a:latin typeface="Roboto Medium" panose="02000000000000000000" pitchFamily="2" charset="0"/>
                <a:ea typeface="Roboto Medium" panose="02000000000000000000" pitchFamily="2" charset="0"/>
              </a:defRPr>
            </a:lvl1pPr>
          </a:lstStyle>
          <a:p>
            <a:pPr lvl="0"/>
            <a:r>
              <a:rPr lang="de-DE" dirty="0"/>
              <a:t>MASTERTEXTFORMAT</a:t>
            </a:r>
          </a:p>
        </p:txBody>
      </p:sp>
      <p:pic>
        <p:nvPicPr>
          <p:cNvPr id="6" name="Grafik 5" descr="Ein Bild, das Schrift, Grafiken, Typografie, Kalligrafie enthält.&#10;&#10;KI-generierte Inhalte können fehlerhaft sein.">
            <a:extLst>
              <a:ext uri="{FF2B5EF4-FFF2-40B4-BE49-F238E27FC236}">
                <a16:creationId xmlns:a16="http://schemas.microsoft.com/office/drawing/2014/main" id="{781360FA-9356-69F5-CD30-5311D874D9B1}"/>
              </a:ext>
            </a:extLst>
          </p:cNvPr>
          <p:cNvPicPr>
            <a:picLocks noChangeAspect="1"/>
          </p:cNvPicPr>
          <p:nvPr userDrawn="1"/>
        </p:nvPicPr>
        <p:blipFill>
          <a:blip r:embed="rId2"/>
          <a:stretch>
            <a:fillRect/>
          </a:stretch>
        </p:blipFill>
        <p:spPr>
          <a:xfrm>
            <a:off x="9422565" y="356559"/>
            <a:ext cx="1376035" cy="212006"/>
          </a:xfrm>
          <a:prstGeom prst="rect">
            <a:avLst/>
          </a:prstGeom>
        </p:spPr>
      </p:pic>
      <p:sp>
        <p:nvSpPr>
          <p:cNvPr id="8" name="Slide Number Placeholder 3">
            <a:extLst>
              <a:ext uri="{FF2B5EF4-FFF2-40B4-BE49-F238E27FC236}">
                <a16:creationId xmlns:a16="http://schemas.microsoft.com/office/drawing/2014/main" id="{F6D7AA20-9418-8575-D49B-EBA7B334F223}"/>
              </a:ext>
            </a:extLst>
          </p:cNvPr>
          <p:cNvSpPr txBox="1">
            <a:spLocks/>
          </p:cNvSpPr>
          <p:nvPr userDrawn="1"/>
        </p:nvSpPr>
        <p:spPr>
          <a:xfrm>
            <a:off x="10438600" y="7199675"/>
            <a:ext cx="360000" cy="360000"/>
          </a:xfrm>
          <a:prstGeom prst="rect">
            <a:avLst/>
          </a:prstGeom>
          <a:solidFill>
            <a:srgbClr val="233567"/>
          </a:solidFill>
        </p:spPr>
        <p:txBody>
          <a:bodyPr lIns="0" tIns="0" rIns="0" bIns="0" anchor="ctr" anchorCtr="0"/>
          <a:lstStyle>
            <a:defPPr>
              <a:defRPr lang="en-US"/>
            </a:defPPr>
            <a:lvl1pPr marL="0" algn="l" defTabSz="457200" rtl="0" eaLnBrk="1" latinLnBrk="0" hangingPunct="1">
              <a:defRPr sz="900" kern="1200">
                <a:solidFill>
                  <a:schemeClr val="bg1"/>
                </a:solidFill>
                <a:latin typeface="Roboto Light" panose="02000000000000000000" pitchFamily="2" charset="0"/>
                <a:ea typeface="Roboto Light" panose="02000000000000000000" pitchFamily="2"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5677B82C-5688-48AA-97C2-6AAA7FDF91C0}" type="slidenum">
              <a:rPr lang="de-DE" smtClean="0"/>
              <a:pPr algn="ctr"/>
              <a:t>‹Nr.›</a:t>
            </a:fld>
            <a:endParaRPr lang="de-DE" dirty="0"/>
          </a:p>
        </p:txBody>
      </p:sp>
    </p:spTree>
    <p:extLst>
      <p:ext uri="{BB962C8B-B14F-4D97-AF65-F5344CB8AC3E}">
        <p14:creationId xmlns:p14="http://schemas.microsoft.com/office/powerpoint/2010/main" val="2779020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Grafik 1" descr="Ein Bild, das Schrift, Grafiken, Typografie, Kalligrafie enthält.&#10;&#10;KI-generierte Inhalte können fehlerhaft sein.">
            <a:extLst>
              <a:ext uri="{FF2B5EF4-FFF2-40B4-BE49-F238E27FC236}">
                <a16:creationId xmlns:a16="http://schemas.microsoft.com/office/drawing/2014/main" id="{0D9102C0-04DE-2693-3942-C96BD11DD91A}"/>
              </a:ext>
            </a:extLst>
          </p:cNvPr>
          <p:cNvPicPr>
            <a:picLocks noChangeAspect="1"/>
          </p:cNvPicPr>
          <p:nvPr userDrawn="1"/>
        </p:nvPicPr>
        <p:blipFill>
          <a:blip r:embed="rId16"/>
          <a:stretch>
            <a:fillRect/>
          </a:stretch>
        </p:blipFill>
        <p:spPr>
          <a:xfrm>
            <a:off x="9422565" y="356559"/>
            <a:ext cx="1376035" cy="212006"/>
          </a:xfrm>
          <a:prstGeom prst="rect">
            <a:avLst/>
          </a:prstGeom>
        </p:spPr>
      </p:pic>
    </p:spTree>
    <p:extLst>
      <p:ext uri="{BB962C8B-B14F-4D97-AF65-F5344CB8AC3E}">
        <p14:creationId xmlns:p14="http://schemas.microsoft.com/office/powerpoint/2010/main" val="2740543648"/>
      </p:ext>
    </p:extLst>
  </p:cSld>
  <p:clrMap bg1="lt1" tx1="dk1" bg2="lt2" tx2="dk2" accent1="accent1" accent2="accent2" accent3="accent3" accent4="accent4" accent5="accent5" accent6="accent6" hlink="hlink" folHlink="folHlink"/>
  <p:sldLayoutIdLst>
    <p:sldLayoutId id="2147483691" r:id="rId1"/>
    <p:sldLayoutId id="2147483696" r:id="rId2"/>
    <p:sldLayoutId id="2147483697" r:id="rId3"/>
    <p:sldLayoutId id="2147483698" r:id="rId4"/>
    <p:sldLayoutId id="2147483704" r:id="rId5"/>
    <p:sldLayoutId id="2147483705" r:id="rId6"/>
    <p:sldLayoutId id="2147483706" r:id="rId7"/>
    <p:sldLayoutId id="2147483707" r:id="rId8"/>
    <p:sldLayoutId id="2147483701" r:id="rId9"/>
    <p:sldLayoutId id="2147483702" r:id="rId10"/>
    <p:sldLayoutId id="2147483708" r:id="rId11"/>
    <p:sldLayoutId id="2147483709" r:id="rId12"/>
    <p:sldLayoutId id="2147483710" r:id="rId13"/>
    <p:sldLayoutId id="2147483711" r:id="rId14"/>
  </p:sldLayoutIdLst>
  <p:txStyles>
    <p:titleStyle>
      <a:lvl1pPr algn="l" defTabSz="1007943" rtl="0" eaLnBrk="1" latinLnBrk="0" hangingPunct="1">
        <a:lnSpc>
          <a:spcPct val="90000"/>
        </a:lnSpc>
        <a:spcBef>
          <a:spcPct val="0"/>
        </a:spcBef>
        <a:buNone/>
        <a:defRPr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3A737-FE7A-A98D-4004-4A4CEEC38E07}"/>
            </a:ext>
          </a:extLst>
        </p:cNvPr>
        <p:cNvGrpSpPr/>
        <p:nvPr/>
      </p:nvGrpSpPr>
      <p:grpSpPr>
        <a:xfrm>
          <a:off x="0" y="0"/>
          <a:ext cx="0" cy="0"/>
          <a:chOff x="0" y="0"/>
          <a:chExt cx="0" cy="0"/>
        </a:xfrm>
      </p:grpSpPr>
      <p:pic>
        <p:nvPicPr>
          <p:cNvPr id="4" name="Bildplatzhalter 3" descr="Ein Bild, das Verschwommen, Gebäude, Fenster, draußen enthält.&#10;&#10;KI-generierte Inhalte können fehlerhaft sein.">
            <a:extLst>
              <a:ext uri="{FF2B5EF4-FFF2-40B4-BE49-F238E27FC236}">
                <a16:creationId xmlns:a16="http://schemas.microsoft.com/office/drawing/2014/main" id="{A0E9D954-EDF3-DC7F-8C63-B7D66CCD48D2}"/>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2480" r="438" b="1341"/>
          <a:stretch/>
        </p:blipFill>
        <p:spPr>
          <a:xfrm>
            <a:off x="360000" y="1336673"/>
            <a:ext cx="9103490" cy="5863002"/>
          </a:xfrm>
          <a:solidFill>
            <a:schemeClr val="bg1">
              <a:lumMod val="95000"/>
            </a:schemeClr>
          </a:solidFill>
        </p:spPr>
      </p:pic>
      <p:sp>
        <p:nvSpPr>
          <p:cNvPr id="12" name="Textplatzhalter 11">
            <a:extLst>
              <a:ext uri="{FF2B5EF4-FFF2-40B4-BE49-F238E27FC236}">
                <a16:creationId xmlns:a16="http://schemas.microsoft.com/office/drawing/2014/main" id="{FA1DB44D-8534-4B1B-9054-FAD297E0533D}"/>
              </a:ext>
            </a:extLst>
          </p:cNvPr>
          <p:cNvSpPr>
            <a:spLocks noGrp="1"/>
          </p:cNvSpPr>
          <p:nvPr>
            <p:ph type="body" sz="quarter" idx="13"/>
          </p:nvPr>
        </p:nvSpPr>
        <p:spPr/>
        <p:txBody>
          <a:bodyPr/>
          <a:lstStyle/>
          <a:p>
            <a:r>
              <a:rPr lang="de-DE" dirty="0"/>
              <a:t>IMMOBILIENANGEBOT</a:t>
            </a:r>
          </a:p>
        </p:txBody>
      </p:sp>
      <p:sp>
        <p:nvSpPr>
          <p:cNvPr id="2" name="Textfeld 1">
            <a:extLst>
              <a:ext uri="{FF2B5EF4-FFF2-40B4-BE49-F238E27FC236}">
                <a16:creationId xmlns:a16="http://schemas.microsoft.com/office/drawing/2014/main" id="{83917270-C634-C6AC-8D34-00F3CEDE571D}"/>
              </a:ext>
            </a:extLst>
          </p:cNvPr>
          <p:cNvSpPr txBox="1">
            <a:spLocks noChangeArrowheads="1"/>
          </p:cNvSpPr>
          <p:nvPr/>
        </p:nvSpPr>
        <p:spPr bwMode="auto">
          <a:xfrm>
            <a:off x="6749591" y="2884691"/>
            <a:ext cx="4409007" cy="2633514"/>
          </a:xfrm>
          <a:prstGeom prst="rect">
            <a:avLst/>
          </a:prstGeom>
          <a:solidFill>
            <a:srgbClr val="233567"/>
          </a:solidFill>
          <a:ln w="9525">
            <a:noFill/>
            <a:miter lim="800000"/>
            <a:headEnd/>
            <a:tailEnd/>
          </a:ln>
        </p:spPr>
        <p:txBody>
          <a:bodyPr rot="0" vert="horz" wrap="square" lIns="288000" tIns="226750" rIns="151167" bIns="151167" anchor="t" anchorCtr="0">
            <a:noAutofit/>
          </a:bodyPr>
          <a:lstStyle/>
          <a:p>
            <a:pPr>
              <a:lnSpc>
                <a:spcPts val="1890"/>
              </a:lnSpc>
            </a:pPr>
            <a:r>
              <a:rPr lang="de-DE" sz="1200" cap="all" dirty="0">
                <a:solidFill>
                  <a:schemeClr val="bg1"/>
                </a:solidFill>
                <a:latin typeface="Roboto Light" panose="02000000000000000000" pitchFamily="2" charset="0"/>
                <a:ea typeface="Roboto Light" panose="02000000000000000000" pitchFamily="2" charset="0"/>
                <a:cs typeface="Times New Roman" panose="02020603050405020304" pitchFamily="18" charset="0"/>
              </a:rPr>
              <a:t>Köln Altstadt-Süd</a:t>
            </a:r>
            <a:endParaRPr lang="de-DE" sz="1200" dirty="0">
              <a:solidFill>
                <a:schemeClr val="bg1"/>
              </a:solidFill>
              <a:latin typeface="Roboto Light" panose="02000000000000000000" pitchFamily="2" charset="0"/>
              <a:ea typeface="Roboto Light" panose="02000000000000000000" pitchFamily="2" charset="0"/>
              <a:cs typeface="Times New Roman" panose="02020603050405020304" pitchFamily="18" charset="0"/>
            </a:endParaRPr>
          </a:p>
          <a:p>
            <a:pPr>
              <a:lnSpc>
                <a:spcPts val="1890"/>
              </a:lnSpc>
            </a:pPr>
            <a:r>
              <a:rPr lang="de-DE" sz="1260" dirty="0">
                <a:solidFill>
                  <a:schemeClr val="bg1"/>
                </a:solidFill>
                <a:latin typeface="Roboto Light" panose="02000000000000000000" pitchFamily="2" charset="0"/>
                <a:ea typeface="Roboto Light" panose="02000000000000000000" pitchFamily="2" charset="0"/>
                <a:cs typeface="Times New Roman" panose="02020603050405020304" pitchFamily="18" charset="0"/>
              </a:rPr>
              <a:t> </a:t>
            </a:r>
            <a:endParaRPr lang="de-DE" sz="1155" dirty="0">
              <a:solidFill>
                <a:schemeClr val="bg1"/>
              </a:solidFill>
              <a:latin typeface="Roboto Light" panose="02000000000000000000" pitchFamily="2" charset="0"/>
              <a:ea typeface="Roboto Light" panose="02000000000000000000" pitchFamily="2" charset="0"/>
              <a:cs typeface="Times New Roman" panose="02020603050405020304" pitchFamily="18" charset="0"/>
            </a:endParaRPr>
          </a:p>
          <a:p>
            <a:pPr>
              <a:lnSpc>
                <a:spcPts val="3779"/>
              </a:lnSpc>
            </a:pPr>
            <a:r>
              <a:rPr lang="de-DE" sz="2400" b="1" cap="all" dirty="0">
                <a:solidFill>
                  <a:schemeClr val="bg1"/>
                </a:solidFill>
                <a:latin typeface="Roboto Medium" panose="02000000000000000000" pitchFamily="2" charset="0"/>
                <a:ea typeface="Roboto Medium" panose="02000000000000000000" pitchFamily="2" charset="0"/>
                <a:cs typeface="Times New Roman" panose="02020603050405020304" pitchFamily="18" charset="0"/>
              </a:rPr>
              <a:t>Entwicklungsobjekt </a:t>
            </a:r>
          </a:p>
          <a:p>
            <a:pPr>
              <a:lnSpc>
                <a:spcPts val="3779"/>
              </a:lnSpc>
            </a:pPr>
            <a:r>
              <a:rPr lang="de-DE" sz="2400" b="1" cap="all" dirty="0">
                <a:solidFill>
                  <a:schemeClr val="bg1"/>
                </a:solidFill>
                <a:latin typeface="Roboto Medium" panose="02000000000000000000" pitchFamily="2" charset="0"/>
                <a:ea typeface="Roboto Medium" panose="02000000000000000000" pitchFamily="2" charset="0"/>
                <a:cs typeface="Times New Roman" panose="02020603050405020304" pitchFamily="18" charset="0"/>
              </a:rPr>
              <a:t>im </a:t>
            </a:r>
            <a:r>
              <a:rPr lang="de-DE" sz="2400" b="1" cap="all" dirty="0" err="1">
                <a:solidFill>
                  <a:schemeClr val="bg1"/>
                </a:solidFill>
                <a:latin typeface="Roboto Medium" panose="02000000000000000000" pitchFamily="2" charset="0"/>
                <a:ea typeface="Roboto Medium" panose="02000000000000000000" pitchFamily="2" charset="0"/>
                <a:cs typeface="Times New Roman" panose="02020603050405020304" pitchFamily="18" charset="0"/>
              </a:rPr>
              <a:t>Severinsviertel</a:t>
            </a:r>
            <a:endParaRPr lang="de-DE" sz="2400" dirty="0">
              <a:solidFill>
                <a:schemeClr val="bg1"/>
              </a:solidFill>
              <a:latin typeface="Roboto Medium" panose="02000000000000000000" pitchFamily="2" charset="0"/>
              <a:ea typeface="Roboto Medium" panose="02000000000000000000" pitchFamily="2" charset="0"/>
              <a:cs typeface="Times New Roman" panose="02020603050405020304" pitchFamily="18" charset="0"/>
            </a:endParaRPr>
          </a:p>
          <a:p>
            <a:pPr>
              <a:lnSpc>
                <a:spcPts val="1680"/>
              </a:lnSpc>
            </a:pPr>
            <a:r>
              <a:rPr lang="de-DE" sz="1260" dirty="0">
                <a:solidFill>
                  <a:schemeClr val="bg1"/>
                </a:solidFill>
                <a:latin typeface="Roboto Light" panose="02000000000000000000" pitchFamily="2" charset="0"/>
                <a:ea typeface="Roboto Light" panose="02000000000000000000" pitchFamily="2" charset="0"/>
                <a:cs typeface="Times New Roman" panose="02020603050405020304" pitchFamily="18" charset="0"/>
              </a:rPr>
              <a:t> </a:t>
            </a:r>
            <a:endParaRPr lang="de-DE" sz="1155" dirty="0">
              <a:solidFill>
                <a:schemeClr val="bg1"/>
              </a:solidFill>
              <a:latin typeface="Roboto Light" panose="02000000000000000000" pitchFamily="2" charset="0"/>
              <a:ea typeface="Roboto Light" panose="02000000000000000000" pitchFamily="2" charset="0"/>
              <a:cs typeface="Times New Roman" panose="02020603050405020304" pitchFamily="18" charset="0"/>
            </a:endParaRPr>
          </a:p>
          <a:p>
            <a:pPr>
              <a:lnSpc>
                <a:spcPts val="1680"/>
              </a:lnSpc>
            </a:pPr>
            <a:r>
              <a:rPr lang="de-DE" sz="1200" dirty="0">
                <a:solidFill>
                  <a:schemeClr val="bg1"/>
                </a:solidFill>
                <a:latin typeface="Roboto Light" panose="02000000000000000000" pitchFamily="2" charset="0"/>
                <a:ea typeface="Roboto Light" panose="02000000000000000000" pitchFamily="2" charset="0"/>
                <a:cs typeface="Times New Roman" panose="02020603050405020304" pitchFamily="18" charset="0"/>
              </a:rPr>
              <a:t>Biberstraße 35</a:t>
            </a:r>
          </a:p>
          <a:p>
            <a:pPr>
              <a:lnSpc>
                <a:spcPts val="1680"/>
              </a:lnSpc>
            </a:pPr>
            <a:r>
              <a:rPr lang="de-DE" sz="1200" dirty="0">
                <a:solidFill>
                  <a:schemeClr val="bg1"/>
                </a:solidFill>
                <a:latin typeface="Roboto Light" panose="02000000000000000000" pitchFamily="2" charset="0"/>
                <a:ea typeface="Roboto Light" panose="02000000000000000000" pitchFamily="2" charset="0"/>
                <a:cs typeface="Times New Roman" panose="02020603050405020304" pitchFamily="18" charset="0"/>
              </a:rPr>
              <a:t>50678 Köln</a:t>
            </a:r>
          </a:p>
        </p:txBody>
      </p:sp>
      <p:sp>
        <p:nvSpPr>
          <p:cNvPr id="6" name="Rechteck 5">
            <a:extLst>
              <a:ext uri="{FF2B5EF4-FFF2-40B4-BE49-F238E27FC236}">
                <a16:creationId xmlns:a16="http://schemas.microsoft.com/office/drawing/2014/main" id="{76325732-C289-EB2B-FF46-8BB932CFE35B}"/>
              </a:ext>
            </a:extLst>
          </p:cNvPr>
          <p:cNvSpPr/>
          <p:nvPr/>
        </p:nvSpPr>
        <p:spPr>
          <a:xfrm>
            <a:off x="0" y="6334699"/>
            <a:ext cx="2766060" cy="1023128"/>
          </a:xfrm>
          <a:prstGeom prst="rect">
            <a:avLst/>
          </a:prstGeom>
          <a:solidFill>
            <a:srgbClr val="2335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87D78A3E-517A-F90E-8EDE-3BCCA29C85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345" y="6555036"/>
            <a:ext cx="2146798" cy="611588"/>
          </a:xfrm>
          <a:prstGeom prst="rect">
            <a:avLst/>
          </a:prstGeom>
        </p:spPr>
      </p:pic>
      <p:sp>
        <p:nvSpPr>
          <p:cNvPr id="3" name="Rechteck 2">
            <a:extLst>
              <a:ext uri="{FF2B5EF4-FFF2-40B4-BE49-F238E27FC236}">
                <a16:creationId xmlns:a16="http://schemas.microsoft.com/office/drawing/2014/main" id="{1C83D1C8-4FDE-FF17-717F-0099A1B33670}"/>
              </a:ext>
            </a:extLst>
          </p:cNvPr>
          <p:cNvSpPr/>
          <p:nvPr/>
        </p:nvSpPr>
        <p:spPr>
          <a:xfrm>
            <a:off x="9360000" y="201848"/>
            <a:ext cx="1595215" cy="5279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860429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elle 7"/>
          <p:cNvGraphicFramePr>
            <a:graphicFrameLocks noGrp="1"/>
          </p:cNvGraphicFramePr>
          <p:nvPr>
            <p:extLst>
              <p:ext uri="{D42A27DB-BD31-4B8C-83A1-F6EECF244321}">
                <p14:modId xmlns:p14="http://schemas.microsoft.com/office/powerpoint/2010/main" val="1455742186"/>
              </p:ext>
            </p:extLst>
          </p:nvPr>
        </p:nvGraphicFramePr>
        <p:xfrm>
          <a:off x="359999" y="1336673"/>
          <a:ext cx="5108058" cy="5762220"/>
        </p:xfrm>
        <a:graphic>
          <a:graphicData uri="http://schemas.openxmlformats.org/drawingml/2006/table">
            <a:tbl>
              <a:tblPr firstRow="1" bandRow="1">
                <a:tableStyleId>{2D5ABB26-0587-4C30-8999-92F81FD0307C}</a:tableStyleId>
              </a:tblPr>
              <a:tblGrid>
                <a:gridCol w="2554029">
                  <a:extLst>
                    <a:ext uri="{9D8B030D-6E8A-4147-A177-3AD203B41FA5}">
                      <a16:colId xmlns:a16="http://schemas.microsoft.com/office/drawing/2014/main" val="4247747380"/>
                    </a:ext>
                  </a:extLst>
                </a:gridCol>
                <a:gridCol w="2554029">
                  <a:extLst>
                    <a:ext uri="{9D8B030D-6E8A-4147-A177-3AD203B41FA5}">
                      <a16:colId xmlns:a16="http://schemas.microsoft.com/office/drawing/2014/main" val="3851018458"/>
                    </a:ext>
                  </a:extLst>
                </a:gridCol>
              </a:tblGrid>
              <a:tr h="288111">
                <a:tc gridSpan="2">
                  <a:txBody>
                    <a:bodyPr/>
                    <a:lstStyle/>
                    <a:p>
                      <a:r>
                        <a:rPr lang="de-DE" sz="1000" dirty="0">
                          <a:solidFill>
                            <a:schemeClr val="bg1"/>
                          </a:solidFill>
                          <a:latin typeface="Roboto Medium" panose="02000000000000000000" pitchFamily="2" charset="0"/>
                          <a:ea typeface="Roboto Medium" panose="02000000000000000000" pitchFamily="2" charset="0"/>
                        </a:rPr>
                        <a:t>INVESTMENT</a:t>
                      </a:r>
                    </a:p>
                  </a:txBody>
                  <a:tcPr anchor="ctr">
                    <a:solidFill>
                      <a:srgbClr val="233567"/>
                    </a:solidFill>
                  </a:tcPr>
                </a:tc>
                <a:tc hMerge="1">
                  <a:txBody>
                    <a:bodyPr/>
                    <a:lstStyle/>
                    <a:p>
                      <a:endParaRPr lang="de-DE" dirty="0"/>
                    </a:p>
                  </a:txBody>
                  <a:tcPr/>
                </a:tc>
                <a:extLst>
                  <a:ext uri="{0D108BD9-81ED-4DB2-BD59-A6C34878D82A}">
                    <a16:rowId xmlns:a16="http://schemas.microsoft.com/office/drawing/2014/main" val="2281681758"/>
                  </a:ext>
                </a:extLst>
              </a:tr>
              <a:tr h="288111">
                <a:tc>
                  <a:txBody>
                    <a:bodyPr/>
                    <a:lstStyle/>
                    <a:p>
                      <a:r>
                        <a:rPr lang="de-DE" sz="1000" b="1" i="0" dirty="0">
                          <a:solidFill>
                            <a:schemeClr val="tx1"/>
                          </a:solidFill>
                          <a:latin typeface="Roboto Black" panose="02000000000000000000" pitchFamily="2" charset="0"/>
                          <a:ea typeface="Roboto Black" panose="02000000000000000000" pitchFamily="2" charset="0"/>
                        </a:rPr>
                        <a:t>Kaufpreis</a:t>
                      </a:r>
                    </a:p>
                  </a:txBody>
                  <a:tcPr anchor="ctr">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b="1" i="0" dirty="0">
                          <a:solidFill>
                            <a:schemeClr val="tx1"/>
                          </a:solidFill>
                          <a:latin typeface="Roboto Black" panose="02000000000000000000" pitchFamily="2" charset="0"/>
                          <a:ea typeface="Roboto Black" panose="02000000000000000000" pitchFamily="2" charset="0"/>
                        </a:rPr>
                        <a:t>2.560.000,00 €</a:t>
                      </a:r>
                    </a:p>
                  </a:txBody>
                  <a:tcPr anchor="ctr">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2557906"/>
                  </a:ext>
                </a:extLst>
              </a:tr>
              <a:tr h="288111">
                <a:tc>
                  <a:txBody>
                    <a:bodyPr/>
                    <a:lstStyle/>
                    <a:p>
                      <a:r>
                        <a:rPr lang="de-DE" sz="1000" b="0" i="0" dirty="0">
                          <a:solidFill>
                            <a:schemeClr val="tx1"/>
                          </a:solidFill>
                          <a:latin typeface="Roboto Medium" panose="02000000000000000000" pitchFamily="2" charset="0"/>
                          <a:ea typeface="Roboto Medium" panose="02000000000000000000" pitchFamily="2" charset="0"/>
                        </a:rPr>
                        <a:t>Jahresnettokaltmiete (IST)</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b="0" i="0" dirty="0">
                          <a:solidFill>
                            <a:schemeClr val="tx1"/>
                          </a:solidFill>
                          <a:latin typeface="Roboto Medium" panose="02000000000000000000" pitchFamily="2" charset="0"/>
                          <a:ea typeface="Roboto Medium" panose="02000000000000000000" pitchFamily="2" charset="0"/>
                        </a:rPr>
                        <a:t>22.000,00 €</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42757671"/>
                  </a:ext>
                </a:extLst>
              </a:tr>
              <a:tr h="288111">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de-DE" sz="1000" b="0" i="0" dirty="0">
                          <a:solidFill>
                            <a:schemeClr val="tx1"/>
                          </a:solidFill>
                          <a:latin typeface="Roboto Medium" panose="02000000000000000000" pitchFamily="2" charset="0"/>
                          <a:ea typeface="Roboto Medium" panose="02000000000000000000" pitchFamily="2" charset="0"/>
                        </a:rPr>
                        <a:t>Jahresnettokaltmiete (SOLL)</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b="0" i="0" dirty="0">
                          <a:solidFill>
                            <a:schemeClr val="tx1"/>
                          </a:solidFill>
                          <a:latin typeface="Roboto Medium" panose="02000000000000000000" pitchFamily="2" charset="0"/>
                          <a:ea typeface="Roboto Medium" panose="02000000000000000000" pitchFamily="2" charset="0"/>
                        </a:rPr>
                        <a:t>22.000,00 €</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71296860"/>
                  </a:ext>
                </a:extLst>
              </a:tr>
              <a:tr h="288111">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de-DE" sz="1000" b="0" i="0" dirty="0">
                          <a:solidFill>
                            <a:schemeClr val="tx1"/>
                          </a:solidFill>
                          <a:latin typeface="Roboto Medium" panose="02000000000000000000" pitchFamily="2" charset="0"/>
                          <a:ea typeface="Roboto Medium" panose="02000000000000000000" pitchFamily="2" charset="0"/>
                        </a:rPr>
                        <a:t>Vermietungsstand</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b="0" i="0" dirty="0">
                          <a:solidFill>
                            <a:schemeClr val="tx1"/>
                          </a:solidFill>
                          <a:latin typeface="Roboto Medium" panose="02000000000000000000" pitchFamily="2" charset="0"/>
                          <a:ea typeface="Roboto Medium" panose="02000000000000000000" pitchFamily="2" charset="0"/>
                        </a:rPr>
                        <a:t>100 %</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5437501"/>
                  </a:ext>
                </a:extLst>
              </a:tr>
              <a:tr h="288111">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de-DE" sz="1000" b="0" i="0" dirty="0">
                          <a:solidFill>
                            <a:schemeClr val="tx1"/>
                          </a:solidFill>
                          <a:latin typeface="Roboto Medium" panose="02000000000000000000" pitchFamily="2" charset="0"/>
                          <a:ea typeface="Roboto Medium" panose="02000000000000000000" pitchFamily="2" charset="0"/>
                        </a:rPr>
                        <a:t>Kaufpreisfaktor (IST/SOLL)</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b="0" i="0" dirty="0">
                          <a:solidFill>
                            <a:schemeClr val="tx1"/>
                          </a:solidFill>
                          <a:latin typeface="Roboto Medium" panose="02000000000000000000" pitchFamily="2" charset="0"/>
                          <a:ea typeface="Roboto Medium" panose="02000000000000000000" pitchFamily="2" charset="0"/>
                        </a:rPr>
                        <a:t>XXXX</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02141202"/>
                  </a:ext>
                </a:extLst>
              </a:tr>
              <a:tr h="288111">
                <a:tc>
                  <a:txBody>
                    <a:bodyPr/>
                    <a:lstStyle/>
                    <a:p>
                      <a:r>
                        <a:rPr lang="de-DE" sz="1000" b="0" i="0" dirty="0">
                          <a:solidFill>
                            <a:schemeClr val="tx1"/>
                          </a:solidFill>
                          <a:latin typeface="Roboto Medium" panose="02000000000000000000" pitchFamily="2" charset="0"/>
                          <a:ea typeface="Roboto Medium" panose="02000000000000000000" pitchFamily="2" charset="0"/>
                        </a:rPr>
                        <a:t>Kaufpreis pro m²</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b="0" i="0" dirty="0">
                          <a:solidFill>
                            <a:schemeClr val="tx1"/>
                          </a:solidFill>
                          <a:latin typeface="Roboto Medium" panose="02000000000000000000" pitchFamily="2" charset="0"/>
                          <a:ea typeface="Roboto Medium" panose="02000000000000000000" pitchFamily="2" charset="0"/>
                        </a:rPr>
                        <a:t>ca. 1.600 €/m²</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46296349"/>
                  </a:ext>
                </a:extLst>
              </a:tr>
              <a:tr h="288111">
                <a:tc>
                  <a:txBody>
                    <a:bodyPr/>
                    <a:lstStyle/>
                    <a:p>
                      <a:r>
                        <a:rPr lang="de-DE" sz="1000" b="0" i="0" dirty="0">
                          <a:solidFill>
                            <a:schemeClr val="tx1"/>
                          </a:solidFill>
                          <a:latin typeface="Roboto Medium" panose="02000000000000000000" pitchFamily="2" charset="0"/>
                          <a:ea typeface="Roboto Medium" panose="02000000000000000000" pitchFamily="2" charset="0"/>
                        </a:rPr>
                        <a:t>Provisionshinweis</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b="0" i="0" dirty="0">
                          <a:solidFill>
                            <a:schemeClr val="tx1"/>
                          </a:solidFill>
                          <a:latin typeface="Roboto Medium" panose="02000000000000000000" pitchFamily="2" charset="0"/>
                          <a:ea typeface="Roboto Medium" panose="02000000000000000000" pitchFamily="2" charset="0"/>
                        </a:rPr>
                        <a:t>provisionspflichtig</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58347227"/>
                  </a:ext>
                </a:extLst>
              </a:tr>
              <a:tr h="288111">
                <a:tc gridSpan="2">
                  <a:txBody>
                    <a:bodyPr/>
                    <a:lstStyle/>
                    <a:p>
                      <a:r>
                        <a:rPr lang="de-DE" sz="1000" dirty="0">
                          <a:solidFill>
                            <a:schemeClr val="bg1"/>
                          </a:solidFill>
                          <a:latin typeface="Roboto Medium" panose="02000000000000000000" pitchFamily="2" charset="0"/>
                          <a:ea typeface="Roboto Medium" panose="02000000000000000000" pitchFamily="2" charset="0"/>
                        </a:rPr>
                        <a:t>OBJEKTDATEN</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rgbClr val="233567"/>
                    </a:solidFill>
                  </a:tcPr>
                </a:tc>
                <a:tc hMerge="1">
                  <a:txBody>
                    <a:bodyPr/>
                    <a:lstStyle/>
                    <a:p>
                      <a:endParaRPr lang="de-DE" sz="1000" dirty="0">
                        <a:latin typeface="BNPP Sans" panose="02000000000000000000" pitchFamily="50" charset="0"/>
                      </a:endParaRPr>
                    </a:p>
                  </a:txBody>
                  <a:tcPr anchor="ctr">
                    <a:solidFill>
                      <a:srgbClr val="1C2C36"/>
                    </a:solidFill>
                  </a:tcPr>
                </a:tc>
                <a:extLst>
                  <a:ext uri="{0D108BD9-81ED-4DB2-BD59-A6C34878D82A}">
                    <a16:rowId xmlns:a16="http://schemas.microsoft.com/office/drawing/2014/main" val="1850524159"/>
                  </a:ext>
                </a:extLst>
              </a:tr>
              <a:tr h="288111">
                <a:tc>
                  <a:txBody>
                    <a:bodyPr/>
                    <a:lstStyle/>
                    <a:p>
                      <a:r>
                        <a:rPr lang="de-DE" sz="1000" b="0" i="0" dirty="0">
                          <a:latin typeface="Roboto Medium" panose="02000000000000000000" pitchFamily="2" charset="0"/>
                          <a:ea typeface="Roboto Medium" panose="02000000000000000000" pitchFamily="2" charset="0"/>
                        </a:rPr>
                        <a:t>Grundstücksfläche</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b="0" i="0" dirty="0">
                          <a:latin typeface="Roboto Medium" panose="02000000000000000000" pitchFamily="2" charset="0"/>
                          <a:ea typeface="Roboto Medium" panose="02000000000000000000" pitchFamily="2" charset="0"/>
                        </a:rPr>
                        <a:t>ca. 1.400 m²</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93720972"/>
                  </a:ext>
                </a:extLst>
              </a:tr>
              <a:tr h="288111">
                <a:tc>
                  <a:txBody>
                    <a:bodyPr/>
                    <a:lstStyle/>
                    <a:p>
                      <a:r>
                        <a:rPr lang="de-DE" sz="1000" b="0" i="0" dirty="0">
                          <a:latin typeface="Roboto Medium" panose="02000000000000000000" pitchFamily="2" charset="0"/>
                          <a:ea typeface="Roboto Medium" panose="02000000000000000000" pitchFamily="2" charset="0"/>
                        </a:rPr>
                        <a:t>Bodenrichtwert (Stichtag 01.01.20)</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b="0" i="0" dirty="0" err="1">
                          <a:latin typeface="Roboto Medium" panose="02000000000000000000" pitchFamily="2" charset="0"/>
                          <a:ea typeface="Roboto Medium" panose="02000000000000000000" pitchFamily="2" charset="0"/>
                        </a:rPr>
                        <a:t>xxxx</a:t>
                      </a:r>
                      <a:r>
                        <a:rPr lang="de-DE" sz="1000" b="0" i="0" dirty="0">
                          <a:latin typeface="Roboto Medium" panose="02000000000000000000" pitchFamily="2" charset="0"/>
                          <a:ea typeface="Roboto Medium" panose="02000000000000000000" pitchFamily="2" charset="0"/>
                        </a:rPr>
                        <a:t> € / m²</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12581475"/>
                  </a:ext>
                </a:extLst>
              </a:tr>
              <a:tr h="288111">
                <a:tc>
                  <a:txBody>
                    <a:bodyPr/>
                    <a:lstStyle/>
                    <a:p>
                      <a:r>
                        <a:rPr lang="de-DE" sz="1000" b="0" i="0" dirty="0">
                          <a:latin typeface="Roboto Medium" panose="02000000000000000000" pitchFamily="2" charset="0"/>
                          <a:ea typeface="Roboto Medium" panose="02000000000000000000" pitchFamily="2" charset="0"/>
                        </a:rPr>
                        <a:t>Gesamtmietfläche</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b="0" i="0" dirty="0">
                          <a:latin typeface="Roboto Medium" panose="02000000000000000000" pitchFamily="2" charset="0"/>
                          <a:ea typeface="Roboto Medium" panose="02000000000000000000" pitchFamily="2" charset="0"/>
                        </a:rPr>
                        <a:t>X</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89090913"/>
                  </a:ext>
                </a:extLst>
              </a:tr>
              <a:tr h="288111">
                <a:tc>
                  <a:txBody>
                    <a:bodyPr/>
                    <a:lstStyle/>
                    <a:p>
                      <a:r>
                        <a:rPr lang="de-DE" sz="1000" b="0" i="0" dirty="0">
                          <a:latin typeface="Roboto Medium" panose="02000000000000000000" pitchFamily="2" charset="0"/>
                          <a:ea typeface="Roboto Medium" panose="02000000000000000000" pitchFamily="2" charset="0"/>
                        </a:rPr>
                        <a:t>Anzahl Wohneinheiten</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b="0" i="0" dirty="0">
                          <a:latin typeface="Roboto Medium" panose="02000000000000000000" pitchFamily="2" charset="0"/>
                          <a:ea typeface="Roboto Medium" panose="02000000000000000000" pitchFamily="2" charset="0"/>
                        </a:rPr>
                        <a:t>X</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9353942"/>
                  </a:ext>
                </a:extLst>
              </a:tr>
              <a:tr h="288111">
                <a:tc>
                  <a:txBody>
                    <a:bodyPr/>
                    <a:lstStyle/>
                    <a:p>
                      <a:r>
                        <a:rPr lang="de-DE" sz="1000" b="0" i="0" dirty="0">
                          <a:latin typeface="Roboto Medium" panose="02000000000000000000" pitchFamily="2" charset="0"/>
                          <a:ea typeface="Roboto Medium" panose="02000000000000000000" pitchFamily="2" charset="0"/>
                        </a:rPr>
                        <a:t>Mietfläche Wohnen</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b="0" i="0" dirty="0">
                          <a:latin typeface="Roboto Medium" panose="02000000000000000000" pitchFamily="2" charset="0"/>
                          <a:ea typeface="Roboto Medium" panose="02000000000000000000" pitchFamily="2" charset="0"/>
                        </a:rPr>
                        <a:t>X m²</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6902519"/>
                  </a:ext>
                </a:extLst>
              </a:tr>
              <a:tr h="288111">
                <a:tc>
                  <a:txBody>
                    <a:bodyPr/>
                    <a:lstStyle/>
                    <a:p>
                      <a:r>
                        <a:rPr lang="de-DE" sz="1000" b="0" i="0" dirty="0">
                          <a:latin typeface="Roboto Medium" panose="02000000000000000000" pitchFamily="2" charset="0"/>
                          <a:ea typeface="Roboto Medium" panose="02000000000000000000" pitchFamily="2" charset="0"/>
                        </a:rPr>
                        <a:t>Durchschnittsmiete pro m² (Wohnen)</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b="0" i="0" dirty="0">
                          <a:latin typeface="Roboto Medium" panose="02000000000000000000" pitchFamily="2" charset="0"/>
                          <a:ea typeface="Roboto Medium" panose="02000000000000000000" pitchFamily="2" charset="0"/>
                        </a:rPr>
                        <a:t>X,XX € / m²</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00165860"/>
                  </a:ext>
                </a:extLst>
              </a:tr>
              <a:tr h="288111">
                <a:tc>
                  <a:txBody>
                    <a:bodyPr/>
                    <a:lstStyle/>
                    <a:p>
                      <a:r>
                        <a:rPr lang="de-DE" sz="1000" b="0" i="0" dirty="0">
                          <a:latin typeface="Roboto Medium" panose="02000000000000000000" pitchFamily="2" charset="0"/>
                          <a:ea typeface="Roboto Medium" panose="02000000000000000000" pitchFamily="2" charset="0"/>
                        </a:rPr>
                        <a:t>Anzahl Gewerbeeinheiten</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b="0" i="0" baseline="0" dirty="0">
                          <a:latin typeface="Roboto Medium" panose="02000000000000000000" pitchFamily="2" charset="0"/>
                          <a:ea typeface="Roboto Medium" panose="02000000000000000000" pitchFamily="2" charset="0"/>
                        </a:rPr>
                        <a:t>X</a:t>
                      </a:r>
                      <a:endParaRPr lang="de-DE" sz="1000" b="0" i="0" dirty="0">
                        <a:latin typeface="Roboto Medium" panose="02000000000000000000" pitchFamily="2" charset="0"/>
                        <a:ea typeface="Roboto Medium" panose="02000000000000000000" pitchFamily="2" charset="0"/>
                      </a:endParaRP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09033477"/>
                  </a:ext>
                </a:extLst>
              </a:tr>
              <a:tr h="288111">
                <a:tc>
                  <a:txBody>
                    <a:bodyPr/>
                    <a:lstStyle/>
                    <a:p>
                      <a:r>
                        <a:rPr lang="de-DE" sz="1000" b="0" i="0" dirty="0">
                          <a:latin typeface="Roboto Medium" panose="02000000000000000000" pitchFamily="2" charset="0"/>
                          <a:ea typeface="Roboto Medium" panose="02000000000000000000" pitchFamily="2" charset="0"/>
                        </a:rPr>
                        <a:t>Mietfläche Gewerbe</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b="0" i="0" dirty="0">
                          <a:latin typeface="Roboto Medium" panose="02000000000000000000" pitchFamily="2" charset="0"/>
                          <a:ea typeface="Roboto Medium" panose="02000000000000000000" pitchFamily="2" charset="0"/>
                        </a:rPr>
                        <a:t>X m²</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25153058"/>
                  </a:ext>
                </a:extLst>
              </a:tr>
              <a:tr h="288111">
                <a:tc>
                  <a:txBody>
                    <a:bodyPr/>
                    <a:lstStyle/>
                    <a:p>
                      <a:r>
                        <a:rPr lang="de-DE" sz="1000" b="0" i="0" dirty="0">
                          <a:latin typeface="Roboto Medium" panose="02000000000000000000" pitchFamily="2" charset="0"/>
                          <a:ea typeface="Roboto Medium" panose="02000000000000000000" pitchFamily="2" charset="0"/>
                        </a:rPr>
                        <a:t>Durchschnittsmiete pro m² (Gewerbe)</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b="0" i="0" dirty="0">
                          <a:latin typeface="Roboto Medium" panose="02000000000000000000" pitchFamily="2" charset="0"/>
                          <a:ea typeface="Roboto Medium" panose="02000000000000000000" pitchFamily="2" charset="0"/>
                        </a:rPr>
                        <a:t>X,XX € / m²</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56519688"/>
                  </a:ext>
                </a:extLst>
              </a:tr>
              <a:tr h="288111">
                <a:tc>
                  <a:txBody>
                    <a:bodyPr/>
                    <a:lstStyle/>
                    <a:p>
                      <a:r>
                        <a:rPr lang="de-DE" sz="1000" b="0" i="0" dirty="0">
                          <a:latin typeface="Roboto Medium" panose="02000000000000000000" pitchFamily="2" charset="0"/>
                          <a:ea typeface="Roboto Medium" panose="02000000000000000000" pitchFamily="2" charset="0"/>
                        </a:rPr>
                        <a:t>Sonstige Flächen</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b="0" i="0" dirty="0">
                          <a:latin typeface="Roboto Medium" panose="02000000000000000000" pitchFamily="2" charset="0"/>
                          <a:ea typeface="Roboto Medium" panose="02000000000000000000" pitchFamily="2" charset="0"/>
                        </a:rPr>
                        <a:t>X m²</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75267187"/>
                  </a:ext>
                </a:extLst>
              </a:tr>
              <a:tr h="288111">
                <a:tc>
                  <a:txBody>
                    <a:bodyPr/>
                    <a:lstStyle/>
                    <a:p>
                      <a:r>
                        <a:rPr lang="de-DE" sz="1000" b="0" i="0" dirty="0">
                          <a:latin typeface="Roboto Medium" panose="02000000000000000000" pitchFamily="2" charset="0"/>
                          <a:ea typeface="Roboto Medium" panose="02000000000000000000" pitchFamily="2" charset="0"/>
                        </a:rPr>
                        <a:t>Stellplätze</a:t>
                      </a:r>
                    </a:p>
                  </a:txBody>
                  <a:tcPr anchor="ctr">
                    <a:lnT w="3175" cap="flat" cmpd="sng" algn="ctr">
                      <a:solidFill>
                        <a:schemeClr val="bg1"/>
                      </a:solidFill>
                      <a:prstDash val="solid"/>
                      <a:round/>
                      <a:headEnd type="none" w="med" len="med"/>
                      <a:tailEnd type="none" w="med" len="med"/>
                    </a:lnT>
                    <a:solidFill>
                      <a:schemeClr val="bg1">
                        <a:lumMod val="95000"/>
                      </a:schemeClr>
                    </a:solidFill>
                  </a:tcPr>
                </a:tc>
                <a:tc>
                  <a:txBody>
                    <a:bodyPr/>
                    <a:lstStyle/>
                    <a:p>
                      <a:r>
                        <a:rPr lang="de-DE" sz="1000" b="0" i="0" dirty="0">
                          <a:latin typeface="Roboto Medium" panose="02000000000000000000" pitchFamily="2" charset="0"/>
                          <a:ea typeface="Roboto Medium" panose="02000000000000000000" pitchFamily="2" charset="0"/>
                        </a:rPr>
                        <a:t>0</a:t>
                      </a:r>
                    </a:p>
                  </a:txBody>
                  <a:tcPr anchor="ctr">
                    <a:lnT w="3175" cap="flat" cmpd="sng" algn="ctr">
                      <a:solidFill>
                        <a:schemeClr val="bg1"/>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val="997542122"/>
                  </a:ext>
                </a:extLst>
              </a:tr>
            </a:tbl>
          </a:graphicData>
        </a:graphic>
      </p:graphicFrame>
      <p:sp>
        <p:nvSpPr>
          <p:cNvPr id="2" name="Bildplatzhalter 1">
            <a:extLst>
              <a:ext uri="{FF2B5EF4-FFF2-40B4-BE49-F238E27FC236}">
                <a16:creationId xmlns:a16="http://schemas.microsoft.com/office/drawing/2014/main" id="{8ED2CE8A-CE0B-FFD9-423D-5760B940D0E5}"/>
              </a:ext>
            </a:extLst>
          </p:cNvPr>
          <p:cNvSpPr>
            <a:spLocks noGrp="1"/>
          </p:cNvSpPr>
          <p:nvPr>
            <p:ph type="pic" sz="quarter" idx="10"/>
          </p:nvPr>
        </p:nvSpPr>
        <p:spPr>
          <a:xfrm>
            <a:off x="5612056" y="1336675"/>
            <a:ext cx="5186543" cy="5762216"/>
          </a:xfrm>
          <a:solidFill>
            <a:schemeClr val="bg1">
              <a:lumMod val="95000"/>
            </a:schemeClr>
          </a:solidFill>
        </p:spPr>
        <p:txBody>
          <a:bodyPr/>
          <a:lstStyle/>
          <a:p>
            <a:endParaRPr lang="de-DE"/>
          </a:p>
        </p:txBody>
      </p:sp>
      <p:sp>
        <p:nvSpPr>
          <p:cNvPr id="7" name="Textplatzhalter 4">
            <a:extLst>
              <a:ext uri="{FF2B5EF4-FFF2-40B4-BE49-F238E27FC236}">
                <a16:creationId xmlns:a16="http://schemas.microsoft.com/office/drawing/2014/main" id="{EB1C822D-50D4-2A46-4C78-69F70E5F6076}"/>
              </a:ext>
            </a:extLst>
          </p:cNvPr>
          <p:cNvSpPr>
            <a:spLocks noGrp="1"/>
          </p:cNvSpPr>
          <p:nvPr>
            <p:ph type="body" sz="quarter" idx="13" hasCustomPrompt="1"/>
          </p:nvPr>
        </p:nvSpPr>
        <p:spPr>
          <a:xfrm>
            <a:off x="360000" y="356560"/>
            <a:ext cx="9000000" cy="576956"/>
          </a:xfrm>
          <a:prstGeom prst="rect">
            <a:avLst/>
          </a:prstGeom>
        </p:spPr>
        <p:txBody>
          <a:bodyPr lIns="0" tIns="0" rIns="0" bIns="0"/>
          <a:lstStyle>
            <a:lvl1pPr marL="0" indent="0">
              <a:buNone/>
              <a:defRPr sz="4000">
                <a:solidFill>
                  <a:srgbClr val="233567"/>
                </a:solidFill>
                <a:latin typeface="Roboto Medium" panose="02000000000000000000" pitchFamily="2" charset="0"/>
                <a:ea typeface="Roboto Medium" panose="02000000000000000000" pitchFamily="2" charset="0"/>
              </a:defRPr>
            </a:lvl1pPr>
          </a:lstStyle>
          <a:p>
            <a:r>
              <a:rPr lang="de-DE" sz="4000" cap="all" dirty="0">
                <a:solidFill>
                  <a:srgbClr val="233567"/>
                </a:solidFill>
                <a:latin typeface="Roboto Medium" panose="02000000000000000000" pitchFamily="2" charset="0"/>
                <a:ea typeface="Roboto Medium" panose="02000000000000000000" pitchFamily="2" charset="0"/>
                <a:cs typeface="Times New Roman" panose="02020603050405020304" pitchFamily="18" charset="0"/>
              </a:rPr>
              <a:t>immobilienangebot</a:t>
            </a:r>
          </a:p>
        </p:txBody>
      </p:sp>
      <p:sp>
        <p:nvSpPr>
          <p:cNvPr id="9" name="Textplatzhalter 10">
            <a:extLst>
              <a:ext uri="{FF2B5EF4-FFF2-40B4-BE49-F238E27FC236}">
                <a16:creationId xmlns:a16="http://schemas.microsoft.com/office/drawing/2014/main" id="{954F78B3-F455-A65D-1BE8-7974E4BBAD22}"/>
              </a:ext>
            </a:extLst>
          </p:cNvPr>
          <p:cNvSpPr>
            <a:spLocks noGrp="1"/>
          </p:cNvSpPr>
          <p:nvPr>
            <p:ph type="body" sz="quarter" idx="14"/>
          </p:nvPr>
        </p:nvSpPr>
        <p:spPr>
          <a:xfrm>
            <a:off x="359999" y="933516"/>
            <a:ext cx="9000000" cy="252000"/>
          </a:xfrm>
          <a:prstGeom prst="rect">
            <a:avLst/>
          </a:prstGeom>
        </p:spPr>
        <p:txBody>
          <a:bodyPr lIns="0" tIns="0" rIns="0" bIns="0" anchor="t" anchorCtr="0"/>
          <a:lstStyle>
            <a:lvl1pPr marL="0" indent="0">
              <a:buNone/>
              <a:defRPr sz="1200">
                <a:latin typeface="Roboto Light" panose="02000000000000000000" pitchFamily="2" charset="0"/>
                <a:ea typeface="Roboto Light" panose="02000000000000000000" pitchFamily="2" charset="0"/>
              </a:defRPr>
            </a:lvl1pPr>
          </a:lstStyle>
          <a:p>
            <a:r>
              <a:rPr lang="de-DE" dirty="0"/>
              <a:t>Wohn- und Geschäftshaus | Burgstraße 21 | 50xxx Köln</a:t>
            </a:r>
          </a:p>
        </p:txBody>
      </p:sp>
    </p:spTree>
    <p:extLst>
      <p:ext uri="{BB962C8B-B14F-4D97-AF65-F5344CB8AC3E}">
        <p14:creationId xmlns:p14="http://schemas.microsoft.com/office/powerpoint/2010/main" val="945473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elle 7"/>
          <p:cNvGraphicFramePr>
            <a:graphicFrameLocks noGrp="1"/>
          </p:cNvGraphicFramePr>
          <p:nvPr>
            <p:extLst>
              <p:ext uri="{D42A27DB-BD31-4B8C-83A1-F6EECF244321}">
                <p14:modId xmlns:p14="http://schemas.microsoft.com/office/powerpoint/2010/main" val="2252094784"/>
              </p:ext>
            </p:extLst>
          </p:nvPr>
        </p:nvGraphicFramePr>
        <p:xfrm>
          <a:off x="5548569" y="1336293"/>
          <a:ext cx="5236997" cy="5762215"/>
        </p:xfrm>
        <a:graphic>
          <a:graphicData uri="http://schemas.openxmlformats.org/drawingml/2006/table">
            <a:tbl>
              <a:tblPr firstRow="1" bandRow="1">
                <a:tableStyleId>{2D5ABB26-0587-4C30-8999-92F81FD0307C}</a:tableStyleId>
              </a:tblPr>
              <a:tblGrid>
                <a:gridCol w="2398139">
                  <a:extLst>
                    <a:ext uri="{9D8B030D-6E8A-4147-A177-3AD203B41FA5}">
                      <a16:colId xmlns:a16="http://schemas.microsoft.com/office/drawing/2014/main" val="4247747380"/>
                    </a:ext>
                  </a:extLst>
                </a:gridCol>
                <a:gridCol w="2838858">
                  <a:extLst>
                    <a:ext uri="{9D8B030D-6E8A-4147-A177-3AD203B41FA5}">
                      <a16:colId xmlns:a16="http://schemas.microsoft.com/office/drawing/2014/main" val="3851018458"/>
                    </a:ext>
                  </a:extLst>
                </a:gridCol>
              </a:tblGrid>
              <a:tr h="295060">
                <a:tc gridSpan="2">
                  <a:txBody>
                    <a:bodyPr/>
                    <a:lstStyle/>
                    <a:p>
                      <a:r>
                        <a:rPr lang="de-DE" sz="1000" dirty="0">
                          <a:solidFill>
                            <a:schemeClr val="bg1"/>
                          </a:solidFill>
                          <a:latin typeface="Roboto Medium" panose="02000000000000000000" pitchFamily="2" charset="0"/>
                          <a:ea typeface="Roboto Medium" panose="02000000000000000000" pitchFamily="2" charset="0"/>
                        </a:rPr>
                        <a:t>WEITERE</a:t>
                      </a:r>
                      <a:r>
                        <a:rPr lang="de-DE" sz="1000" baseline="0" dirty="0">
                          <a:solidFill>
                            <a:schemeClr val="bg1"/>
                          </a:solidFill>
                          <a:latin typeface="Roboto Medium" panose="02000000000000000000" pitchFamily="2" charset="0"/>
                          <a:ea typeface="Roboto Medium" panose="02000000000000000000" pitchFamily="2" charset="0"/>
                        </a:rPr>
                        <a:t> OBJEKTINFORMATIONEN</a:t>
                      </a:r>
                      <a:endParaRPr lang="de-DE" sz="1000" dirty="0">
                        <a:solidFill>
                          <a:schemeClr val="bg1"/>
                        </a:solidFill>
                        <a:latin typeface="Roboto Medium" panose="02000000000000000000" pitchFamily="2" charset="0"/>
                        <a:ea typeface="Roboto Medium" panose="02000000000000000000" pitchFamily="2" charset="0"/>
                      </a:endParaRPr>
                    </a:p>
                  </a:txBody>
                  <a:tcPr anchor="ctr">
                    <a:solidFill>
                      <a:srgbClr val="233567"/>
                    </a:solidFill>
                  </a:tcPr>
                </a:tc>
                <a:tc hMerge="1">
                  <a:txBody>
                    <a:bodyPr/>
                    <a:lstStyle/>
                    <a:p>
                      <a:endParaRPr lang="de-DE" dirty="0"/>
                    </a:p>
                  </a:txBody>
                  <a:tcPr/>
                </a:tc>
                <a:extLst>
                  <a:ext uri="{0D108BD9-81ED-4DB2-BD59-A6C34878D82A}">
                    <a16:rowId xmlns:a16="http://schemas.microsoft.com/office/drawing/2014/main" val="2281681758"/>
                  </a:ext>
                </a:extLst>
              </a:tr>
              <a:tr h="295060">
                <a:tc>
                  <a:txBody>
                    <a:bodyPr/>
                    <a:lstStyle/>
                    <a:p>
                      <a:pPr algn="l"/>
                      <a:r>
                        <a:rPr lang="de-DE" sz="1000" b="0" i="0" dirty="0">
                          <a:latin typeface="Roboto Medium" panose="02000000000000000000" pitchFamily="2" charset="0"/>
                          <a:ea typeface="Roboto Medium" panose="02000000000000000000" pitchFamily="2" charset="0"/>
                        </a:rPr>
                        <a:t>Baujahr</a:t>
                      </a:r>
                    </a:p>
                  </a:txBody>
                  <a:tcPr anchor="ctr">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de-DE" sz="1000" b="0" i="0" dirty="0">
                          <a:latin typeface="Roboto Medium" panose="02000000000000000000" pitchFamily="2" charset="0"/>
                          <a:ea typeface="Roboto Medium" panose="02000000000000000000" pitchFamily="2" charset="0"/>
                        </a:rPr>
                        <a:t>1955</a:t>
                      </a:r>
                    </a:p>
                  </a:txBody>
                  <a:tcPr anchor="ctr">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2557906"/>
                  </a:ext>
                </a:extLst>
              </a:tr>
              <a:tr h="295060">
                <a:tc>
                  <a:txBody>
                    <a:bodyPr/>
                    <a:lstStyle/>
                    <a:p>
                      <a:pPr algn="l"/>
                      <a:r>
                        <a:rPr lang="de-DE" sz="1000" b="0" i="0" dirty="0">
                          <a:latin typeface="Roboto Medium" panose="02000000000000000000" pitchFamily="2" charset="0"/>
                          <a:ea typeface="Roboto Medium" panose="02000000000000000000" pitchFamily="2" charset="0"/>
                        </a:rPr>
                        <a:t>Geschosszahl</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de-DE" sz="1000" b="0" i="0" dirty="0">
                          <a:latin typeface="Roboto Medium" panose="02000000000000000000" pitchFamily="2" charset="0"/>
                          <a:ea typeface="Roboto Medium" panose="02000000000000000000" pitchFamily="2" charset="0"/>
                        </a:rPr>
                        <a:t>5</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42757671"/>
                  </a:ext>
                </a:extLst>
              </a:tr>
              <a:tr h="295060">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de-DE" sz="1000" b="0" i="0" dirty="0">
                          <a:latin typeface="Roboto Medium" panose="02000000000000000000" pitchFamily="2" charset="0"/>
                          <a:ea typeface="Roboto Medium" panose="02000000000000000000" pitchFamily="2" charset="0"/>
                        </a:rPr>
                        <a:t>Bauweise</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de-DE" sz="1000" b="0" i="0" dirty="0">
                          <a:latin typeface="Roboto Medium" panose="02000000000000000000" pitchFamily="2" charset="0"/>
                          <a:ea typeface="Roboto Medium" panose="02000000000000000000" pitchFamily="2" charset="0"/>
                        </a:rPr>
                        <a:t>Massiv</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02141202"/>
                  </a:ext>
                </a:extLst>
              </a:tr>
              <a:tr h="295060">
                <a:tc>
                  <a:txBody>
                    <a:bodyPr/>
                    <a:lstStyle/>
                    <a:p>
                      <a:pPr algn="l"/>
                      <a:r>
                        <a:rPr lang="de-DE" sz="1000" b="0" i="0" dirty="0">
                          <a:latin typeface="Roboto Medium" panose="02000000000000000000" pitchFamily="2" charset="0"/>
                          <a:ea typeface="Roboto Medium" panose="02000000000000000000" pitchFamily="2" charset="0"/>
                        </a:rPr>
                        <a:t>Geschossdecken</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de-DE" sz="1000" b="0" i="0" dirty="0">
                          <a:latin typeface="Roboto Medium" panose="02000000000000000000" pitchFamily="2" charset="0"/>
                          <a:ea typeface="Roboto Medium" panose="02000000000000000000" pitchFamily="2" charset="0"/>
                        </a:rPr>
                        <a:t>Stahlbeton</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46296349"/>
                  </a:ext>
                </a:extLst>
              </a:tr>
              <a:tr h="295060">
                <a:tc>
                  <a:txBody>
                    <a:bodyPr/>
                    <a:lstStyle/>
                    <a:p>
                      <a:pPr algn="l"/>
                      <a:r>
                        <a:rPr lang="de-DE" sz="1000" b="0" i="0" dirty="0">
                          <a:latin typeface="Roboto Medium" panose="02000000000000000000" pitchFamily="2" charset="0"/>
                          <a:ea typeface="Roboto Medium" panose="02000000000000000000" pitchFamily="2" charset="0"/>
                        </a:rPr>
                        <a:t>Fenster / Verglasung</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de-DE" sz="1000" b="0" i="0" dirty="0">
                          <a:latin typeface="Roboto Medium" panose="02000000000000000000" pitchFamily="2" charset="0"/>
                          <a:ea typeface="Roboto Medium" panose="02000000000000000000" pitchFamily="2" charset="0"/>
                        </a:rPr>
                        <a:t>Kunststoff / doppelt verglast</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58347227"/>
                  </a:ext>
                </a:extLst>
              </a:tr>
              <a:tr h="295060">
                <a:tc>
                  <a:txBody>
                    <a:bodyPr/>
                    <a:lstStyle/>
                    <a:p>
                      <a:pPr algn="l"/>
                      <a:r>
                        <a:rPr lang="de-DE" sz="1000" b="0" i="0" dirty="0">
                          <a:latin typeface="Roboto Medium" panose="02000000000000000000" pitchFamily="2" charset="0"/>
                          <a:ea typeface="Roboto Medium" panose="02000000000000000000" pitchFamily="2" charset="0"/>
                        </a:rPr>
                        <a:t>Heizsystem</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de-DE" sz="1000" b="0" i="0" dirty="0">
                          <a:latin typeface="Roboto Medium" panose="02000000000000000000" pitchFamily="2" charset="0"/>
                          <a:ea typeface="Roboto Medium" panose="02000000000000000000" pitchFamily="2" charset="0"/>
                        </a:rPr>
                        <a:t>Zentralheizung</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66203278"/>
                  </a:ext>
                </a:extLst>
              </a:tr>
              <a:tr h="295060">
                <a:tc>
                  <a:txBody>
                    <a:bodyPr/>
                    <a:lstStyle/>
                    <a:p>
                      <a:pPr algn="l"/>
                      <a:r>
                        <a:rPr lang="de-DE" sz="1000" b="0" i="0" dirty="0">
                          <a:latin typeface="Roboto Medium" panose="02000000000000000000" pitchFamily="2" charset="0"/>
                          <a:ea typeface="Roboto Medium" panose="02000000000000000000" pitchFamily="2" charset="0"/>
                        </a:rPr>
                        <a:t>Energieträger</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de-DE" sz="1000" b="0" i="0" dirty="0">
                          <a:latin typeface="Roboto Medium" panose="02000000000000000000" pitchFamily="2" charset="0"/>
                          <a:ea typeface="Roboto Medium" panose="02000000000000000000" pitchFamily="2" charset="0"/>
                        </a:rPr>
                        <a:t>Gas</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29545103"/>
                  </a:ext>
                </a:extLst>
              </a:tr>
              <a:tr h="295060">
                <a:tc>
                  <a:txBody>
                    <a:bodyPr/>
                    <a:lstStyle/>
                    <a:p>
                      <a:pPr algn="l"/>
                      <a:r>
                        <a:rPr lang="de-DE" sz="1000" b="0" i="0" dirty="0">
                          <a:latin typeface="Roboto Medium" panose="02000000000000000000" pitchFamily="2" charset="0"/>
                          <a:ea typeface="Roboto Medium" panose="02000000000000000000" pitchFamily="2" charset="0"/>
                        </a:rPr>
                        <a:t>Baujahr</a:t>
                      </a:r>
                      <a:r>
                        <a:rPr lang="de-DE" sz="1000" b="0" i="0" baseline="0" dirty="0">
                          <a:latin typeface="Roboto Medium" panose="02000000000000000000" pitchFamily="2" charset="0"/>
                          <a:ea typeface="Roboto Medium" panose="02000000000000000000" pitchFamily="2" charset="0"/>
                        </a:rPr>
                        <a:t> Heizung</a:t>
                      </a:r>
                      <a:endParaRPr lang="de-DE" sz="1000" b="0" i="0" dirty="0">
                        <a:latin typeface="Roboto Medium" panose="02000000000000000000" pitchFamily="2" charset="0"/>
                        <a:ea typeface="Roboto Medium" panose="02000000000000000000" pitchFamily="2" charset="0"/>
                      </a:endParaRP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de-DE" sz="1000" b="0" i="0" dirty="0">
                          <a:solidFill>
                            <a:schemeClr val="tx1"/>
                          </a:solidFill>
                          <a:latin typeface="Roboto Medium" panose="02000000000000000000" pitchFamily="2" charset="0"/>
                          <a:ea typeface="Roboto Medium" panose="02000000000000000000" pitchFamily="2" charset="0"/>
                        </a:rPr>
                        <a:t>2005</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3896354"/>
                  </a:ext>
                </a:extLst>
              </a:tr>
              <a:tr h="295060">
                <a:tc>
                  <a:txBody>
                    <a:bodyPr/>
                    <a:lstStyle/>
                    <a:p>
                      <a:pPr algn="l"/>
                      <a:r>
                        <a:rPr lang="de-DE" sz="1000" b="0" i="0" dirty="0">
                          <a:latin typeface="Roboto Medium" panose="02000000000000000000" pitchFamily="2" charset="0"/>
                          <a:ea typeface="Roboto Medium" panose="02000000000000000000" pitchFamily="2" charset="0"/>
                        </a:rPr>
                        <a:t>Balkone</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de-DE" sz="1000" b="0" i="0" dirty="0">
                          <a:latin typeface="Roboto Medium" panose="02000000000000000000" pitchFamily="2" charset="0"/>
                          <a:ea typeface="Roboto Medium" panose="02000000000000000000" pitchFamily="2" charset="0"/>
                        </a:rPr>
                        <a:t>5</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28984583"/>
                  </a:ext>
                </a:extLst>
              </a:tr>
              <a:tr h="295060">
                <a:tc>
                  <a:txBody>
                    <a:bodyPr/>
                    <a:lstStyle/>
                    <a:p>
                      <a:pPr algn="l"/>
                      <a:r>
                        <a:rPr lang="de-DE" sz="1000" b="0" i="0" dirty="0">
                          <a:latin typeface="Roboto Medium" panose="02000000000000000000" pitchFamily="2" charset="0"/>
                          <a:ea typeface="Roboto Medium" panose="02000000000000000000" pitchFamily="2" charset="0"/>
                        </a:rPr>
                        <a:t>Aufzug</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de-DE" sz="1000" b="0" i="0" dirty="0">
                          <a:latin typeface="Roboto Medium" panose="02000000000000000000" pitchFamily="2" charset="0"/>
                          <a:ea typeface="Roboto Medium" panose="02000000000000000000" pitchFamily="2" charset="0"/>
                        </a:rPr>
                        <a:t>Nein</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23289179"/>
                  </a:ext>
                </a:extLst>
              </a:tr>
              <a:tr h="295060">
                <a:tc>
                  <a:txBody>
                    <a:bodyPr/>
                    <a:lstStyle/>
                    <a:p>
                      <a:pPr algn="l"/>
                      <a:r>
                        <a:rPr lang="de-DE" sz="1000" b="0" i="0" dirty="0">
                          <a:latin typeface="Roboto Medium" panose="02000000000000000000" pitchFamily="2" charset="0"/>
                          <a:ea typeface="Roboto Medium" panose="02000000000000000000" pitchFamily="2" charset="0"/>
                        </a:rPr>
                        <a:t>Dachgeschoss</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de-DE" sz="1000" b="0" i="0" dirty="0">
                          <a:latin typeface="Roboto Medium" panose="02000000000000000000" pitchFamily="2" charset="0"/>
                          <a:ea typeface="Roboto Medium" panose="02000000000000000000" pitchFamily="2" charset="0"/>
                        </a:rPr>
                        <a:t>Ausgebaut</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08715311"/>
                  </a:ext>
                </a:extLst>
              </a:tr>
              <a:tr h="295060">
                <a:tc>
                  <a:txBody>
                    <a:bodyPr/>
                    <a:lstStyle/>
                    <a:p>
                      <a:pPr algn="l"/>
                      <a:r>
                        <a:rPr lang="de-DE" sz="1000" b="0" i="0" dirty="0">
                          <a:latin typeface="Roboto Medium" panose="02000000000000000000" pitchFamily="2" charset="0"/>
                          <a:ea typeface="Roboto Medium" panose="02000000000000000000" pitchFamily="2" charset="0"/>
                        </a:rPr>
                        <a:t>Denkmalschutz</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de-DE" sz="1000" b="0" i="0" dirty="0">
                          <a:latin typeface="Roboto Medium" panose="02000000000000000000" pitchFamily="2" charset="0"/>
                          <a:ea typeface="Roboto Medium" panose="02000000000000000000" pitchFamily="2" charset="0"/>
                        </a:rPr>
                        <a:t>ja / nein</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67237504"/>
                  </a:ext>
                </a:extLst>
              </a:tr>
              <a:tr h="1926435">
                <a:tc gridSpan="2">
                  <a:txBody>
                    <a:bodyPr/>
                    <a:lstStyle/>
                    <a:p>
                      <a:pPr algn="l"/>
                      <a:r>
                        <a:rPr lang="de-DE" sz="1000" b="0" i="0" u="sng" dirty="0">
                          <a:latin typeface="Roboto Medium" panose="02000000000000000000" pitchFamily="2" charset="0"/>
                          <a:ea typeface="Roboto Medium" panose="02000000000000000000" pitchFamily="2" charset="0"/>
                        </a:rPr>
                        <a:t>Besonderheiten:  </a:t>
                      </a:r>
                    </a:p>
                    <a:p>
                      <a:pPr algn="l"/>
                      <a:endParaRPr lang="de-DE" sz="1000" b="0" i="0" dirty="0">
                        <a:solidFill>
                          <a:srgbClr val="233567"/>
                        </a:solidFill>
                        <a:latin typeface="Roboto Medium" panose="02000000000000000000" pitchFamily="2" charset="0"/>
                        <a:ea typeface="Roboto Medium" panose="02000000000000000000" pitchFamily="2" charset="0"/>
                      </a:endParaRPr>
                    </a:p>
                    <a:p>
                      <a:pPr marL="171450" indent="-171450" algn="l">
                        <a:buFont typeface="Symbol" pitchFamily="2" charset="2"/>
                        <a:buChar char="-"/>
                      </a:pPr>
                      <a:r>
                        <a:rPr lang="de-DE" sz="1000" b="0" i="0" dirty="0">
                          <a:solidFill>
                            <a:schemeClr val="tx1"/>
                          </a:solidFill>
                          <a:latin typeface="Roboto Medium" panose="02000000000000000000" pitchFamily="2" charset="0"/>
                          <a:ea typeface="Roboto Medium" panose="02000000000000000000" pitchFamily="2" charset="0"/>
                        </a:rPr>
                        <a:t>Top-Lage zwischen Rheinauhafen und </a:t>
                      </a:r>
                      <a:r>
                        <a:rPr lang="de-DE" sz="1000" b="0" i="0" dirty="0" err="1">
                          <a:solidFill>
                            <a:schemeClr val="tx1"/>
                          </a:solidFill>
                          <a:latin typeface="Roboto Medium" panose="02000000000000000000" pitchFamily="2" charset="0"/>
                          <a:ea typeface="Roboto Medium" panose="02000000000000000000" pitchFamily="2" charset="0"/>
                        </a:rPr>
                        <a:t>Severinsviertel</a:t>
                      </a:r>
                      <a:endParaRPr lang="de-DE" sz="1000" b="0" i="0" dirty="0">
                        <a:solidFill>
                          <a:schemeClr val="tx1"/>
                        </a:solidFill>
                        <a:latin typeface="Roboto Medium" panose="02000000000000000000" pitchFamily="2" charset="0"/>
                        <a:ea typeface="Roboto Medium" panose="02000000000000000000" pitchFamily="2" charset="0"/>
                      </a:endParaRPr>
                    </a:p>
                    <a:p>
                      <a:pPr marL="171450" indent="-171450" algn="l">
                        <a:buFont typeface="Symbol" pitchFamily="2" charset="2"/>
                        <a:buChar char="-"/>
                      </a:pPr>
                      <a:endParaRPr lang="de-DE" sz="1000" b="0" i="0" dirty="0">
                        <a:solidFill>
                          <a:schemeClr val="tx1"/>
                        </a:solidFill>
                        <a:latin typeface="Roboto Medium" panose="02000000000000000000" pitchFamily="2" charset="0"/>
                        <a:ea typeface="Roboto Medium" panose="02000000000000000000" pitchFamily="2" charset="0"/>
                      </a:endParaRPr>
                    </a:p>
                    <a:p>
                      <a:pPr marL="171450" indent="-171450" algn="l">
                        <a:buFont typeface="Symbol" pitchFamily="2" charset="2"/>
                        <a:buChar char="-"/>
                      </a:pPr>
                      <a:r>
                        <a:rPr lang="de-DE" sz="1000" b="0" i="0" dirty="0">
                          <a:solidFill>
                            <a:schemeClr val="tx1"/>
                          </a:solidFill>
                          <a:latin typeface="Roboto Medium" panose="02000000000000000000" pitchFamily="2" charset="0"/>
                          <a:ea typeface="Roboto Medium" panose="02000000000000000000" pitchFamily="2" charset="0"/>
                        </a:rPr>
                        <a:t>Ausbaupotenzial im Dachgeschoss denkbar</a:t>
                      </a:r>
                    </a:p>
                    <a:p>
                      <a:pPr marL="171450" indent="-171450" algn="l">
                        <a:buFont typeface="Symbol" pitchFamily="2" charset="2"/>
                        <a:buChar char="-"/>
                      </a:pPr>
                      <a:endParaRPr lang="de-DE" sz="1000" b="0" i="0" dirty="0">
                        <a:solidFill>
                          <a:schemeClr val="tx1"/>
                        </a:solidFill>
                        <a:latin typeface="Roboto Medium" panose="02000000000000000000" pitchFamily="2" charset="0"/>
                        <a:ea typeface="Roboto Medium" panose="02000000000000000000" pitchFamily="2" charset="0"/>
                      </a:endParaRPr>
                    </a:p>
                    <a:p>
                      <a:pPr marL="171450" indent="-171450" algn="l">
                        <a:buFont typeface="Symbol" pitchFamily="2" charset="2"/>
                        <a:buChar char="-"/>
                      </a:pPr>
                      <a:r>
                        <a:rPr lang="de-DE" sz="1000" b="0" i="0" dirty="0">
                          <a:solidFill>
                            <a:schemeClr val="tx1"/>
                          </a:solidFill>
                          <a:latin typeface="Roboto Medium" panose="02000000000000000000" pitchFamily="2" charset="0"/>
                          <a:ea typeface="Roboto Medium" panose="02000000000000000000" pitchFamily="2" charset="0"/>
                        </a:rPr>
                        <a:t>3 von 4 Wohnungen können kurz- bis mittelfristig frei werden (Nach Absprache)</a:t>
                      </a:r>
                    </a:p>
                    <a:p>
                      <a:pPr marL="171450" indent="-171450" algn="l">
                        <a:buFont typeface="Symbol" pitchFamily="2" charset="2"/>
                        <a:buChar char="-"/>
                      </a:pPr>
                      <a:endParaRPr lang="de-DE" sz="1000" b="0" i="0" dirty="0">
                        <a:solidFill>
                          <a:schemeClr val="tx1"/>
                        </a:solidFill>
                        <a:latin typeface="Roboto Medium" panose="02000000000000000000" pitchFamily="2" charset="0"/>
                        <a:ea typeface="Roboto Medium" panose="02000000000000000000" pitchFamily="2" charset="0"/>
                      </a:endParaRPr>
                    </a:p>
                    <a:p>
                      <a:pPr marL="171450" indent="-171450" algn="l">
                        <a:buFont typeface="Symbol" pitchFamily="2" charset="2"/>
                        <a:buChar char="-"/>
                      </a:pPr>
                      <a:r>
                        <a:rPr lang="de-DE" sz="1000" b="0" i="0" dirty="0">
                          <a:solidFill>
                            <a:schemeClr val="tx1"/>
                          </a:solidFill>
                          <a:latin typeface="Roboto Medium" panose="02000000000000000000" pitchFamily="2" charset="0"/>
                          <a:ea typeface="Roboto Medium" panose="02000000000000000000" pitchFamily="2" charset="0"/>
                        </a:rPr>
                        <a:t>Teilweise Balkone</a:t>
                      </a:r>
                    </a:p>
                    <a:p>
                      <a:pPr marL="171450" indent="-171450" algn="l">
                        <a:buFont typeface="Symbol" pitchFamily="2" charset="2"/>
                        <a:buChar char="-"/>
                      </a:pPr>
                      <a:endParaRPr lang="de-DE" sz="1000" b="0" i="0" dirty="0">
                        <a:solidFill>
                          <a:schemeClr val="tx1"/>
                        </a:solidFill>
                        <a:latin typeface="Roboto Medium" panose="02000000000000000000" pitchFamily="2" charset="0"/>
                        <a:ea typeface="Roboto Medium" panose="02000000000000000000" pitchFamily="2" charset="0"/>
                      </a:endParaRPr>
                    </a:p>
                    <a:p>
                      <a:pPr marL="171450" indent="-171450" algn="l">
                        <a:buFont typeface="Symbol" pitchFamily="2" charset="2"/>
                        <a:buChar char="-"/>
                      </a:pPr>
                      <a:r>
                        <a:rPr lang="de-DE" sz="1000" b="0" i="0" dirty="0">
                          <a:solidFill>
                            <a:schemeClr val="tx1"/>
                          </a:solidFill>
                          <a:latin typeface="Roboto Medium" panose="02000000000000000000" pitchFamily="2" charset="0"/>
                          <a:ea typeface="Roboto Medium" panose="02000000000000000000" pitchFamily="2" charset="0"/>
                        </a:rPr>
                        <a:t>Gaszentralheizung aus 2018</a:t>
                      </a:r>
                    </a:p>
                    <a:p>
                      <a:pPr marL="171450" indent="-171450" algn="l">
                        <a:buFont typeface="Symbol" pitchFamily="2" charset="2"/>
                        <a:buChar char="-"/>
                      </a:pPr>
                      <a:endParaRPr lang="de-DE" sz="1000" b="0" i="0" dirty="0">
                        <a:solidFill>
                          <a:schemeClr val="tx1"/>
                        </a:solidFill>
                        <a:latin typeface="Roboto Medium" panose="02000000000000000000" pitchFamily="2" charset="0"/>
                        <a:ea typeface="Roboto Medium" panose="02000000000000000000" pitchFamily="2" charset="0"/>
                      </a:endParaRPr>
                    </a:p>
                  </a:txBody>
                  <a:tcP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hMerge="1">
                  <a:txBody>
                    <a:bodyPr/>
                    <a:lstStyle/>
                    <a:p>
                      <a:pPr algn="l"/>
                      <a:endParaRPr lang="de-DE" sz="1000" dirty="0">
                        <a:latin typeface="BNPP Sans" panose="02000000000000000000" pitchFamily="50" charset="0"/>
                      </a:endParaRP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161022061"/>
                  </a:ext>
                </a:extLst>
              </a:tr>
            </a:tbl>
          </a:graphicData>
        </a:graphic>
      </p:graphicFrame>
      <p:sp>
        <p:nvSpPr>
          <p:cNvPr id="2" name="Bildplatzhalter 1">
            <a:extLst>
              <a:ext uri="{FF2B5EF4-FFF2-40B4-BE49-F238E27FC236}">
                <a16:creationId xmlns:a16="http://schemas.microsoft.com/office/drawing/2014/main" id="{75208FF4-23B6-EE39-6137-C2B3C09DF5C3}"/>
              </a:ext>
            </a:extLst>
          </p:cNvPr>
          <p:cNvSpPr>
            <a:spLocks noGrp="1"/>
          </p:cNvSpPr>
          <p:nvPr>
            <p:ph type="pic" sz="quarter" idx="10"/>
          </p:nvPr>
        </p:nvSpPr>
        <p:spPr>
          <a:xfrm>
            <a:off x="374557" y="1336299"/>
            <a:ext cx="5025505" cy="5762209"/>
          </a:xfrm>
          <a:solidFill>
            <a:schemeClr val="bg1">
              <a:lumMod val="95000"/>
            </a:schemeClr>
          </a:solidFill>
        </p:spPr>
        <p:txBody>
          <a:bodyPr/>
          <a:lstStyle/>
          <a:p>
            <a:endParaRPr lang="de-DE"/>
          </a:p>
        </p:txBody>
      </p:sp>
      <p:sp>
        <p:nvSpPr>
          <p:cNvPr id="3" name="Textplatzhalter 2">
            <a:extLst>
              <a:ext uri="{FF2B5EF4-FFF2-40B4-BE49-F238E27FC236}">
                <a16:creationId xmlns:a16="http://schemas.microsoft.com/office/drawing/2014/main" id="{0E67C7E7-EF60-D67B-8586-06DFDC5FB36C}"/>
              </a:ext>
            </a:extLst>
          </p:cNvPr>
          <p:cNvSpPr>
            <a:spLocks noGrp="1"/>
          </p:cNvSpPr>
          <p:nvPr>
            <p:ph type="body" sz="quarter" idx="13"/>
          </p:nvPr>
        </p:nvSpPr>
        <p:spPr/>
        <p:txBody>
          <a:bodyPr/>
          <a:lstStyle/>
          <a:p>
            <a:r>
              <a:rPr lang="de-DE" sz="4000" cap="all" dirty="0">
                <a:solidFill>
                  <a:srgbClr val="233567"/>
                </a:solidFill>
                <a:latin typeface="Roboto Medium" panose="02000000000000000000" pitchFamily="2" charset="0"/>
                <a:ea typeface="Roboto Medium" panose="02000000000000000000" pitchFamily="2" charset="0"/>
                <a:cs typeface="Times New Roman" panose="02020603050405020304" pitchFamily="18" charset="0"/>
              </a:rPr>
              <a:t>Objektinformationen</a:t>
            </a:r>
          </a:p>
        </p:txBody>
      </p:sp>
      <p:sp>
        <p:nvSpPr>
          <p:cNvPr id="4" name="Textplatzhalter 3">
            <a:extLst>
              <a:ext uri="{FF2B5EF4-FFF2-40B4-BE49-F238E27FC236}">
                <a16:creationId xmlns:a16="http://schemas.microsoft.com/office/drawing/2014/main" id="{3C6B7605-B678-E783-5C97-E40BDE772EF7}"/>
              </a:ext>
            </a:extLst>
          </p:cNvPr>
          <p:cNvSpPr>
            <a:spLocks noGrp="1"/>
          </p:cNvSpPr>
          <p:nvPr>
            <p:ph type="body" sz="quarter" idx="14"/>
          </p:nvPr>
        </p:nvSpPr>
        <p:spPr/>
        <p:txBody>
          <a:bodyPr/>
          <a:lstStyle/>
          <a:p>
            <a:r>
              <a:rPr lang="de-DE" sz="1200" dirty="0">
                <a:latin typeface="Roboto Light" panose="02000000000000000000" pitchFamily="2" charset="0"/>
                <a:ea typeface="Roboto Light" panose="02000000000000000000" pitchFamily="2" charset="0"/>
                <a:cs typeface="Times New Roman" panose="02020603050405020304" pitchFamily="18" charset="0"/>
              </a:rPr>
              <a:t>Wohn- und Geschäftshaus </a:t>
            </a:r>
            <a:r>
              <a:rPr lang="de-DE" sz="1200" dirty="0">
                <a:effectLst/>
                <a:latin typeface="Roboto Light" panose="02000000000000000000" pitchFamily="2" charset="0"/>
                <a:ea typeface="Roboto Light" panose="02000000000000000000" pitchFamily="2" charset="0"/>
                <a:cs typeface="Times New Roman" panose="02020603050405020304" pitchFamily="18" charset="0"/>
              </a:rPr>
              <a:t>| Burgstraße 21 | 50xxx Köln</a:t>
            </a:r>
            <a:endParaRPr lang="de-DE" sz="1100" dirty="0">
              <a:effectLst/>
              <a:latin typeface="Roboto Light" panose="02000000000000000000" pitchFamily="2" charset="0"/>
              <a:ea typeface="Roboto Light"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980800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B4508403-81A8-2C51-BFF9-A7FAA172CC6E}"/>
              </a:ext>
            </a:extLst>
          </p:cNvPr>
          <p:cNvSpPr>
            <a:spLocks noGrp="1"/>
          </p:cNvSpPr>
          <p:nvPr>
            <p:ph type="body" sz="quarter" idx="13"/>
          </p:nvPr>
        </p:nvSpPr>
        <p:spPr/>
        <p:txBody>
          <a:bodyPr/>
          <a:lstStyle/>
          <a:p>
            <a:r>
              <a:rPr lang="de-DE" sz="4000" cap="all" dirty="0" err="1">
                <a:solidFill>
                  <a:srgbClr val="233567"/>
                </a:solidFill>
                <a:latin typeface="Roboto Medium" panose="02000000000000000000" pitchFamily="2" charset="0"/>
                <a:ea typeface="Roboto Medium" panose="02000000000000000000" pitchFamily="2" charset="0"/>
                <a:cs typeface="Times New Roman" panose="02020603050405020304" pitchFamily="18" charset="0"/>
              </a:rPr>
              <a:t>mieterübersicht</a:t>
            </a:r>
            <a:endParaRPr lang="de-DE" sz="4000" cap="all" dirty="0">
              <a:solidFill>
                <a:srgbClr val="233567"/>
              </a:solidFill>
              <a:latin typeface="Roboto Medium" panose="02000000000000000000" pitchFamily="2" charset="0"/>
              <a:ea typeface="Roboto Medium" panose="02000000000000000000" pitchFamily="2" charset="0"/>
              <a:cs typeface="Times New Roman" panose="02020603050405020304" pitchFamily="18" charset="0"/>
            </a:endParaRPr>
          </a:p>
        </p:txBody>
      </p:sp>
      <p:sp>
        <p:nvSpPr>
          <p:cNvPr id="4" name="Textplatzhalter 3">
            <a:extLst>
              <a:ext uri="{FF2B5EF4-FFF2-40B4-BE49-F238E27FC236}">
                <a16:creationId xmlns:a16="http://schemas.microsoft.com/office/drawing/2014/main" id="{093493AB-86D1-861D-FE9B-DA3E8D7BA49C}"/>
              </a:ext>
            </a:extLst>
          </p:cNvPr>
          <p:cNvSpPr>
            <a:spLocks noGrp="1"/>
          </p:cNvSpPr>
          <p:nvPr>
            <p:ph type="body" sz="quarter" idx="14"/>
          </p:nvPr>
        </p:nvSpPr>
        <p:spPr/>
        <p:txBody>
          <a:bodyPr/>
          <a:lstStyle/>
          <a:p>
            <a:r>
              <a:rPr lang="de-DE" sz="1200" dirty="0">
                <a:latin typeface="Roboto Light" panose="02000000000000000000" pitchFamily="2" charset="0"/>
                <a:ea typeface="Roboto Light" panose="02000000000000000000" pitchFamily="2" charset="0"/>
                <a:cs typeface="Times New Roman" panose="02020603050405020304" pitchFamily="18" charset="0"/>
              </a:rPr>
              <a:t>Wohn- und Geschäftshaus </a:t>
            </a:r>
            <a:r>
              <a:rPr lang="de-DE" sz="1200" dirty="0">
                <a:effectLst/>
                <a:latin typeface="Roboto Light" panose="02000000000000000000" pitchFamily="2" charset="0"/>
                <a:ea typeface="Roboto Light" panose="02000000000000000000" pitchFamily="2" charset="0"/>
                <a:cs typeface="Times New Roman" panose="02020603050405020304" pitchFamily="18" charset="0"/>
              </a:rPr>
              <a:t>| Burgstraße 21 | 50xxx Köln</a:t>
            </a:r>
            <a:endParaRPr lang="de-DE" sz="1100" dirty="0">
              <a:effectLst/>
              <a:latin typeface="Roboto Light" panose="02000000000000000000" pitchFamily="2" charset="0"/>
              <a:ea typeface="Roboto Light" panose="02000000000000000000" pitchFamily="2" charset="0"/>
              <a:cs typeface="Times New Roman" panose="02020603050405020304" pitchFamily="18" charset="0"/>
            </a:endParaRPr>
          </a:p>
        </p:txBody>
      </p:sp>
      <p:graphicFrame>
        <p:nvGraphicFramePr>
          <p:cNvPr id="2" name="Tabelle 1">
            <a:extLst>
              <a:ext uri="{FF2B5EF4-FFF2-40B4-BE49-F238E27FC236}">
                <a16:creationId xmlns:a16="http://schemas.microsoft.com/office/drawing/2014/main" id="{0B1EB71C-89AF-1FE8-239B-1BCC7609D394}"/>
              </a:ext>
            </a:extLst>
          </p:cNvPr>
          <p:cNvGraphicFramePr>
            <a:graphicFrameLocks noGrp="1"/>
          </p:cNvGraphicFramePr>
          <p:nvPr>
            <p:extLst>
              <p:ext uri="{D42A27DB-BD31-4B8C-83A1-F6EECF244321}">
                <p14:modId xmlns:p14="http://schemas.microsoft.com/office/powerpoint/2010/main" val="72210066"/>
              </p:ext>
            </p:extLst>
          </p:nvPr>
        </p:nvGraphicFramePr>
        <p:xfrm>
          <a:off x="360000" y="1673861"/>
          <a:ext cx="10425566" cy="3501454"/>
        </p:xfrm>
        <a:graphic>
          <a:graphicData uri="http://schemas.openxmlformats.org/drawingml/2006/table">
            <a:tbl>
              <a:tblPr firstRow="1" bandRow="1">
                <a:tableStyleId>{2D5ABB26-0587-4C30-8999-92F81FD0307C}</a:tableStyleId>
              </a:tblPr>
              <a:tblGrid>
                <a:gridCol w="888355">
                  <a:extLst>
                    <a:ext uri="{9D8B030D-6E8A-4147-A177-3AD203B41FA5}">
                      <a16:colId xmlns:a16="http://schemas.microsoft.com/office/drawing/2014/main" val="3803664555"/>
                    </a:ext>
                  </a:extLst>
                </a:gridCol>
                <a:gridCol w="930302">
                  <a:extLst>
                    <a:ext uri="{9D8B030D-6E8A-4147-A177-3AD203B41FA5}">
                      <a16:colId xmlns:a16="http://schemas.microsoft.com/office/drawing/2014/main" val="2710944148"/>
                    </a:ext>
                  </a:extLst>
                </a:gridCol>
                <a:gridCol w="795131">
                  <a:extLst>
                    <a:ext uri="{9D8B030D-6E8A-4147-A177-3AD203B41FA5}">
                      <a16:colId xmlns:a16="http://schemas.microsoft.com/office/drawing/2014/main" val="817853889"/>
                    </a:ext>
                  </a:extLst>
                </a:gridCol>
                <a:gridCol w="1216549">
                  <a:extLst>
                    <a:ext uri="{9D8B030D-6E8A-4147-A177-3AD203B41FA5}">
                      <a16:colId xmlns:a16="http://schemas.microsoft.com/office/drawing/2014/main" val="1924014734"/>
                    </a:ext>
                  </a:extLst>
                </a:gridCol>
                <a:gridCol w="962108">
                  <a:extLst>
                    <a:ext uri="{9D8B030D-6E8A-4147-A177-3AD203B41FA5}">
                      <a16:colId xmlns:a16="http://schemas.microsoft.com/office/drawing/2014/main" val="641192470"/>
                    </a:ext>
                  </a:extLst>
                </a:gridCol>
                <a:gridCol w="978011">
                  <a:extLst>
                    <a:ext uri="{9D8B030D-6E8A-4147-A177-3AD203B41FA5}">
                      <a16:colId xmlns:a16="http://schemas.microsoft.com/office/drawing/2014/main" val="2003279720"/>
                    </a:ext>
                  </a:extLst>
                </a:gridCol>
                <a:gridCol w="1804946">
                  <a:extLst>
                    <a:ext uri="{9D8B030D-6E8A-4147-A177-3AD203B41FA5}">
                      <a16:colId xmlns:a16="http://schemas.microsoft.com/office/drawing/2014/main" val="3378065269"/>
                    </a:ext>
                  </a:extLst>
                </a:gridCol>
                <a:gridCol w="2850164">
                  <a:extLst>
                    <a:ext uri="{9D8B030D-6E8A-4147-A177-3AD203B41FA5}">
                      <a16:colId xmlns:a16="http://schemas.microsoft.com/office/drawing/2014/main" val="4103374219"/>
                    </a:ext>
                  </a:extLst>
                </a:gridCol>
              </a:tblGrid>
              <a:tr h="464252">
                <a:tc>
                  <a:txBody>
                    <a:bodyPr/>
                    <a:lstStyle/>
                    <a:p>
                      <a:pPr algn="l"/>
                      <a:r>
                        <a:rPr lang="de-DE" sz="1000" dirty="0">
                          <a:solidFill>
                            <a:schemeClr val="bg1"/>
                          </a:solidFill>
                          <a:latin typeface="Roboto Flex" panose="02000000000000000000" pitchFamily="2" charset="0"/>
                          <a:ea typeface="Roboto Flex" panose="02000000000000000000" pitchFamily="2" charset="0"/>
                        </a:rPr>
                        <a:t>LAGE</a:t>
                      </a:r>
                    </a:p>
                  </a:txBody>
                  <a:tcPr marT="0" anchor="ctr">
                    <a:solidFill>
                      <a:srgbClr val="233567"/>
                    </a:solidFill>
                  </a:tcPr>
                </a:tc>
                <a:tc>
                  <a:txBody>
                    <a:bodyPr/>
                    <a:lstStyle/>
                    <a:p>
                      <a:pPr algn="l"/>
                      <a:r>
                        <a:rPr lang="de-DE" sz="1000" dirty="0">
                          <a:solidFill>
                            <a:schemeClr val="bg1"/>
                          </a:solidFill>
                          <a:latin typeface="Roboto Flex" panose="02000000000000000000" pitchFamily="2" charset="0"/>
                          <a:ea typeface="Roboto Flex" panose="02000000000000000000" pitchFamily="2" charset="0"/>
                        </a:rPr>
                        <a:t>NUTZUNG</a:t>
                      </a:r>
                    </a:p>
                  </a:txBody>
                  <a:tcPr marT="0" anchor="ctr">
                    <a:solidFill>
                      <a:srgbClr val="233567"/>
                    </a:solidFill>
                  </a:tcPr>
                </a:tc>
                <a:tc>
                  <a:txBody>
                    <a:bodyPr/>
                    <a:lstStyle/>
                    <a:p>
                      <a:pPr algn="l"/>
                      <a:r>
                        <a:rPr lang="de-DE" sz="1000" kern="1200" cap="all" dirty="0">
                          <a:solidFill>
                            <a:schemeClr val="bg1"/>
                          </a:solidFill>
                          <a:effectLst/>
                          <a:latin typeface="Roboto Flex" panose="02000000000000000000" pitchFamily="2" charset="0"/>
                          <a:ea typeface="Roboto Flex" panose="02000000000000000000" pitchFamily="2" charset="0"/>
                        </a:rPr>
                        <a:t>Fläche</a:t>
                      </a:r>
                      <a:endParaRPr lang="de-DE" sz="1000" dirty="0">
                        <a:solidFill>
                          <a:schemeClr val="bg1"/>
                        </a:solidFill>
                        <a:latin typeface="Roboto Flex" panose="02000000000000000000" pitchFamily="2" charset="0"/>
                        <a:ea typeface="Roboto Flex" panose="02000000000000000000" pitchFamily="2" charset="0"/>
                      </a:endParaRPr>
                    </a:p>
                  </a:txBody>
                  <a:tcPr marT="0" anchor="ctr">
                    <a:solidFill>
                      <a:srgbClr val="233567"/>
                    </a:solidFill>
                  </a:tcPr>
                </a:tc>
                <a:tc>
                  <a:txBody>
                    <a:bodyPr/>
                    <a:lstStyle/>
                    <a:p>
                      <a:pPr algn="l"/>
                      <a:r>
                        <a:rPr lang="de-DE" sz="1000" kern="1200" cap="all" dirty="0" err="1">
                          <a:solidFill>
                            <a:schemeClr val="bg1"/>
                          </a:solidFill>
                          <a:effectLst/>
                          <a:latin typeface="Roboto Flex" panose="02000000000000000000" pitchFamily="2" charset="0"/>
                          <a:ea typeface="Roboto Flex" panose="02000000000000000000" pitchFamily="2" charset="0"/>
                        </a:rPr>
                        <a:t>kaltMIETE</a:t>
                      </a:r>
                      <a:r>
                        <a:rPr lang="de-DE" sz="1000" kern="1200" cap="all" dirty="0">
                          <a:solidFill>
                            <a:schemeClr val="bg1"/>
                          </a:solidFill>
                          <a:effectLst/>
                          <a:latin typeface="Roboto Flex" panose="02000000000000000000" pitchFamily="2" charset="0"/>
                          <a:ea typeface="Roboto Flex" panose="02000000000000000000" pitchFamily="2" charset="0"/>
                        </a:rPr>
                        <a:t> (Ist)</a:t>
                      </a:r>
                      <a:endParaRPr lang="de-DE" sz="1000" dirty="0">
                        <a:solidFill>
                          <a:schemeClr val="bg1"/>
                        </a:solidFill>
                        <a:latin typeface="Roboto Flex" panose="02000000000000000000" pitchFamily="2" charset="0"/>
                        <a:ea typeface="Roboto Flex" panose="02000000000000000000" pitchFamily="2" charset="0"/>
                      </a:endParaRPr>
                    </a:p>
                  </a:txBody>
                  <a:tcPr marT="0" anchor="ctr">
                    <a:solidFill>
                      <a:srgbClr val="233567"/>
                    </a:solidFill>
                  </a:tcPr>
                </a:tc>
                <a:tc>
                  <a:txBody>
                    <a:bodyPr/>
                    <a:lstStyle/>
                    <a:p>
                      <a:pPr algn="l"/>
                      <a:r>
                        <a:rPr lang="de-DE" sz="1000" kern="1200" cap="all" dirty="0">
                          <a:solidFill>
                            <a:schemeClr val="bg1"/>
                          </a:solidFill>
                          <a:effectLst/>
                          <a:latin typeface="Roboto Flex" panose="02000000000000000000" pitchFamily="2" charset="0"/>
                          <a:ea typeface="Roboto Flex" panose="02000000000000000000" pitchFamily="2" charset="0"/>
                        </a:rPr>
                        <a:t>Ø MIETE / M²</a:t>
                      </a:r>
                      <a:endParaRPr lang="de-DE" sz="1000" dirty="0">
                        <a:solidFill>
                          <a:schemeClr val="bg1"/>
                        </a:solidFill>
                        <a:latin typeface="Roboto Flex" panose="02000000000000000000" pitchFamily="2" charset="0"/>
                        <a:ea typeface="Roboto Flex" panose="02000000000000000000" pitchFamily="2" charset="0"/>
                      </a:endParaRPr>
                    </a:p>
                  </a:txBody>
                  <a:tcPr marT="0" anchor="ctr">
                    <a:solidFill>
                      <a:srgbClr val="233567"/>
                    </a:solidFill>
                  </a:tcPr>
                </a:tc>
                <a:tc>
                  <a:txBody>
                    <a:bodyPr/>
                    <a:lstStyle/>
                    <a:p>
                      <a:pPr algn="ctr"/>
                      <a:r>
                        <a:rPr lang="de-DE" sz="1000" dirty="0">
                          <a:solidFill>
                            <a:schemeClr val="bg1"/>
                          </a:solidFill>
                          <a:latin typeface="Roboto Flex" panose="02000000000000000000" pitchFamily="2" charset="0"/>
                          <a:ea typeface="Roboto Flex" panose="02000000000000000000" pitchFamily="2" charset="0"/>
                        </a:rPr>
                        <a:t>MIETBEGINN</a:t>
                      </a:r>
                    </a:p>
                  </a:txBody>
                  <a:tcPr marT="0" anchor="ctr">
                    <a:solidFill>
                      <a:srgbClr val="233567"/>
                    </a:solidFill>
                  </a:tcPr>
                </a:tc>
                <a:tc>
                  <a:txBody>
                    <a:bodyPr/>
                    <a:lstStyle/>
                    <a:p>
                      <a:pPr algn="l"/>
                      <a:r>
                        <a:rPr lang="de-DE" sz="1000" dirty="0">
                          <a:solidFill>
                            <a:schemeClr val="bg1"/>
                          </a:solidFill>
                          <a:latin typeface="Roboto Flex" panose="02000000000000000000" pitchFamily="2" charset="0"/>
                          <a:ea typeface="Roboto Flex" panose="02000000000000000000" pitchFamily="2" charset="0"/>
                        </a:rPr>
                        <a:t>LAUFZEIT</a:t>
                      </a:r>
                    </a:p>
                  </a:txBody>
                  <a:tcPr marT="0" anchor="ctr">
                    <a:solidFill>
                      <a:srgbClr val="233567"/>
                    </a:solidFill>
                  </a:tcPr>
                </a:tc>
                <a:tc>
                  <a:txBody>
                    <a:bodyPr/>
                    <a:lstStyle/>
                    <a:p>
                      <a:pPr algn="l"/>
                      <a:r>
                        <a:rPr lang="de-DE" sz="1000" dirty="0">
                          <a:solidFill>
                            <a:schemeClr val="bg1"/>
                          </a:solidFill>
                          <a:latin typeface="Roboto Flex" panose="02000000000000000000" pitchFamily="2" charset="0"/>
                          <a:ea typeface="Roboto Flex" panose="02000000000000000000" pitchFamily="2" charset="0"/>
                        </a:rPr>
                        <a:t>ANMERKUNGEN</a:t>
                      </a:r>
                    </a:p>
                  </a:txBody>
                  <a:tcPr marT="0" anchor="ctr">
                    <a:solidFill>
                      <a:srgbClr val="233567"/>
                    </a:solidFill>
                  </a:tcPr>
                </a:tc>
                <a:extLst>
                  <a:ext uri="{0D108BD9-81ED-4DB2-BD59-A6C34878D82A}">
                    <a16:rowId xmlns:a16="http://schemas.microsoft.com/office/drawing/2014/main" val="1030726763"/>
                  </a:ext>
                </a:extLst>
              </a:tr>
              <a:tr h="464252">
                <a:tc>
                  <a:txBody>
                    <a:bodyPr/>
                    <a:lstStyle/>
                    <a:p>
                      <a:pPr algn="l"/>
                      <a:r>
                        <a:rPr lang="de-DE" sz="1000" b="0" i="0" dirty="0">
                          <a:latin typeface="Roboto Medium" panose="02000000000000000000" pitchFamily="2" charset="0"/>
                          <a:ea typeface="Roboto Medium" panose="02000000000000000000" pitchFamily="2" charset="0"/>
                        </a:rPr>
                        <a:t>EG</a:t>
                      </a:r>
                    </a:p>
                  </a:txBody>
                  <a:tcPr anchor="ctr">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de-DE" sz="1000" b="0" i="0" dirty="0">
                          <a:latin typeface="Roboto Medium" panose="02000000000000000000" pitchFamily="2" charset="0"/>
                          <a:ea typeface="Roboto Medium" panose="02000000000000000000" pitchFamily="2" charset="0"/>
                        </a:rPr>
                        <a:t>Büro / Halle</a:t>
                      </a:r>
                    </a:p>
                  </a:txBody>
                  <a:tcPr anchor="ctr">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1007943" rtl="0" eaLnBrk="1" fontAlgn="auto" latinLnBrk="0" hangingPunct="1">
                        <a:lnSpc>
                          <a:spcPct val="100000"/>
                        </a:lnSpc>
                        <a:spcBef>
                          <a:spcPts val="0"/>
                        </a:spcBef>
                        <a:spcAft>
                          <a:spcPts val="0"/>
                        </a:spcAft>
                        <a:buClrTx/>
                        <a:buSzTx/>
                        <a:buFontTx/>
                        <a:buNone/>
                        <a:tabLst/>
                        <a:defRPr/>
                      </a:pPr>
                      <a:r>
                        <a:rPr lang="de-DE" sz="1000" b="0" i="0" dirty="0">
                          <a:latin typeface="Roboto Medium" panose="02000000000000000000" pitchFamily="2" charset="0"/>
                          <a:ea typeface="Roboto Medium" panose="02000000000000000000" pitchFamily="2" charset="0"/>
                        </a:rPr>
                        <a:t>281,90 m²</a:t>
                      </a:r>
                    </a:p>
                  </a:txBody>
                  <a:tcPr anchor="ctr">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de-DE" sz="1000" b="0" i="0" dirty="0">
                          <a:latin typeface="Roboto Medium" panose="02000000000000000000" pitchFamily="2" charset="0"/>
                          <a:ea typeface="Roboto Medium" panose="02000000000000000000" pitchFamily="2" charset="0"/>
                        </a:rPr>
                        <a:t>2.110,56 €</a:t>
                      </a:r>
                    </a:p>
                  </a:txBody>
                  <a:tcPr anchor="ctr">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de-DE" sz="1000" b="0" i="0" dirty="0">
                          <a:latin typeface="Roboto Medium" panose="02000000000000000000" pitchFamily="2" charset="0"/>
                          <a:ea typeface="Roboto Medium" panose="02000000000000000000" pitchFamily="2" charset="0"/>
                        </a:rPr>
                        <a:t>7,49 €/m²   </a:t>
                      </a:r>
                    </a:p>
                  </a:txBody>
                  <a:tcPr anchor="ctr">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de-DE" sz="1000" b="0" i="0" dirty="0">
                          <a:latin typeface="Roboto Medium" panose="02000000000000000000" pitchFamily="2" charset="0"/>
                          <a:ea typeface="Roboto Medium" panose="02000000000000000000" pitchFamily="2" charset="0"/>
                        </a:rPr>
                        <a:t>2017</a:t>
                      </a:r>
                    </a:p>
                  </a:txBody>
                  <a:tcPr anchor="ctr">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l" defTabSz="1007943" rtl="0" eaLnBrk="1" latinLnBrk="0" hangingPunct="1"/>
                      <a:r>
                        <a:rPr lang="de-DE" sz="1000" b="0" i="0" kern="1200" dirty="0">
                          <a:solidFill>
                            <a:schemeClr val="tx1"/>
                          </a:solidFill>
                          <a:latin typeface="Roboto Medium" panose="02000000000000000000" pitchFamily="2" charset="0"/>
                          <a:ea typeface="Roboto Medium" panose="02000000000000000000" pitchFamily="2" charset="0"/>
                          <a:cs typeface="+mn-cs"/>
                        </a:rPr>
                        <a:t>Unbefristet, Kündigungsfrist 6 Monate zum Quartal</a:t>
                      </a:r>
                    </a:p>
                  </a:txBody>
                  <a:tcPr anchor="ctr">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l" defTabSz="1007943" rtl="0" eaLnBrk="1" latinLnBrk="0" hangingPunct="1"/>
                      <a:r>
                        <a:rPr lang="de-DE" sz="1000" b="0" i="0" kern="1200" dirty="0">
                          <a:solidFill>
                            <a:schemeClr val="tx1"/>
                          </a:solidFill>
                          <a:latin typeface="Roboto Medium" panose="02000000000000000000" pitchFamily="2" charset="0"/>
                          <a:ea typeface="Roboto Medium" panose="02000000000000000000" pitchFamily="2" charset="0"/>
                          <a:cs typeface="+mn-cs"/>
                        </a:rPr>
                        <a:t>Indexiert nach VPI</a:t>
                      </a:r>
                    </a:p>
                  </a:txBody>
                  <a:tcPr anchor="ctr">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35672503"/>
                  </a:ext>
                </a:extLst>
              </a:tr>
              <a:tr h="471670">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de-DE" sz="1000" b="0" i="0" dirty="0">
                          <a:latin typeface="Roboto Medium" panose="02000000000000000000" pitchFamily="2" charset="0"/>
                          <a:ea typeface="Roboto Medium" panose="02000000000000000000" pitchFamily="2" charset="0"/>
                        </a:rPr>
                        <a:t>1.OG links</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de-DE" sz="1000" b="0" i="0" dirty="0">
                          <a:latin typeface="Roboto Medium" panose="02000000000000000000" pitchFamily="2" charset="0"/>
                          <a:ea typeface="Roboto Medium" panose="02000000000000000000" pitchFamily="2" charset="0"/>
                        </a:rPr>
                        <a:t>Wohnen</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de-DE" sz="1000" b="0" i="0" dirty="0">
                          <a:latin typeface="Roboto Medium" panose="02000000000000000000" pitchFamily="2" charset="0"/>
                          <a:ea typeface="Roboto Medium" panose="02000000000000000000" pitchFamily="2" charset="0"/>
                        </a:rPr>
                        <a:t>36,48 m²</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de-DE" sz="1000" b="0" i="0" dirty="0">
                          <a:latin typeface="Roboto Medium" panose="02000000000000000000" pitchFamily="2" charset="0"/>
                          <a:ea typeface="Roboto Medium" panose="02000000000000000000" pitchFamily="2" charset="0"/>
                        </a:rPr>
                        <a:t>400,92 €</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1007943" rtl="0" eaLnBrk="1" fontAlgn="auto" latinLnBrk="0" hangingPunct="1">
                        <a:lnSpc>
                          <a:spcPct val="100000"/>
                        </a:lnSpc>
                        <a:spcBef>
                          <a:spcPts val="0"/>
                        </a:spcBef>
                        <a:spcAft>
                          <a:spcPts val="0"/>
                        </a:spcAft>
                        <a:buClrTx/>
                        <a:buSzTx/>
                        <a:buFontTx/>
                        <a:buNone/>
                        <a:tabLst/>
                        <a:defRPr/>
                      </a:pPr>
                      <a:r>
                        <a:rPr lang="de-DE" sz="1000" b="0" i="0" dirty="0">
                          <a:latin typeface="Roboto Medium" panose="02000000000000000000" pitchFamily="2" charset="0"/>
                          <a:ea typeface="Roboto Medium" panose="02000000000000000000" pitchFamily="2" charset="0"/>
                        </a:rPr>
                        <a:t>10,99 €/m²</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auto" latinLnBrk="0" hangingPunct="1">
                        <a:lnSpc>
                          <a:spcPct val="100000"/>
                        </a:lnSpc>
                        <a:spcBef>
                          <a:spcPts val="0"/>
                        </a:spcBef>
                        <a:spcAft>
                          <a:spcPts val="0"/>
                        </a:spcAft>
                        <a:buClrTx/>
                        <a:buSzTx/>
                        <a:buFontTx/>
                        <a:buNone/>
                        <a:tabLst/>
                        <a:defRPr/>
                      </a:pPr>
                      <a:r>
                        <a:rPr lang="de-DE" sz="1000" b="0" i="0" dirty="0">
                          <a:latin typeface="Roboto Medium" panose="02000000000000000000" pitchFamily="2" charset="0"/>
                          <a:ea typeface="Roboto Medium" panose="02000000000000000000" pitchFamily="2" charset="0"/>
                        </a:rPr>
                        <a:t>2009</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l"/>
                      <a:endParaRPr lang="de-DE" sz="1000" b="0" i="0" kern="1200" dirty="0">
                        <a:solidFill>
                          <a:schemeClr val="tx1"/>
                        </a:solidFill>
                        <a:latin typeface="Roboto Medium" panose="02000000000000000000" pitchFamily="2" charset="0"/>
                        <a:ea typeface="Roboto Medium" panose="02000000000000000000" pitchFamily="2" charset="0"/>
                        <a:cs typeface="+mn-cs"/>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de-DE" sz="1000" b="0" i="0" kern="1200" dirty="0">
                          <a:solidFill>
                            <a:schemeClr val="tx1"/>
                          </a:solidFill>
                          <a:latin typeface="Roboto Medium" panose="02000000000000000000" pitchFamily="2" charset="0"/>
                          <a:ea typeface="Roboto Medium" panose="02000000000000000000" pitchFamily="2" charset="0"/>
                          <a:cs typeface="+mn-cs"/>
                        </a:rPr>
                        <a:t>Wohnung kann mittelfristig frei werden </a:t>
                      </a:r>
                    </a:p>
                    <a:p>
                      <a:pPr algn="l"/>
                      <a:r>
                        <a:rPr lang="de-DE" sz="1000" b="0" i="0" kern="1200" dirty="0">
                          <a:solidFill>
                            <a:schemeClr val="tx1"/>
                          </a:solidFill>
                          <a:latin typeface="Roboto Medium" panose="02000000000000000000" pitchFamily="2" charset="0"/>
                          <a:ea typeface="Roboto Medium" panose="02000000000000000000" pitchFamily="2" charset="0"/>
                          <a:cs typeface="+mn-cs"/>
                        </a:rPr>
                        <a:t>(Nach Vereinbarung)</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51404714"/>
                  </a:ext>
                </a:extLst>
              </a:tr>
              <a:tr h="471670">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de-DE" sz="1000" b="0" i="0" dirty="0">
                          <a:latin typeface="Roboto Medium" panose="02000000000000000000" pitchFamily="2" charset="0"/>
                          <a:ea typeface="Roboto Medium" panose="02000000000000000000" pitchFamily="2" charset="0"/>
                        </a:rPr>
                        <a:t>1.OG rechts</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1C2C36"/>
                          </a:solidFill>
                          <a:effectLst/>
                          <a:uLnTx/>
                          <a:uFillTx/>
                          <a:latin typeface="Roboto Medium" panose="02000000000000000000" pitchFamily="2" charset="0"/>
                          <a:ea typeface="Roboto Medium" panose="02000000000000000000" pitchFamily="2" charset="0"/>
                          <a:cs typeface="+mn-cs"/>
                        </a:rPr>
                        <a:t>Wohnen</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de-DE" sz="1000" b="0" i="0" dirty="0">
                          <a:latin typeface="Roboto Medium" panose="02000000000000000000" pitchFamily="2" charset="0"/>
                          <a:ea typeface="Roboto Medium" panose="02000000000000000000" pitchFamily="2" charset="0"/>
                        </a:rPr>
                        <a:t>69,88 m²</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de-DE" sz="1000" b="0" i="0" baseline="0" dirty="0">
                          <a:latin typeface="Roboto Medium" panose="02000000000000000000" pitchFamily="2" charset="0"/>
                          <a:ea typeface="Roboto Medium" panose="02000000000000000000" pitchFamily="2" charset="0"/>
                        </a:rPr>
                        <a:t>767,98 €</a:t>
                      </a:r>
                      <a:endParaRPr lang="de-DE" sz="1000" b="0" i="0" dirty="0">
                        <a:latin typeface="Roboto Medium" panose="02000000000000000000" pitchFamily="2" charset="0"/>
                        <a:ea typeface="Roboto Medium" panose="02000000000000000000" pitchFamily="2" charset="0"/>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de-DE" sz="1000" b="0" i="0" dirty="0">
                          <a:latin typeface="Roboto Medium" panose="02000000000000000000" pitchFamily="2" charset="0"/>
                          <a:ea typeface="Roboto Medium" panose="02000000000000000000" pitchFamily="2" charset="0"/>
                        </a:rPr>
                        <a:t>10,99 €/m²</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de-DE" sz="1000" b="0" i="0" dirty="0">
                          <a:latin typeface="Roboto Medium" panose="02000000000000000000" pitchFamily="2" charset="0"/>
                          <a:ea typeface="Roboto Medium" panose="02000000000000000000" pitchFamily="2" charset="0"/>
                        </a:rPr>
                        <a:t>2009</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l"/>
                      <a:endParaRPr lang="de-DE" sz="1000" b="0" i="0" kern="1200" dirty="0">
                        <a:solidFill>
                          <a:schemeClr val="tx1"/>
                        </a:solidFill>
                        <a:latin typeface="Roboto Medium" panose="02000000000000000000" pitchFamily="2" charset="0"/>
                        <a:ea typeface="Roboto Medium" panose="02000000000000000000" pitchFamily="2" charset="0"/>
                        <a:cs typeface="+mn-cs"/>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de-DE" sz="1000" b="0" i="0" kern="1200" dirty="0">
                          <a:solidFill>
                            <a:schemeClr val="tx1"/>
                          </a:solidFill>
                          <a:latin typeface="Roboto Medium" panose="02000000000000000000" pitchFamily="2" charset="0"/>
                          <a:ea typeface="Roboto Medium" panose="02000000000000000000" pitchFamily="2" charset="0"/>
                          <a:cs typeface="+mn-cs"/>
                        </a:rPr>
                        <a:t>Wohnung kann mittelfristig frei werden </a:t>
                      </a:r>
                    </a:p>
                    <a:p>
                      <a:pPr algn="l"/>
                      <a:r>
                        <a:rPr lang="de-DE" sz="1000" b="0" i="0" kern="1200" dirty="0">
                          <a:solidFill>
                            <a:schemeClr val="tx1"/>
                          </a:solidFill>
                          <a:latin typeface="Roboto Medium" panose="02000000000000000000" pitchFamily="2" charset="0"/>
                          <a:ea typeface="Roboto Medium" panose="02000000000000000000" pitchFamily="2" charset="0"/>
                          <a:cs typeface="+mn-cs"/>
                        </a:rPr>
                        <a:t>(Nach Vereinbarung)</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03940374"/>
                  </a:ext>
                </a:extLst>
              </a:tr>
              <a:tr h="434311">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de-DE" sz="1000" b="0" i="0" dirty="0">
                          <a:latin typeface="Roboto Medium" panose="02000000000000000000" pitchFamily="2" charset="0"/>
                          <a:ea typeface="Roboto Medium" panose="02000000000000000000" pitchFamily="2" charset="0"/>
                        </a:rPr>
                        <a:t>2.OG links</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1C2C36"/>
                          </a:solidFill>
                          <a:effectLst/>
                          <a:uLnTx/>
                          <a:uFillTx/>
                          <a:latin typeface="Roboto Medium" panose="02000000000000000000" pitchFamily="2" charset="0"/>
                          <a:ea typeface="Roboto Medium" panose="02000000000000000000" pitchFamily="2" charset="0"/>
                          <a:cs typeface="+mn-cs"/>
                        </a:rPr>
                        <a:t>Wohnen</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de-DE" sz="1000" b="0" i="0" dirty="0">
                          <a:latin typeface="Roboto Medium" panose="02000000000000000000" pitchFamily="2" charset="0"/>
                          <a:ea typeface="Roboto Medium" panose="02000000000000000000" pitchFamily="2" charset="0"/>
                        </a:rPr>
                        <a:t>37,64 m²</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de-DE" sz="1000" b="0" i="0" dirty="0">
                          <a:latin typeface="Roboto Medium" panose="02000000000000000000" pitchFamily="2" charset="0"/>
                          <a:ea typeface="Roboto Medium" panose="02000000000000000000" pitchFamily="2" charset="0"/>
                        </a:rPr>
                        <a:t>536,04 €</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de-DE" sz="1000" b="0" i="0" dirty="0">
                          <a:latin typeface="Roboto Medium" panose="02000000000000000000" pitchFamily="2" charset="0"/>
                          <a:ea typeface="Roboto Medium" panose="02000000000000000000" pitchFamily="2" charset="0"/>
                        </a:rPr>
                        <a:t>14,24 €/m² </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de-DE" sz="1000" b="0" i="0" dirty="0">
                          <a:latin typeface="Roboto Medium" panose="02000000000000000000" pitchFamily="2" charset="0"/>
                          <a:ea typeface="Roboto Medium" panose="02000000000000000000" pitchFamily="2" charset="0"/>
                        </a:rPr>
                        <a:t>2010</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l"/>
                      <a:endParaRPr lang="de-DE" sz="1000" b="0" i="0" kern="1200" dirty="0">
                        <a:solidFill>
                          <a:schemeClr val="tx1"/>
                        </a:solidFill>
                        <a:latin typeface="Roboto Medium" panose="02000000000000000000" pitchFamily="2" charset="0"/>
                        <a:ea typeface="Roboto Medium" panose="02000000000000000000" pitchFamily="2" charset="0"/>
                        <a:cs typeface="+mn-cs"/>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de-DE" sz="1000" b="0" i="0" kern="1200" dirty="0">
                          <a:solidFill>
                            <a:schemeClr val="tx1"/>
                          </a:solidFill>
                          <a:latin typeface="Roboto Medium" panose="02000000000000000000" pitchFamily="2" charset="0"/>
                          <a:ea typeface="Roboto Medium" panose="02000000000000000000" pitchFamily="2" charset="0"/>
                          <a:cs typeface="+mn-cs"/>
                        </a:rPr>
                        <a:t>Indexiert nach VPI</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57420149"/>
                  </a:ext>
                </a:extLst>
              </a:tr>
              <a:tr h="434311">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de-DE" sz="1000" b="0" i="0" dirty="0">
                          <a:latin typeface="Roboto Medium" panose="02000000000000000000" pitchFamily="2" charset="0"/>
                          <a:ea typeface="Roboto Medium" panose="02000000000000000000" pitchFamily="2" charset="0"/>
                        </a:rPr>
                        <a:t>2.OG rechts</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rgbClr val="1C2C36"/>
                          </a:solidFill>
                          <a:effectLst/>
                          <a:uLnTx/>
                          <a:uFillTx/>
                          <a:latin typeface="Roboto Medium" panose="02000000000000000000" pitchFamily="2" charset="0"/>
                          <a:ea typeface="Roboto Medium" panose="02000000000000000000" pitchFamily="2" charset="0"/>
                          <a:cs typeface="+mn-cs"/>
                        </a:rPr>
                        <a:t>Wohnen</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de-DE" sz="1000" b="0" i="0" dirty="0">
                          <a:latin typeface="Roboto Medium" panose="02000000000000000000" pitchFamily="2" charset="0"/>
                          <a:ea typeface="Roboto Medium" panose="02000000000000000000" pitchFamily="2" charset="0"/>
                        </a:rPr>
                        <a:t>72,09 m²</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de-DE" sz="1000" b="0" i="0" dirty="0">
                          <a:latin typeface="Roboto Medium" panose="02000000000000000000" pitchFamily="2" charset="0"/>
                          <a:ea typeface="Roboto Medium" panose="02000000000000000000" pitchFamily="2" charset="0"/>
                        </a:rPr>
                        <a:t>670,16 €</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de-DE" sz="1000" b="0" i="0" dirty="0">
                          <a:latin typeface="Roboto Medium" panose="02000000000000000000" pitchFamily="2" charset="0"/>
                          <a:ea typeface="Roboto Medium" panose="02000000000000000000" pitchFamily="2" charset="0"/>
                        </a:rPr>
                        <a:t>9,30 €/m²</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de-DE" sz="1000" b="0" i="0" kern="1200" dirty="0">
                          <a:solidFill>
                            <a:schemeClr val="tx1"/>
                          </a:solidFill>
                          <a:latin typeface="Roboto Medium" panose="02000000000000000000" pitchFamily="2" charset="0"/>
                          <a:ea typeface="Roboto Medium" panose="02000000000000000000" pitchFamily="2" charset="0"/>
                          <a:cs typeface="+mn-cs"/>
                        </a:rPr>
                        <a:t>1995</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l"/>
                      <a:endParaRPr lang="de-DE" sz="1000" b="0" i="0" kern="1200" dirty="0">
                        <a:solidFill>
                          <a:schemeClr val="tx1"/>
                        </a:solidFill>
                        <a:latin typeface="Roboto Medium" panose="02000000000000000000" pitchFamily="2" charset="0"/>
                        <a:ea typeface="Roboto Medium" panose="02000000000000000000" pitchFamily="2" charset="0"/>
                        <a:cs typeface="+mn-cs"/>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de-DE" sz="1000" b="0" i="0" kern="1200" dirty="0">
                          <a:solidFill>
                            <a:schemeClr val="tx1"/>
                          </a:solidFill>
                          <a:latin typeface="Roboto Medium" panose="02000000000000000000" pitchFamily="2" charset="0"/>
                          <a:ea typeface="Roboto Medium" panose="02000000000000000000" pitchFamily="2" charset="0"/>
                          <a:cs typeface="+mn-cs"/>
                        </a:rPr>
                        <a:t>Mietvertrag endet zum 31.05.25</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63110799"/>
                  </a:ext>
                </a:extLst>
              </a:tr>
              <a:tr h="380494">
                <a:tc>
                  <a:txBody>
                    <a:bodyPr/>
                    <a:lstStyle/>
                    <a:p>
                      <a:pPr algn="l"/>
                      <a:r>
                        <a:rPr lang="de-DE" sz="1000" b="1" dirty="0">
                          <a:solidFill>
                            <a:schemeClr val="bg1"/>
                          </a:solidFill>
                          <a:latin typeface="Roboto Flex" panose="02000000000000000000" pitchFamily="2" charset="0"/>
                          <a:ea typeface="Roboto Flex" panose="02000000000000000000" pitchFamily="2" charset="0"/>
                        </a:rPr>
                        <a:t>Gesamt</a:t>
                      </a:r>
                    </a:p>
                  </a:txBody>
                  <a:tcPr anchor="ct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33567"/>
                    </a:solidFill>
                  </a:tcPr>
                </a:tc>
                <a:tc>
                  <a:txBody>
                    <a:bodyPr/>
                    <a:lstStyle/>
                    <a:p>
                      <a:pPr algn="l"/>
                      <a:endParaRPr lang="de-DE" sz="1000" b="1" dirty="0">
                        <a:solidFill>
                          <a:schemeClr val="bg1"/>
                        </a:solidFill>
                        <a:latin typeface="Roboto Flex" panose="02000000000000000000" pitchFamily="2" charset="0"/>
                        <a:ea typeface="Roboto Flex" panose="02000000000000000000" pitchFamily="2" charset="0"/>
                      </a:endParaRPr>
                    </a:p>
                  </a:txBody>
                  <a:tcPr anchor="ct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33567"/>
                    </a:solidFill>
                  </a:tcPr>
                </a:tc>
                <a:tc>
                  <a:txBody>
                    <a:bodyPr/>
                    <a:lstStyle/>
                    <a:p>
                      <a:pPr algn="r"/>
                      <a:r>
                        <a:rPr lang="de-DE" sz="1000" b="1" dirty="0">
                          <a:solidFill>
                            <a:schemeClr val="bg1"/>
                          </a:solidFill>
                          <a:latin typeface="Roboto Flex" panose="02000000000000000000" pitchFamily="2" charset="0"/>
                          <a:ea typeface="Roboto Flex" panose="02000000000000000000" pitchFamily="2" charset="0"/>
                        </a:rPr>
                        <a:t>497,99 m²</a:t>
                      </a:r>
                    </a:p>
                  </a:txBody>
                  <a:tcPr anchor="ct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33567"/>
                    </a:solidFill>
                  </a:tcPr>
                </a:tc>
                <a:tc>
                  <a:txBody>
                    <a:bodyPr/>
                    <a:lstStyle/>
                    <a:p>
                      <a:pPr algn="r"/>
                      <a:r>
                        <a:rPr lang="de-DE" sz="1000" b="1" dirty="0">
                          <a:solidFill>
                            <a:schemeClr val="bg1"/>
                          </a:solidFill>
                          <a:latin typeface="Roboto Flex" panose="02000000000000000000" pitchFamily="2" charset="0"/>
                          <a:ea typeface="Roboto Flex" panose="02000000000000000000" pitchFamily="2" charset="0"/>
                        </a:rPr>
                        <a:t>4.485,66 €</a:t>
                      </a:r>
                    </a:p>
                  </a:txBody>
                  <a:tcPr anchor="ct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33567"/>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endParaRPr lang="de-DE" sz="1000" b="1" dirty="0">
                        <a:solidFill>
                          <a:schemeClr val="bg1"/>
                        </a:solidFill>
                        <a:latin typeface="Roboto Flex" panose="02000000000000000000" pitchFamily="2" charset="0"/>
                        <a:ea typeface="Roboto Flex" panose="02000000000000000000" pitchFamily="2" charset="0"/>
                      </a:endParaRPr>
                    </a:p>
                  </a:txBody>
                  <a:tcPr anchor="ct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33567"/>
                    </a:solidFill>
                  </a:tcPr>
                </a:tc>
                <a:tc>
                  <a:txBody>
                    <a:bodyPr/>
                    <a:lstStyle/>
                    <a:p>
                      <a:pPr algn="l"/>
                      <a:endParaRPr lang="de-DE" sz="1000" dirty="0">
                        <a:solidFill>
                          <a:schemeClr val="bg1"/>
                        </a:solidFill>
                        <a:latin typeface="Roboto Flex" panose="02000000000000000000" pitchFamily="2" charset="0"/>
                        <a:ea typeface="Roboto Flex" panose="02000000000000000000" pitchFamily="2" charset="0"/>
                      </a:endParaRPr>
                    </a:p>
                  </a:txBody>
                  <a:tcPr anchor="ct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33567"/>
                    </a:solidFill>
                  </a:tcPr>
                </a:tc>
                <a:tc>
                  <a:txBody>
                    <a:bodyPr/>
                    <a:lstStyle/>
                    <a:p>
                      <a:pPr algn="l"/>
                      <a:endParaRPr lang="de-DE" sz="1000" dirty="0">
                        <a:solidFill>
                          <a:schemeClr val="bg1"/>
                        </a:solidFill>
                        <a:latin typeface="Roboto Flex" panose="02000000000000000000" pitchFamily="2" charset="0"/>
                        <a:ea typeface="Roboto Flex" panose="02000000000000000000" pitchFamily="2" charset="0"/>
                      </a:endParaRPr>
                    </a:p>
                  </a:txBody>
                  <a:tcPr anchor="ct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33567"/>
                    </a:solidFill>
                  </a:tcPr>
                </a:tc>
                <a:tc>
                  <a:txBody>
                    <a:bodyPr/>
                    <a:lstStyle/>
                    <a:p>
                      <a:pPr algn="l"/>
                      <a:endParaRPr lang="de-DE" sz="1000" dirty="0">
                        <a:solidFill>
                          <a:schemeClr val="bg1"/>
                        </a:solidFill>
                        <a:latin typeface="Roboto Flex" panose="02000000000000000000" pitchFamily="2" charset="0"/>
                        <a:ea typeface="Roboto Flex" panose="02000000000000000000" pitchFamily="2" charset="0"/>
                      </a:endParaRPr>
                    </a:p>
                  </a:txBody>
                  <a:tcPr anchor="ctr">
                    <a:lnT w="31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33567"/>
                    </a:solidFill>
                  </a:tcPr>
                </a:tc>
                <a:extLst>
                  <a:ext uri="{0D108BD9-81ED-4DB2-BD59-A6C34878D82A}">
                    <a16:rowId xmlns:a16="http://schemas.microsoft.com/office/drawing/2014/main" val="1350197602"/>
                  </a:ext>
                </a:extLst>
              </a:tr>
              <a:tr h="380494">
                <a:tc>
                  <a:txBody>
                    <a:bodyPr/>
                    <a:lstStyle/>
                    <a:p>
                      <a:pPr algn="l"/>
                      <a:r>
                        <a:rPr lang="de-DE" sz="1000" b="1" dirty="0">
                          <a:solidFill>
                            <a:schemeClr val="bg1"/>
                          </a:solidFill>
                          <a:latin typeface="Roboto Flex" panose="02000000000000000000" pitchFamily="2" charset="0"/>
                          <a:ea typeface="Roboto Flex" panose="02000000000000000000" pitchFamily="2" charset="0"/>
                        </a:rPr>
                        <a:t>Pro Jahr</a:t>
                      </a:r>
                    </a:p>
                  </a:txBody>
                  <a:tcPr anchor="ctr">
                    <a:lnT w="12700" cap="flat" cmpd="sng" algn="ctr">
                      <a:solidFill>
                        <a:schemeClr val="bg1"/>
                      </a:solidFill>
                      <a:prstDash val="solid"/>
                      <a:round/>
                      <a:headEnd type="none" w="med" len="med"/>
                      <a:tailEnd type="none" w="med" len="med"/>
                    </a:lnT>
                    <a:solidFill>
                      <a:srgbClr val="233567"/>
                    </a:solidFill>
                  </a:tcPr>
                </a:tc>
                <a:tc>
                  <a:txBody>
                    <a:bodyPr/>
                    <a:lstStyle/>
                    <a:p>
                      <a:pPr algn="l"/>
                      <a:endParaRPr lang="de-DE" sz="1000" b="1" dirty="0">
                        <a:solidFill>
                          <a:schemeClr val="bg1"/>
                        </a:solidFill>
                        <a:latin typeface="Roboto Flex" panose="02000000000000000000" pitchFamily="2" charset="0"/>
                        <a:ea typeface="Roboto Flex" panose="02000000000000000000" pitchFamily="2" charset="0"/>
                      </a:endParaRPr>
                    </a:p>
                  </a:txBody>
                  <a:tcPr anchor="ctr">
                    <a:lnT w="12700" cap="flat" cmpd="sng" algn="ctr">
                      <a:solidFill>
                        <a:schemeClr val="bg1"/>
                      </a:solidFill>
                      <a:prstDash val="solid"/>
                      <a:round/>
                      <a:headEnd type="none" w="med" len="med"/>
                      <a:tailEnd type="none" w="med" len="med"/>
                    </a:lnT>
                    <a:solidFill>
                      <a:srgbClr val="233567"/>
                    </a:solidFill>
                  </a:tcPr>
                </a:tc>
                <a:tc>
                  <a:txBody>
                    <a:bodyPr/>
                    <a:lstStyle/>
                    <a:p>
                      <a:pPr algn="r"/>
                      <a:endParaRPr lang="de-DE" sz="1000" b="1" dirty="0">
                        <a:solidFill>
                          <a:schemeClr val="bg1"/>
                        </a:solidFill>
                        <a:latin typeface="Roboto Flex" panose="02000000000000000000" pitchFamily="2" charset="0"/>
                        <a:ea typeface="Roboto Flex" panose="02000000000000000000" pitchFamily="2" charset="0"/>
                      </a:endParaRPr>
                    </a:p>
                  </a:txBody>
                  <a:tcPr anchor="ctr">
                    <a:lnT w="12700" cap="flat" cmpd="sng" algn="ctr">
                      <a:solidFill>
                        <a:schemeClr val="bg1"/>
                      </a:solidFill>
                      <a:prstDash val="solid"/>
                      <a:round/>
                      <a:headEnd type="none" w="med" len="med"/>
                      <a:tailEnd type="none" w="med" len="med"/>
                    </a:lnT>
                    <a:solidFill>
                      <a:srgbClr val="233567"/>
                    </a:solidFill>
                  </a:tcPr>
                </a:tc>
                <a:tc>
                  <a:txBody>
                    <a:bodyPr/>
                    <a:lstStyle/>
                    <a:p>
                      <a:pPr algn="r"/>
                      <a:r>
                        <a:rPr lang="de-DE" sz="1000" b="1" dirty="0">
                          <a:solidFill>
                            <a:schemeClr val="bg1"/>
                          </a:solidFill>
                          <a:latin typeface="Roboto Flex" panose="02000000000000000000" pitchFamily="2" charset="0"/>
                          <a:ea typeface="Roboto Flex" panose="02000000000000000000" pitchFamily="2" charset="0"/>
                        </a:rPr>
                        <a:t>53.827,92 €</a:t>
                      </a:r>
                    </a:p>
                  </a:txBody>
                  <a:tcPr anchor="ctr">
                    <a:lnT w="12700" cap="flat" cmpd="sng" algn="ctr">
                      <a:solidFill>
                        <a:schemeClr val="bg1"/>
                      </a:solidFill>
                      <a:prstDash val="solid"/>
                      <a:round/>
                      <a:headEnd type="none" w="med" len="med"/>
                      <a:tailEnd type="none" w="med" len="med"/>
                    </a:lnT>
                    <a:solidFill>
                      <a:srgbClr val="233567"/>
                    </a:solidFill>
                  </a:tcPr>
                </a:tc>
                <a:tc>
                  <a:txBody>
                    <a:bodyPr/>
                    <a:lstStyle/>
                    <a:p>
                      <a:pPr algn="l"/>
                      <a:endParaRPr lang="de-DE" sz="1000" b="1" dirty="0">
                        <a:solidFill>
                          <a:schemeClr val="bg1"/>
                        </a:solidFill>
                        <a:latin typeface="Roboto Flex" panose="02000000000000000000" pitchFamily="2" charset="0"/>
                        <a:ea typeface="Roboto Flex" panose="02000000000000000000" pitchFamily="2" charset="0"/>
                      </a:endParaRPr>
                    </a:p>
                  </a:txBody>
                  <a:tcPr anchor="ctr">
                    <a:lnT w="12700" cap="flat" cmpd="sng" algn="ctr">
                      <a:solidFill>
                        <a:schemeClr val="bg1"/>
                      </a:solidFill>
                      <a:prstDash val="solid"/>
                      <a:round/>
                      <a:headEnd type="none" w="med" len="med"/>
                      <a:tailEnd type="none" w="med" len="med"/>
                    </a:lnT>
                    <a:solidFill>
                      <a:srgbClr val="233567"/>
                    </a:solidFill>
                  </a:tcPr>
                </a:tc>
                <a:tc>
                  <a:txBody>
                    <a:bodyPr/>
                    <a:lstStyle/>
                    <a:p>
                      <a:pPr algn="l"/>
                      <a:endParaRPr lang="de-DE" sz="1000" dirty="0">
                        <a:solidFill>
                          <a:schemeClr val="bg1"/>
                        </a:solidFill>
                        <a:latin typeface="Roboto Flex" panose="02000000000000000000" pitchFamily="2" charset="0"/>
                        <a:ea typeface="Roboto Flex" panose="02000000000000000000" pitchFamily="2" charset="0"/>
                      </a:endParaRPr>
                    </a:p>
                  </a:txBody>
                  <a:tcPr anchor="ctr">
                    <a:lnT w="12700" cap="flat" cmpd="sng" algn="ctr">
                      <a:solidFill>
                        <a:schemeClr val="bg1"/>
                      </a:solidFill>
                      <a:prstDash val="solid"/>
                      <a:round/>
                      <a:headEnd type="none" w="med" len="med"/>
                      <a:tailEnd type="none" w="med" len="med"/>
                    </a:lnT>
                    <a:solidFill>
                      <a:srgbClr val="233567"/>
                    </a:solidFill>
                  </a:tcPr>
                </a:tc>
                <a:tc>
                  <a:txBody>
                    <a:bodyPr/>
                    <a:lstStyle/>
                    <a:p>
                      <a:pPr algn="l"/>
                      <a:endParaRPr lang="de-DE" sz="1000" dirty="0">
                        <a:solidFill>
                          <a:schemeClr val="bg1"/>
                        </a:solidFill>
                        <a:latin typeface="Roboto Flex" panose="02000000000000000000" pitchFamily="2" charset="0"/>
                        <a:ea typeface="Roboto Flex" panose="02000000000000000000" pitchFamily="2" charset="0"/>
                      </a:endParaRPr>
                    </a:p>
                  </a:txBody>
                  <a:tcPr anchor="ctr">
                    <a:lnT w="12700" cap="flat" cmpd="sng" algn="ctr">
                      <a:solidFill>
                        <a:schemeClr val="bg1"/>
                      </a:solidFill>
                      <a:prstDash val="solid"/>
                      <a:round/>
                      <a:headEnd type="none" w="med" len="med"/>
                      <a:tailEnd type="none" w="med" len="med"/>
                    </a:lnT>
                    <a:solidFill>
                      <a:srgbClr val="233567"/>
                    </a:solidFill>
                  </a:tcPr>
                </a:tc>
                <a:tc>
                  <a:txBody>
                    <a:bodyPr/>
                    <a:lstStyle/>
                    <a:p>
                      <a:pPr algn="l"/>
                      <a:endParaRPr lang="de-DE" sz="1000" dirty="0">
                        <a:solidFill>
                          <a:schemeClr val="bg1"/>
                        </a:solidFill>
                        <a:latin typeface="Roboto Flex" panose="02000000000000000000" pitchFamily="2" charset="0"/>
                        <a:ea typeface="Roboto Flex" panose="02000000000000000000" pitchFamily="2" charset="0"/>
                      </a:endParaRPr>
                    </a:p>
                  </a:txBody>
                  <a:tcPr anchor="ctr">
                    <a:lnT w="12700" cap="flat" cmpd="sng" algn="ctr">
                      <a:solidFill>
                        <a:schemeClr val="bg1"/>
                      </a:solidFill>
                      <a:prstDash val="solid"/>
                      <a:round/>
                      <a:headEnd type="none" w="med" len="med"/>
                      <a:tailEnd type="none" w="med" len="med"/>
                    </a:lnT>
                    <a:solidFill>
                      <a:srgbClr val="233567"/>
                    </a:solidFill>
                  </a:tcPr>
                </a:tc>
                <a:extLst>
                  <a:ext uri="{0D108BD9-81ED-4DB2-BD59-A6C34878D82A}">
                    <a16:rowId xmlns:a16="http://schemas.microsoft.com/office/drawing/2014/main" val="1219801355"/>
                  </a:ext>
                </a:extLst>
              </a:tr>
            </a:tbl>
          </a:graphicData>
        </a:graphic>
      </p:graphicFrame>
    </p:spTree>
    <p:extLst>
      <p:ext uri="{BB962C8B-B14F-4D97-AF65-F5344CB8AC3E}">
        <p14:creationId xmlns:p14="http://schemas.microsoft.com/office/powerpoint/2010/main" val="707686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AE4A6AB3-44CF-AE1F-0024-F34B95F73B42}"/>
              </a:ext>
            </a:extLst>
          </p:cNvPr>
          <p:cNvSpPr>
            <a:spLocks noGrp="1"/>
          </p:cNvSpPr>
          <p:nvPr>
            <p:ph type="pic" sz="quarter" idx="10"/>
          </p:nvPr>
        </p:nvSpPr>
        <p:spPr/>
      </p:sp>
      <p:sp>
        <p:nvSpPr>
          <p:cNvPr id="3" name="Textplatzhalter 2">
            <a:extLst>
              <a:ext uri="{FF2B5EF4-FFF2-40B4-BE49-F238E27FC236}">
                <a16:creationId xmlns:a16="http://schemas.microsoft.com/office/drawing/2014/main" id="{31950E5E-77D8-F39C-7356-69662E9BDE99}"/>
              </a:ext>
            </a:extLst>
          </p:cNvPr>
          <p:cNvSpPr>
            <a:spLocks noGrp="1"/>
          </p:cNvSpPr>
          <p:nvPr>
            <p:ph type="body" sz="quarter" idx="13"/>
          </p:nvPr>
        </p:nvSpPr>
        <p:spPr/>
        <p:txBody>
          <a:bodyPr/>
          <a:lstStyle/>
          <a:p>
            <a:r>
              <a:rPr lang="de-DE" dirty="0"/>
              <a:t>OBJEKTINFORMATIONEN</a:t>
            </a:r>
          </a:p>
        </p:txBody>
      </p:sp>
      <p:sp>
        <p:nvSpPr>
          <p:cNvPr id="4" name="Textplatzhalter 3">
            <a:extLst>
              <a:ext uri="{FF2B5EF4-FFF2-40B4-BE49-F238E27FC236}">
                <a16:creationId xmlns:a16="http://schemas.microsoft.com/office/drawing/2014/main" id="{89A26F18-D02E-5418-2012-24BB6EB92718}"/>
              </a:ext>
            </a:extLst>
          </p:cNvPr>
          <p:cNvSpPr>
            <a:spLocks noGrp="1"/>
          </p:cNvSpPr>
          <p:nvPr>
            <p:ph type="body" sz="quarter" idx="14"/>
          </p:nvPr>
        </p:nvSpPr>
        <p:spPr/>
        <p:txBody>
          <a:bodyPr/>
          <a:lstStyle/>
          <a:p>
            <a:r>
              <a:rPr lang="de-DE" dirty="0">
                <a:cs typeface="Times New Roman" panose="02020603050405020304" pitchFamily="18" charset="0"/>
              </a:rPr>
              <a:t>Wohn- und Geschäftshaus | Burgstraße 21 | 50xxx Köln</a:t>
            </a:r>
            <a:endParaRPr lang="de-DE" sz="1100" dirty="0">
              <a:cs typeface="Times New Roman" panose="02020603050405020304" pitchFamily="18" charset="0"/>
            </a:endParaRPr>
          </a:p>
        </p:txBody>
      </p:sp>
      <p:sp>
        <p:nvSpPr>
          <p:cNvPr id="5" name="Bildplatzhalter 4">
            <a:extLst>
              <a:ext uri="{FF2B5EF4-FFF2-40B4-BE49-F238E27FC236}">
                <a16:creationId xmlns:a16="http://schemas.microsoft.com/office/drawing/2014/main" id="{EE7C2045-DA28-60B0-2397-B70A638E8A09}"/>
              </a:ext>
            </a:extLst>
          </p:cNvPr>
          <p:cNvSpPr>
            <a:spLocks noGrp="1"/>
          </p:cNvSpPr>
          <p:nvPr>
            <p:ph type="pic" sz="quarter" idx="15"/>
          </p:nvPr>
        </p:nvSpPr>
        <p:spPr/>
      </p:sp>
      <p:sp>
        <p:nvSpPr>
          <p:cNvPr id="6" name="Bildplatzhalter 5">
            <a:extLst>
              <a:ext uri="{FF2B5EF4-FFF2-40B4-BE49-F238E27FC236}">
                <a16:creationId xmlns:a16="http://schemas.microsoft.com/office/drawing/2014/main" id="{59183AE3-1469-AED2-0CD7-8250BA537924}"/>
              </a:ext>
            </a:extLst>
          </p:cNvPr>
          <p:cNvSpPr>
            <a:spLocks noGrp="1"/>
          </p:cNvSpPr>
          <p:nvPr>
            <p:ph type="pic" sz="quarter" idx="16"/>
          </p:nvPr>
        </p:nvSpPr>
        <p:spPr/>
      </p:sp>
    </p:spTree>
    <p:extLst>
      <p:ext uri="{BB962C8B-B14F-4D97-AF65-F5344CB8AC3E}">
        <p14:creationId xmlns:p14="http://schemas.microsoft.com/office/powerpoint/2010/main" val="3945243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feld 199">
            <a:extLst>
              <a:ext uri="{FF2B5EF4-FFF2-40B4-BE49-F238E27FC236}">
                <a16:creationId xmlns:a16="http://schemas.microsoft.com/office/drawing/2014/main" id="{6006E14A-7D4A-55A1-2570-23A7829DD1E2}"/>
              </a:ext>
            </a:extLst>
          </p:cNvPr>
          <p:cNvSpPr txBox="1"/>
          <p:nvPr/>
        </p:nvSpPr>
        <p:spPr>
          <a:xfrm>
            <a:off x="359999" y="6767875"/>
            <a:ext cx="1454242" cy="431800"/>
          </a:xfrm>
          <a:prstGeom prst="rect">
            <a:avLst/>
          </a:prstGeom>
          <a:noFill/>
          <a:ln w="6350">
            <a:noFill/>
          </a:ln>
        </p:spPr>
        <p:txBody>
          <a:bodyPr rot="0" spcFirstLastPara="0" vert="horz" wrap="square" lIns="0" tIns="0" rIns="0" bIns="0" numCol="1" spcCol="0" rtlCol="0" fromWordArt="0" anchor="ctr" anchorCtr="0" forceAA="0" compatLnSpc="1">
            <a:prstTxWarp prst="textNoShape">
              <a:avLst/>
            </a:prstTxWarp>
            <a:noAutofit/>
          </a:bodyPr>
          <a:lstStyle/>
          <a:p>
            <a:pPr>
              <a:lnSpc>
                <a:spcPts val="1200"/>
              </a:lnSpc>
              <a:spcAft>
                <a:spcPts val="0"/>
              </a:spcAft>
            </a:pPr>
            <a:r>
              <a:rPr lang="de-DE" sz="1000" dirty="0">
                <a:solidFill>
                  <a:srgbClr val="233567"/>
                </a:solidFill>
                <a:effectLst/>
                <a:latin typeface="Roboto Flex" panose="02000000000000000000" pitchFamily="2" charset="0"/>
                <a:ea typeface="Roboto Flex" panose="02000000000000000000" pitchFamily="2" charset="0"/>
                <a:cs typeface="Times New Roman" panose="02020603050405020304" pitchFamily="18" charset="0"/>
              </a:rPr>
              <a:t>IMPRESSIONEN</a:t>
            </a:r>
            <a:endParaRPr lang="de-DE" sz="1100" dirty="0">
              <a:solidFill>
                <a:srgbClr val="233567"/>
              </a:solidFill>
              <a:effectLst/>
              <a:latin typeface="Roboto Flex" panose="02000000000000000000" pitchFamily="2" charset="0"/>
              <a:ea typeface="Roboto Flex" panose="02000000000000000000" pitchFamily="2" charset="0"/>
              <a:cs typeface="Times New Roman" panose="02020603050405020304" pitchFamily="18" charset="0"/>
            </a:endParaRPr>
          </a:p>
        </p:txBody>
      </p:sp>
      <p:sp>
        <p:nvSpPr>
          <p:cNvPr id="12" name="Bildplatzhalter 11">
            <a:extLst>
              <a:ext uri="{FF2B5EF4-FFF2-40B4-BE49-F238E27FC236}">
                <a16:creationId xmlns:a16="http://schemas.microsoft.com/office/drawing/2014/main" id="{697E427C-3A03-C015-59B3-DDC441EAE2A6}"/>
              </a:ext>
            </a:extLst>
          </p:cNvPr>
          <p:cNvSpPr>
            <a:spLocks noGrp="1"/>
          </p:cNvSpPr>
          <p:nvPr>
            <p:ph type="pic" sz="quarter" idx="10"/>
          </p:nvPr>
        </p:nvSpPr>
        <p:spPr>
          <a:solidFill>
            <a:schemeClr val="bg1">
              <a:lumMod val="95000"/>
            </a:schemeClr>
          </a:solidFill>
        </p:spPr>
        <p:txBody>
          <a:bodyPr/>
          <a:lstStyle/>
          <a:p>
            <a:endParaRPr lang="de-DE"/>
          </a:p>
        </p:txBody>
      </p:sp>
      <p:sp>
        <p:nvSpPr>
          <p:cNvPr id="13" name="Bildplatzhalter 12">
            <a:extLst>
              <a:ext uri="{FF2B5EF4-FFF2-40B4-BE49-F238E27FC236}">
                <a16:creationId xmlns:a16="http://schemas.microsoft.com/office/drawing/2014/main" id="{41EF87F3-841B-DDD5-8F2C-3CE7B90DCA6A}"/>
              </a:ext>
            </a:extLst>
          </p:cNvPr>
          <p:cNvSpPr>
            <a:spLocks noGrp="1"/>
          </p:cNvSpPr>
          <p:nvPr>
            <p:ph type="pic" sz="quarter" idx="13"/>
          </p:nvPr>
        </p:nvSpPr>
        <p:spPr>
          <a:solidFill>
            <a:schemeClr val="bg1">
              <a:lumMod val="95000"/>
            </a:schemeClr>
          </a:solidFill>
        </p:spPr>
        <p:txBody>
          <a:bodyPr/>
          <a:lstStyle/>
          <a:p>
            <a:endParaRPr lang="de-DE"/>
          </a:p>
        </p:txBody>
      </p:sp>
      <p:sp>
        <p:nvSpPr>
          <p:cNvPr id="14" name="Textplatzhalter 13">
            <a:extLst>
              <a:ext uri="{FF2B5EF4-FFF2-40B4-BE49-F238E27FC236}">
                <a16:creationId xmlns:a16="http://schemas.microsoft.com/office/drawing/2014/main" id="{037FB630-403C-1557-7BD1-34812F1350D6}"/>
              </a:ext>
            </a:extLst>
          </p:cNvPr>
          <p:cNvSpPr>
            <a:spLocks noGrp="1"/>
          </p:cNvSpPr>
          <p:nvPr>
            <p:ph type="body" sz="quarter" idx="14"/>
          </p:nvPr>
        </p:nvSpPr>
        <p:spPr/>
        <p:txBody>
          <a:bodyPr/>
          <a:lstStyle/>
          <a:p>
            <a:r>
              <a:rPr lang="de-DE" dirty="0"/>
              <a:t>OBJEKTINFORMATIONEN</a:t>
            </a:r>
          </a:p>
        </p:txBody>
      </p:sp>
      <p:sp>
        <p:nvSpPr>
          <p:cNvPr id="15" name="Textplatzhalter 14">
            <a:extLst>
              <a:ext uri="{FF2B5EF4-FFF2-40B4-BE49-F238E27FC236}">
                <a16:creationId xmlns:a16="http://schemas.microsoft.com/office/drawing/2014/main" id="{052E4C16-7459-C465-A13A-FECBFFD8B9BD}"/>
              </a:ext>
            </a:extLst>
          </p:cNvPr>
          <p:cNvSpPr>
            <a:spLocks noGrp="1"/>
          </p:cNvSpPr>
          <p:nvPr>
            <p:ph type="body" sz="quarter" idx="15"/>
          </p:nvPr>
        </p:nvSpPr>
        <p:spPr/>
        <p:txBody>
          <a:bodyPr/>
          <a:lstStyle/>
          <a:p>
            <a:r>
              <a:rPr lang="de-DE" sz="1200" dirty="0">
                <a:latin typeface="Roboto Light" panose="02000000000000000000" pitchFamily="2" charset="0"/>
                <a:ea typeface="Roboto Light" panose="02000000000000000000" pitchFamily="2" charset="0"/>
                <a:cs typeface="Times New Roman" panose="02020603050405020304" pitchFamily="18" charset="0"/>
              </a:rPr>
              <a:t>Wohn- und Geschäftshaus </a:t>
            </a:r>
            <a:r>
              <a:rPr lang="de-DE" sz="1200" dirty="0">
                <a:effectLst/>
                <a:latin typeface="Roboto Light" panose="02000000000000000000" pitchFamily="2" charset="0"/>
                <a:ea typeface="Roboto Light" panose="02000000000000000000" pitchFamily="2" charset="0"/>
                <a:cs typeface="Times New Roman" panose="02020603050405020304" pitchFamily="18" charset="0"/>
              </a:rPr>
              <a:t>| Burgstraße 21 | 50xxx Köln</a:t>
            </a:r>
            <a:endParaRPr lang="de-DE" sz="1100" dirty="0">
              <a:effectLst/>
              <a:latin typeface="Roboto Light" panose="02000000000000000000" pitchFamily="2" charset="0"/>
              <a:ea typeface="Roboto Light"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3301167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feld 199">
            <a:extLst>
              <a:ext uri="{FF2B5EF4-FFF2-40B4-BE49-F238E27FC236}">
                <a16:creationId xmlns:a16="http://schemas.microsoft.com/office/drawing/2014/main" id="{0825458B-5C6C-8835-70CC-6A47D2628779}"/>
              </a:ext>
            </a:extLst>
          </p:cNvPr>
          <p:cNvSpPr txBox="1"/>
          <p:nvPr/>
        </p:nvSpPr>
        <p:spPr>
          <a:xfrm>
            <a:off x="359999" y="6767875"/>
            <a:ext cx="1454242" cy="431800"/>
          </a:xfrm>
          <a:prstGeom prst="rect">
            <a:avLst/>
          </a:prstGeom>
          <a:noFill/>
          <a:ln w="6350">
            <a:noFill/>
          </a:ln>
        </p:spPr>
        <p:txBody>
          <a:bodyPr rot="0" spcFirstLastPara="0" vert="horz" wrap="square" lIns="0" tIns="0" rIns="0" bIns="0" numCol="1" spcCol="0" rtlCol="0" fromWordArt="0" anchor="ctr" anchorCtr="0" forceAA="0" compatLnSpc="1">
            <a:prstTxWarp prst="textNoShape">
              <a:avLst/>
            </a:prstTxWarp>
            <a:noAutofit/>
          </a:bodyPr>
          <a:lstStyle/>
          <a:p>
            <a:pPr>
              <a:lnSpc>
                <a:spcPts val="1200"/>
              </a:lnSpc>
              <a:spcAft>
                <a:spcPts val="0"/>
              </a:spcAft>
            </a:pPr>
            <a:r>
              <a:rPr lang="de-DE" sz="1000" dirty="0">
                <a:solidFill>
                  <a:srgbClr val="233567"/>
                </a:solidFill>
                <a:effectLst/>
                <a:latin typeface="Roboto Flex" panose="02000000000000000000" pitchFamily="2" charset="0"/>
                <a:ea typeface="Roboto Flex" panose="02000000000000000000" pitchFamily="2" charset="0"/>
                <a:cs typeface="Times New Roman" panose="02020603050405020304" pitchFamily="18" charset="0"/>
              </a:rPr>
              <a:t>IMPRESSIONEN</a:t>
            </a:r>
            <a:endParaRPr lang="de-DE" sz="1100" dirty="0">
              <a:solidFill>
                <a:srgbClr val="233567"/>
              </a:solidFill>
              <a:effectLst/>
              <a:latin typeface="Roboto Flex" panose="02000000000000000000" pitchFamily="2" charset="0"/>
              <a:ea typeface="Roboto Flex" panose="02000000000000000000" pitchFamily="2" charset="0"/>
              <a:cs typeface="Times New Roman" panose="02020603050405020304" pitchFamily="18" charset="0"/>
            </a:endParaRPr>
          </a:p>
        </p:txBody>
      </p:sp>
      <p:sp>
        <p:nvSpPr>
          <p:cNvPr id="7" name="Bildplatzhalter 6">
            <a:extLst>
              <a:ext uri="{FF2B5EF4-FFF2-40B4-BE49-F238E27FC236}">
                <a16:creationId xmlns:a16="http://schemas.microsoft.com/office/drawing/2014/main" id="{5C4CC6F2-FAEA-4F8F-F19B-A89CCFA95399}"/>
              </a:ext>
            </a:extLst>
          </p:cNvPr>
          <p:cNvSpPr>
            <a:spLocks noGrp="1"/>
          </p:cNvSpPr>
          <p:nvPr>
            <p:ph type="pic" sz="quarter" idx="10"/>
          </p:nvPr>
        </p:nvSpPr>
        <p:spPr>
          <a:solidFill>
            <a:schemeClr val="bg1">
              <a:lumMod val="95000"/>
            </a:schemeClr>
          </a:solidFill>
        </p:spPr>
        <p:txBody>
          <a:bodyPr/>
          <a:lstStyle/>
          <a:p>
            <a:endParaRPr lang="de-DE"/>
          </a:p>
        </p:txBody>
      </p:sp>
      <p:sp>
        <p:nvSpPr>
          <p:cNvPr id="8" name="Bildplatzhalter 7">
            <a:extLst>
              <a:ext uri="{FF2B5EF4-FFF2-40B4-BE49-F238E27FC236}">
                <a16:creationId xmlns:a16="http://schemas.microsoft.com/office/drawing/2014/main" id="{9E4A076C-482C-B3FD-72BA-F39939DF8478}"/>
              </a:ext>
            </a:extLst>
          </p:cNvPr>
          <p:cNvSpPr>
            <a:spLocks noGrp="1"/>
          </p:cNvSpPr>
          <p:nvPr>
            <p:ph type="pic" sz="quarter" idx="13"/>
          </p:nvPr>
        </p:nvSpPr>
        <p:spPr>
          <a:solidFill>
            <a:schemeClr val="bg1">
              <a:lumMod val="95000"/>
            </a:schemeClr>
          </a:solidFill>
        </p:spPr>
        <p:txBody>
          <a:bodyPr/>
          <a:lstStyle/>
          <a:p>
            <a:endParaRPr lang="de-DE"/>
          </a:p>
        </p:txBody>
      </p:sp>
      <p:sp>
        <p:nvSpPr>
          <p:cNvPr id="9" name="Bildplatzhalter 8">
            <a:extLst>
              <a:ext uri="{FF2B5EF4-FFF2-40B4-BE49-F238E27FC236}">
                <a16:creationId xmlns:a16="http://schemas.microsoft.com/office/drawing/2014/main" id="{374788B5-7ED6-CF10-7065-C0312AD0A136}"/>
              </a:ext>
            </a:extLst>
          </p:cNvPr>
          <p:cNvSpPr>
            <a:spLocks noGrp="1"/>
          </p:cNvSpPr>
          <p:nvPr>
            <p:ph type="pic" sz="quarter" idx="14"/>
          </p:nvPr>
        </p:nvSpPr>
        <p:spPr>
          <a:solidFill>
            <a:schemeClr val="bg1">
              <a:lumMod val="95000"/>
            </a:schemeClr>
          </a:solidFill>
        </p:spPr>
        <p:txBody>
          <a:bodyPr/>
          <a:lstStyle/>
          <a:p>
            <a:endParaRPr lang="de-DE"/>
          </a:p>
        </p:txBody>
      </p:sp>
      <p:sp>
        <p:nvSpPr>
          <p:cNvPr id="12" name="Bildplatzhalter 11">
            <a:extLst>
              <a:ext uri="{FF2B5EF4-FFF2-40B4-BE49-F238E27FC236}">
                <a16:creationId xmlns:a16="http://schemas.microsoft.com/office/drawing/2014/main" id="{23D10B0C-4085-9C51-AA1A-CAF254944667}"/>
              </a:ext>
            </a:extLst>
          </p:cNvPr>
          <p:cNvSpPr>
            <a:spLocks noGrp="1"/>
          </p:cNvSpPr>
          <p:nvPr>
            <p:ph type="pic" sz="quarter" idx="15"/>
          </p:nvPr>
        </p:nvSpPr>
        <p:spPr>
          <a:solidFill>
            <a:schemeClr val="bg1">
              <a:lumMod val="95000"/>
            </a:schemeClr>
          </a:solidFill>
        </p:spPr>
        <p:txBody>
          <a:bodyPr/>
          <a:lstStyle/>
          <a:p>
            <a:endParaRPr lang="de-DE"/>
          </a:p>
        </p:txBody>
      </p:sp>
      <p:sp>
        <p:nvSpPr>
          <p:cNvPr id="13" name="Textplatzhalter 12">
            <a:extLst>
              <a:ext uri="{FF2B5EF4-FFF2-40B4-BE49-F238E27FC236}">
                <a16:creationId xmlns:a16="http://schemas.microsoft.com/office/drawing/2014/main" id="{4EC7A761-7F93-FB8E-814F-1E525EA1FC2F}"/>
              </a:ext>
            </a:extLst>
          </p:cNvPr>
          <p:cNvSpPr>
            <a:spLocks noGrp="1"/>
          </p:cNvSpPr>
          <p:nvPr>
            <p:ph type="body" sz="quarter" idx="16"/>
          </p:nvPr>
        </p:nvSpPr>
        <p:spPr/>
        <p:txBody>
          <a:bodyPr/>
          <a:lstStyle/>
          <a:p>
            <a:r>
              <a:rPr lang="de-DE" dirty="0"/>
              <a:t>OBJEKTINFORMATIONEN</a:t>
            </a:r>
          </a:p>
        </p:txBody>
      </p:sp>
      <p:sp>
        <p:nvSpPr>
          <p:cNvPr id="14" name="Textplatzhalter 13">
            <a:extLst>
              <a:ext uri="{FF2B5EF4-FFF2-40B4-BE49-F238E27FC236}">
                <a16:creationId xmlns:a16="http://schemas.microsoft.com/office/drawing/2014/main" id="{65F1D1B5-5332-F09C-4A28-F8017EA6104D}"/>
              </a:ext>
            </a:extLst>
          </p:cNvPr>
          <p:cNvSpPr>
            <a:spLocks noGrp="1"/>
          </p:cNvSpPr>
          <p:nvPr>
            <p:ph type="body" sz="quarter" idx="17"/>
          </p:nvPr>
        </p:nvSpPr>
        <p:spPr/>
        <p:txBody>
          <a:bodyPr/>
          <a:lstStyle/>
          <a:p>
            <a:r>
              <a:rPr lang="de-DE" sz="1200" dirty="0">
                <a:latin typeface="Roboto Light" panose="02000000000000000000" pitchFamily="2" charset="0"/>
                <a:ea typeface="Roboto Light" panose="02000000000000000000" pitchFamily="2" charset="0"/>
                <a:cs typeface="Times New Roman" panose="02020603050405020304" pitchFamily="18" charset="0"/>
              </a:rPr>
              <a:t>Wohn- und Geschäftshaus </a:t>
            </a:r>
            <a:r>
              <a:rPr lang="de-DE" sz="1200" dirty="0">
                <a:effectLst/>
                <a:latin typeface="Roboto Light" panose="02000000000000000000" pitchFamily="2" charset="0"/>
                <a:ea typeface="Roboto Light" panose="02000000000000000000" pitchFamily="2" charset="0"/>
                <a:cs typeface="Times New Roman" panose="02020603050405020304" pitchFamily="18" charset="0"/>
              </a:rPr>
              <a:t>| Burgstraße 21 | 50xxx Köln</a:t>
            </a:r>
            <a:endParaRPr lang="de-DE" sz="1100" dirty="0">
              <a:effectLst/>
              <a:latin typeface="Roboto Light" panose="02000000000000000000" pitchFamily="2" charset="0"/>
              <a:ea typeface="Roboto Light"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3531946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feld 199">
            <a:extLst>
              <a:ext uri="{FF2B5EF4-FFF2-40B4-BE49-F238E27FC236}">
                <a16:creationId xmlns:a16="http://schemas.microsoft.com/office/drawing/2014/main" id="{E99F939D-F9E3-0413-9693-F07D4ECF9D61}"/>
              </a:ext>
            </a:extLst>
          </p:cNvPr>
          <p:cNvSpPr txBox="1"/>
          <p:nvPr/>
        </p:nvSpPr>
        <p:spPr>
          <a:xfrm>
            <a:off x="359999" y="6767875"/>
            <a:ext cx="1454242" cy="431800"/>
          </a:xfrm>
          <a:prstGeom prst="rect">
            <a:avLst/>
          </a:prstGeom>
          <a:noFill/>
          <a:ln w="6350">
            <a:noFill/>
          </a:ln>
        </p:spPr>
        <p:txBody>
          <a:bodyPr rot="0" spcFirstLastPara="0" vert="horz" wrap="square" lIns="0" tIns="0" rIns="0" bIns="0" numCol="1" spcCol="0" rtlCol="0" fromWordArt="0" anchor="ctr" anchorCtr="0" forceAA="0" compatLnSpc="1">
            <a:prstTxWarp prst="textNoShape">
              <a:avLst/>
            </a:prstTxWarp>
            <a:noAutofit/>
          </a:bodyPr>
          <a:lstStyle/>
          <a:p>
            <a:pPr>
              <a:lnSpc>
                <a:spcPts val="1200"/>
              </a:lnSpc>
              <a:spcAft>
                <a:spcPts val="0"/>
              </a:spcAft>
            </a:pPr>
            <a:r>
              <a:rPr lang="de-DE" sz="1000" dirty="0">
                <a:solidFill>
                  <a:srgbClr val="233567"/>
                </a:solidFill>
                <a:effectLst/>
                <a:latin typeface="Roboto Flex" panose="02000000000000000000" pitchFamily="2" charset="0"/>
                <a:ea typeface="Roboto Flex" panose="02000000000000000000" pitchFamily="2" charset="0"/>
                <a:cs typeface="Times New Roman" panose="02020603050405020304" pitchFamily="18" charset="0"/>
              </a:rPr>
              <a:t>IMPRESSIONEN</a:t>
            </a:r>
            <a:endParaRPr lang="de-DE" sz="1100" dirty="0">
              <a:solidFill>
                <a:srgbClr val="233567"/>
              </a:solidFill>
              <a:effectLst/>
              <a:latin typeface="Roboto Flex" panose="02000000000000000000" pitchFamily="2" charset="0"/>
              <a:ea typeface="Roboto Flex" panose="02000000000000000000" pitchFamily="2" charset="0"/>
              <a:cs typeface="Times New Roman" panose="02020603050405020304" pitchFamily="18" charset="0"/>
            </a:endParaRPr>
          </a:p>
        </p:txBody>
      </p:sp>
      <p:sp>
        <p:nvSpPr>
          <p:cNvPr id="5" name="Bildplatzhalter 4">
            <a:extLst>
              <a:ext uri="{FF2B5EF4-FFF2-40B4-BE49-F238E27FC236}">
                <a16:creationId xmlns:a16="http://schemas.microsoft.com/office/drawing/2014/main" id="{0F8521D0-E212-C715-ACD1-753C6784787B}"/>
              </a:ext>
            </a:extLst>
          </p:cNvPr>
          <p:cNvSpPr>
            <a:spLocks noGrp="1"/>
          </p:cNvSpPr>
          <p:nvPr>
            <p:ph type="pic" sz="quarter" idx="10"/>
          </p:nvPr>
        </p:nvSpPr>
        <p:spPr>
          <a:solidFill>
            <a:schemeClr val="bg1">
              <a:lumMod val="95000"/>
            </a:schemeClr>
          </a:solidFill>
        </p:spPr>
        <p:txBody>
          <a:bodyPr/>
          <a:lstStyle/>
          <a:p>
            <a:endParaRPr lang="de-DE"/>
          </a:p>
        </p:txBody>
      </p:sp>
      <p:sp>
        <p:nvSpPr>
          <p:cNvPr id="6" name="Bildplatzhalter 5">
            <a:extLst>
              <a:ext uri="{FF2B5EF4-FFF2-40B4-BE49-F238E27FC236}">
                <a16:creationId xmlns:a16="http://schemas.microsoft.com/office/drawing/2014/main" id="{1638DF58-E1B6-0203-D7F8-F3336E9276EB}"/>
              </a:ext>
            </a:extLst>
          </p:cNvPr>
          <p:cNvSpPr>
            <a:spLocks noGrp="1"/>
          </p:cNvSpPr>
          <p:nvPr>
            <p:ph type="pic" sz="quarter" idx="13"/>
          </p:nvPr>
        </p:nvSpPr>
        <p:spPr>
          <a:solidFill>
            <a:schemeClr val="bg1">
              <a:lumMod val="95000"/>
            </a:schemeClr>
          </a:solidFill>
        </p:spPr>
        <p:txBody>
          <a:bodyPr/>
          <a:lstStyle/>
          <a:p>
            <a:endParaRPr lang="de-DE"/>
          </a:p>
        </p:txBody>
      </p:sp>
      <p:sp>
        <p:nvSpPr>
          <p:cNvPr id="7" name="Textplatzhalter 6">
            <a:extLst>
              <a:ext uri="{FF2B5EF4-FFF2-40B4-BE49-F238E27FC236}">
                <a16:creationId xmlns:a16="http://schemas.microsoft.com/office/drawing/2014/main" id="{2BAF8B54-81EE-B886-1BFE-61F223DB9A42}"/>
              </a:ext>
            </a:extLst>
          </p:cNvPr>
          <p:cNvSpPr>
            <a:spLocks noGrp="1"/>
          </p:cNvSpPr>
          <p:nvPr>
            <p:ph type="body" sz="quarter" idx="14"/>
          </p:nvPr>
        </p:nvSpPr>
        <p:spPr/>
        <p:txBody>
          <a:bodyPr/>
          <a:lstStyle/>
          <a:p>
            <a:endParaRPr lang="de-DE"/>
          </a:p>
        </p:txBody>
      </p:sp>
      <p:sp>
        <p:nvSpPr>
          <p:cNvPr id="8" name="Textplatzhalter 7">
            <a:extLst>
              <a:ext uri="{FF2B5EF4-FFF2-40B4-BE49-F238E27FC236}">
                <a16:creationId xmlns:a16="http://schemas.microsoft.com/office/drawing/2014/main" id="{8A292E4B-A223-72C4-6DBA-DC4344208BEF}"/>
              </a:ext>
            </a:extLst>
          </p:cNvPr>
          <p:cNvSpPr>
            <a:spLocks noGrp="1"/>
          </p:cNvSpPr>
          <p:nvPr>
            <p:ph type="body" sz="quarter" idx="15"/>
          </p:nvPr>
        </p:nvSpPr>
        <p:spPr/>
        <p:txBody>
          <a:bodyPr/>
          <a:lstStyle/>
          <a:p>
            <a:r>
              <a:rPr lang="de-DE" sz="1200" dirty="0">
                <a:latin typeface="Roboto Light" panose="02000000000000000000" pitchFamily="2" charset="0"/>
                <a:ea typeface="Roboto Light" panose="02000000000000000000" pitchFamily="2" charset="0"/>
                <a:cs typeface="Times New Roman" panose="02020603050405020304" pitchFamily="18" charset="0"/>
              </a:rPr>
              <a:t>Wohn- und Geschäftshaus </a:t>
            </a:r>
            <a:r>
              <a:rPr lang="de-DE" sz="1200" dirty="0">
                <a:effectLst/>
                <a:latin typeface="Roboto Light" panose="02000000000000000000" pitchFamily="2" charset="0"/>
                <a:ea typeface="Roboto Light" panose="02000000000000000000" pitchFamily="2" charset="0"/>
                <a:cs typeface="Times New Roman" panose="02020603050405020304" pitchFamily="18" charset="0"/>
              </a:rPr>
              <a:t>| Burgstraße 21 | 50xxx Köln</a:t>
            </a:r>
            <a:endParaRPr lang="de-DE" sz="1100" dirty="0">
              <a:effectLst/>
              <a:latin typeface="Roboto Light" panose="02000000000000000000" pitchFamily="2" charset="0"/>
              <a:ea typeface="Roboto Light"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279051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feld 199">
            <a:extLst>
              <a:ext uri="{FF2B5EF4-FFF2-40B4-BE49-F238E27FC236}">
                <a16:creationId xmlns:a16="http://schemas.microsoft.com/office/drawing/2014/main" id="{DEBF76A8-DB19-C390-9BF3-5ABDD1B39749}"/>
              </a:ext>
            </a:extLst>
          </p:cNvPr>
          <p:cNvSpPr txBox="1"/>
          <p:nvPr/>
        </p:nvSpPr>
        <p:spPr>
          <a:xfrm>
            <a:off x="359999" y="6767875"/>
            <a:ext cx="1454242" cy="431800"/>
          </a:xfrm>
          <a:prstGeom prst="rect">
            <a:avLst/>
          </a:prstGeom>
          <a:noFill/>
          <a:ln w="6350">
            <a:noFill/>
          </a:ln>
        </p:spPr>
        <p:txBody>
          <a:bodyPr rot="0" spcFirstLastPara="0" vert="horz" wrap="square" lIns="0" tIns="0" rIns="0" bIns="0" numCol="1" spcCol="0" rtlCol="0" fromWordArt="0" anchor="ctr" anchorCtr="0" forceAA="0" compatLnSpc="1">
            <a:prstTxWarp prst="textNoShape">
              <a:avLst/>
            </a:prstTxWarp>
            <a:noAutofit/>
          </a:bodyPr>
          <a:lstStyle/>
          <a:p>
            <a:pPr>
              <a:lnSpc>
                <a:spcPts val="1200"/>
              </a:lnSpc>
              <a:spcAft>
                <a:spcPts val="0"/>
              </a:spcAft>
            </a:pPr>
            <a:r>
              <a:rPr lang="de-DE" sz="1000" dirty="0">
                <a:solidFill>
                  <a:srgbClr val="233567"/>
                </a:solidFill>
                <a:latin typeface="Roboto Flex" panose="02000000000000000000" pitchFamily="2" charset="0"/>
                <a:ea typeface="Roboto Flex" panose="02000000000000000000" pitchFamily="2" charset="0"/>
                <a:cs typeface="Times New Roman" panose="02020603050405020304" pitchFamily="18" charset="0"/>
              </a:rPr>
              <a:t>ERDGESCHOSS</a:t>
            </a:r>
            <a:endParaRPr lang="de-DE" sz="1100" dirty="0">
              <a:solidFill>
                <a:srgbClr val="233567"/>
              </a:solidFill>
              <a:effectLst/>
              <a:latin typeface="Roboto Flex" panose="02000000000000000000" pitchFamily="2" charset="0"/>
              <a:ea typeface="Roboto Flex" panose="02000000000000000000" pitchFamily="2" charset="0"/>
              <a:cs typeface="Times New Roman" panose="02020603050405020304" pitchFamily="18" charset="0"/>
            </a:endParaRPr>
          </a:p>
        </p:txBody>
      </p:sp>
      <p:sp>
        <p:nvSpPr>
          <p:cNvPr id="4" name="Bildplatzhalter 3">
            <a:extLst>
              <a:ext uri="{FF2B5EF4-FFF2-40B4-BE49-F238E27FC236}">
                <a16:creationId xmlns:a16="http://schemas.microsoft.com/office/drawing/2014/main" id="{6DFBC0D5-F4C8-A880-4FA9-7A181D9F9D20}"/>
              </a:ext>
            </a:extLst>
          </p:cNvPr>
          <p:cNvSpPr>
            <a:spLocks noGrp="1"/>
          </p:cNvSpPr>
          <p:nvPr>
            <p:ph type="pic" sz="quarter" idx="10"/>
          </p:nvPr>
        </p:nvSpPr>
        <p:spPr>
          <a:solidFill>
            <a:schemeClr val="bg1">
              <a:lumMod val="95000"/>
            </a:schemeClr>
          </a:solidFill>
        </p:spPr>
        <p:txBody>
          <a:bodyPr/>
          <a:lstStyle/>
          <a:p>
            <a:endParaRPr lang="de-DE"/>
          </a:p>
        </p:txBody>
      </p:sp>
      <p:sp>
        <p:nvSpPr>
          <p:cNvPr id="5" name="Textplatzhalter 4">
            <a:extLst>
              <a:ext uri="{FF2B5EF4-FFF2-40B4-BE49-F238E27FC236}">
                <a16:creationId xmlns:a16="http://schemas.microsoft.com/office/drawing/2014/main" id="{E02EB4A0-ED4A-138D-FE1B-C224E4625C16}"/>
              </a:ext>
            </a:extLst>
          </p:cNvPr>
          <p:cNvSpPr>
            <a:spLocks noGrp="1"/>
          </p:cNvSpPr>
          <p:nvPr>
            <p:ph type="body" sz="quarter" idx="13"/>
          </p:nvPr>
        </p:nvSpPr>
        <p:spPr/>
        <p:txBody>
          <a:bodyPr/>
          <a:lstStyle/>
          <a:p>
            <a:r>
              <a:rPr lang="de-DE" dirty="0"/>
              <a:t>GRUNDRISS</a:t>
            </a:r>
          </a:p>
        </p:txBody>
      </p:sp>
      <p:sp>
        <p:nvSpPr>
          <p:cNvPr id="6" name="Textplatzhalter 5">
            <a:extLst>
              <a:ext uri="{FF2B5EF4-FFF2-40B4-BE49-F238E27FC236}">
                <a16:creationId xmlns:a16="http://schemas.microsoft.com/office/drawing/2014/main" id="{AFFDA781-51BF-4666-0115-98A0D58C8D86}"/>
              </a:ext>
            </a:extLst>
          </p:cNvPr>
          <p:cNvSpPr>
            <a:spLocks noGrp="1"/>
          </p:cNvSpPr>
          <p:nvPr>
            <p:ph type="body" sz="quarter" idx="14"/>
          </p:nvPr>
        </p:nvSpPr>
        <p:spPr/>
        <p:txBody>
          <a:bodyPr/>
          <a:lstStyle/>
          <a:p>
            <a:r>
              <a:rPr lang="de-DE" sz="1200" dirty="0">
                <a:latin typeface="Roboto Light" panose="02000000000000000000" pitchFamily="2" charset="0"/>
                <a:ea typeface="Roboto Light" panose="02000000000000000000" pitchFamily="2" charset="0"/>
                <a:cs typeface="Times New Roman" panose="02020603050405020304" pitchFamily="18" charset="0"/>
              </a:rPr>
              <a:t>Wohn- und Geschäftshaus </a:t>
            </a:r>
            <a:r>
              <a:rPr lang="de-DE" sz="1200" dirty="0">
                <a:effectLst/>
                <a:latin typeface="Roboto Light" panose="02000000000000000000" pitchFamily="2" charset="0"/>
                <a:ea typeface="Roboto Light" panose="02000000000000000000" pitchFamily="2" charset="0"/>
                <a:cs typeface="Times New Roman" panose="02020603050405020304" pitchFamily="18" charset="0"/>
              </a:rPr>
              <a:t>| Burgstraße 21 | 50xxx Köln</a:t>
            </a:r>
            <a:endParaRPr lang="de-DE" sz="1100" dirty="0">
              <a:effectLst/>
              <a:latin typeface="Roboto Light" panose="02000000000000000000" pitchFamily="2" charset="0"/>
              <a:ea typeface="Roboto Light"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2738463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99246-5B9C-AD64-069F-C5428A2A0B86}"/>
            </a:ext>
          </a:extLst>
        </p:cNvPr>
        <p:cNvGrpSpPr/>
        <p:nvPr/>
      </p:nvGrpSpPr>
      <p:grpSpPr>
        <a:xfrm>
          <a:off x="0" y="0"/>
          <a:ext cx="0" cy="0"/>
          <a:chOff x="0" y="0"/>
          <a:chExt cx="0" cy="0"/>
        </a:xfrm>
      </p:grpSpPr>
      <p:sp>
        <p:nvSpPr>
          <p:cNvPr id="16" name="Textfeld 199">
            <a:extLst>
              <a:ext uri="{FF2B5EF4-FFF2-40B4-BE49-F238E27FC236}">
                <a16:creationId xmlns:a16="http://schemas.microsoft.com/office/drawing/2014/main" id="{0D7CF13A-4BF5-7B65-F105-EEF9FE88CF2C}"/>
              </a:ext>
            </a:extLst>
          </p:cNvPr>
          <p:cNvSpPr txBox="1"/>
          <p:nvPr/>
        </p:nvSpPr>
        <p:spPr>
          <a:xfrm>
            <a:off x="359999" y="6767875"/>
            <a:ext cx="1454242" cy="431800"/>
          </a:xfrm>
          <a:prstGeom prst="rect">
            <a:avLst/>
          </a:prstGeom>
          <a:noFill/>
          <a:ln w="6350">
            <a:noFill/>
          </a:ln>
        </p:spPr>
        <p:txBody>
          <a:bodyPr rot="0" spcFirstLastPara="0" vert="horz" wrap="square" lIns="0" tIns="0" rIns="0" bIns="0" numCol="1" spcCol="0" rtlCol="0" fromWordArt="0" anchor="ctr" anchorCtr="0" forceAA="0" compatLnSpc="1">
            <a:prstTxWarp prst="textNoShape">
              <a:avLst/>
            </a:prstTxWarp>
            <a:noAutofit/>
          </a:bodyPr>
          <a:lstStyle/>
          <a:p>
            <a:pPr>
              <a:lnSpc>
                <a:spcPts val="1200"/>
              </a:lnSpc>
              <a:spcAft>
                <a:spcPts val="0"/>
              </a:spcAft>
            </a:pPr>
            <a:r>
              <a:rPr lang="de-DE" sz="1000" dirty="0">
                <a:solidFill>
                  <a:srgbClr val="233567"/>
                </a:solidFill>
                <a:latin typeface="Roboto Flex" panose="02000000000000000000" pitchFamily="2" charset="0"/>
                <a:ea typeface="Roboto Flex" panose="02000000000000000000" pitchFamily="2" charset="0"/>
                <a:cs typeface="Times New Roman" panose="02020603050405020304" pitchFamily="18" charset="0"/>
              </a:rPr>
              <a:t>ERDSGESCHOSS</a:t>
            </a:r>
            <a:endParaRPr lang="de-DE" sz="1100" dirty="0">
              <a:solidFill>
                <a:srgbClr val="233567"/>
              </a:solidFill>
              <a:effectLst/>
              <a:latin typeface="Roboto Flex" panose="02000000000000000000" pitchFamily="2" charset="0"/>
              <a:ea typeface="Roboto Flex" panose="02000000000000000000" pitchFamily="2" charset="0"/>
              <a:cs typeface="Times New Roman" panose="02020603050405020304" pitchFamily="18" charset="0"/>
            </a:endParaRPr>
          </a:p>
        </p:txBody>
      </p:sp>
      <p:sp>
        <p:nvSpPr>
          <p:cNvPr id="4" name="Bildplatzhalter 3">
            <a:extLst>
              <a:ext uri="{FF2B5EF4-FFF2-40B4-BE49-F238E27FC236}">
                <a16:creationId xmlns:a16="http://schemas.microsoft.com/office/drawing/2014/main" id="{2680937E-328E-27AA-51D2-44A71FA009F2}"/>
              </a:ext>
            </a:extLst>
          </p:cNvPr>
          <p:cNvSpPr>
            <a:spLocks noGrp="1"/>
          </p:cNvSpPr>
          <p:nvPr>
            <p:ph type="pic" sz="quarter" idx="10"/>
          </p:nvPr>
        </p:nvSpPr>
        <p:spPr>
          <a:solidFill>
            <a:schemeClr val="bg1">
              <a:lumMod val="95000"/>
            </a:schemeClr>
          </a:solidFill>
        </p:spPr>
        <p:txBody>
          <a:bodyPr/>
          <a:lstStyle/>
          <a:p>
            <a:endParaRPr lang="de-DE"/>
          </a:p>
        </p:txBody>
      </p:sp>
      <p:sp>
        <p:nvSpPr>
          <p:cNvPr id="5" name="Textplatzhalter 4">
            <a:extLst>
              <a:ext uri="{FF2B5EF4-FFF2-40B4-BE49-F238E27FC236}">
                <a16:creationId xmlns:a16="http://schemas.microsoft.com/office/drawing/2014/main" id="{67113759-31F1-9EC0-3658-EAF240405B89}"/>
              </a:ext>
            </a:extLst>
          </p:cNvPr>
          <p:cNvSpPr>
            <a:spLocks noGrp="1"/>
          </p:cNvSpPr>
          <p:nvPr>
            <p:ph type="body" sz="quarter" idx="13"/>
          </p:nvPr>
        </p:nvSpPr>
        <p:spPr/>
        <p:txBody>
          <a:bodyPr/>
          <a:lstStyle/>
          <a:p>
            <a:r>
              <a:rPr lang="de-DE" dirty="0"/>
              <a:t>GRUNDRISS</a:t>
            </a:r>
          </a:p>
        </p:txBody>
      </p:sp>
      <p:sp>
        <p:nvSpPr>
          <p:cNvPr id="6" name="Textplatzhalter 5">
            <a:extLst>
              <a:ext uri="{FF2B5EF4-FFF2-40B4-BE49-F238E27FC236}">
                <a16:creationId xmlns:a16="http://schemas.microsoft.com/office/drawing/2014/main" id="{074ADCF7-6D4D-F3EC-E6E2-3D42FD73590E}"/>
              </a:ext>
            </a:extLst>
          </p:cNvPr>
          <p:cNvSpPr>
            <a:spLocks noGrp="1"/>
          </p:cNvSpPr>
          <p:nvPr>
            <p:ph type="body" sz="quarter" idx="14"/>
          </p:nvPr>
        </p:nvSpPr>
        <p:spPr/>
        <p:txBody>
          <a:bodyPr/>
          <a:lstStyle/>
          <a:p>
            <a:r>
              <a:rPr lang="de-DE" sz="1200" dirty="0">
                <a:latin typeface="Roboto Light" panose="02000000000000000000" pitchFamily="2" charset="0"/>
                <a:ea typeface="Roboto Light" panose="02000000000000000000" pitchFamily="2" charset="0"/>
                <a:cs typeface="Times New Roman" panose="02020603050405020304" pitchFamily="18" charset="0"/>
              </a:rPr>
              <a:t>Wohn- und Geschäftshaus </a:t>
            </a:r>
            <a:r>
              <a:rPr lang="de-DE" sz="1200" dirty="0">
                <a:effectLst/>
                <a:latin typeface="Roboto Light" panose="02000000000000000000" pitchFamily="2" charset="0"/>
                <a:ea typeface="Roboto Light" panose="02000000000000000000" pitchFamily="2" charset="0"/>
                <a:cs typeface="Times New Roman" panose="02020603050405020304" pitchFamily="18" charset="0"/>
              </a:rPr>
              <a:t>| Burgstraße 21 | 50xxx Köln</a:t>
            </a:r>
            <a:endParaRPr lang="de-DE" sz="1100" dirty="0">
              <a:effectLst/>
              <a:latin typeface="Roboto Light" panose="02000000000000000000" pitchFamily="2" charset="0"/>
              <a:ea typeface="Roboto Light"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139656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B8CE7ACC-9FC4-6C18-B551-70F426683730}"/>
              </a:ext>
            </a:extLst>
          </p:cNvPr>
          <p:cNvSpPr>
            <a:spLocks noGrp="1"/>
          </p:cNvSpPr>
          <p:nvPr>
            <p:ph type="pic" sz="quarter" idx="10"/>
          </p:nvPr>
        </p:nvSpPr>
        <p:spPr>
          <a:xfrm>
            <a:off x="359999" y="1509869"/>
            <a:ext cx="5644194" cy="5689805"/>
          </a:xfrm>
          <a:solidFill>
            <a:schemeClr val="bg1">
              <a:lumMod val="95000"/>
            </a:schemeClr>
          </a:solidFill>
        </p:spPr>
        <p:txBody>
          <a:bodyPr/>
          <a:lstStyle/>
          <a:p>
            <a:endParaRPr lang="de-DE"/>
          </a:p>
        </p:txBody>
      </p:sp>
      <p:sp>
        <p:nvSpPr>
          <p:cNvPr id="6" name="Textplatzhalter 5">
            <a:extLst>
              <a:ext uri="{FF2B5EF4-FFF2-40B4-BE49-F238E27FC236}">
                <a16:creationId xmlns:a16="http://schemas.microsoft.com/office/drawing/2014/main" id="{67CA2E3E-F552-85A3-953A-15769FFDE811}"/>
              </a:ext>
            </a:extLst>
          </p:cNvPr>
          <p:cNvSpPr>
            <a:spLocks noGrp="1"/>
          </p:cNvSpPr>
          <p:nvPr>
            <p:ph type="body" sz="quarter" idx="13"/>
          </p:nvPr>
        </p:nvSpPr>
        <p:spPr/>
        <p:txBody>
          <a:bodyPr/>
          <a:lstStyle/>
          <a:p>
            <a:r>
              <a:rPr lang="de-DE" dirty="0"/>
              <a:t>MAKROLAGE</a:t>
            </a:r>
          </a:p>
        </p:txBody>
      </p:sp>
      <p:sp>
        <p:nvSpPr>
          <p:cNvPr id="7" name="Textplatzhalter 6">
            <a:extLst>
              <a:ext uri="{FF2B5EF4-FFF2-40B4-BE49-F238E27FC236}">
                <a16:creationId xmlns:a16="http://schemas.microsoft.com/office/drawing/2014/main" id="{9C390C49-F172-712D-30EF-8123A5967548}"/>
              </a:ext>
            </a:extLst>
          </p:cNvPr>
          <p:cNvSpPr>
            <a:spLocks noGrp="1"/>
          </p:cNvSpPr>
          <p:nvPr>
            <p:ph type="body" sz="quarter" idx="14"/>
          </p:nvPr>
        </p:nvSpPr>
        <p:spPr/>
        <p:txBody>
          <a:bodyPr/>
          <a:lstStyle/>
          <a:p>
            <a:r>
              <a:rPr lang="de-DE" sz="1200" dirty="0">
                <a:latin typeface="Roboto Light" panose="02000000000000000000" pitchFamily="2" charset="0"/>
                <a:ea typeface="Roboto Light" panose="02000000000000000000" pitchFamily="2" charset="0"/>
                <a:cs typeface="Times New Roman" panose="02020603050405020304" pitchFamily="18" charset="0"/>
              </a:rPr>
              <a:t>Wohn- und Geschäftshaus </a:t>
            </a:r>
            <a:r>
              <a:rPr lang="de-DE" sz="1200" dirty="0">
                <a:effectLst/>
                <a:latin typeface="Roboto Light" panose="02000000000000000000" pitchFamily="2" charset="0"/>
                <a:ea typeface="Roboto Light" panose="02000000000000000000" pitchFamily="2" charset="0"/>
                <a:cs typeface="Times New Roman" panose="02020603050405020304" pitchFamily="18" charset="0"/>
              </a:rPr>
              <a:t>| Burgstraße 21 | 50xxx Köln</a:t>
            </a:r>
            <a:endParaRPr lang="de-DE" sz="1100" dirty="0">
              <a:effectLst/>
              <a:latin typeface="Roboto Light" panose="02000000000000000000" pitchFamily="2" charset="0"/>
              <a:ea typeface="Roboto Light" panose="02000000000000000000" pitchFamily="2" charset="0"/>
              <a:cs typeface="Times New Roman" panose="02020603050405020304" pitchFamily="18" charset="0"/>
            </a:endParaRPr>
          </a:p>
        </p:txBody>
      </p:sp>
      <p:graphicFrame>
        <p:nvGraphicFramePr>
          <p:cNvPr id="3" name="Tabelle 2">
            <a:extLst>
              <a:ext uri="{FF2B5EF4-FFF2-40B4-BE49-F238E27FC236}">
                <a16:creationId xmlns:a16="http://schemas.microsoft.com/office/drawing/2014/main" id="{66C6EF59-0E23-C41E-B71B-81C1AD7BB20C}"/>
              </a:ext>
            </a:extLst>
          </p:cNvPr>
          <p:cNvGraphicFramePr>
            <a:graphicFrameLocks noGrp="1"/>
          </p:cNvGraphicFramePr>
          <p:nvPr>
            <p:extLst>
              <p:ext uri="{D42A27DB-BD31-4B8C-83A1-F6EECF244321}">
                <p14:modId xmlns:p14="http://schemas.microsoft.com/office/powerpoint/2010/main" val="119716179"/>
              </p:ext>
            </p:extLst>
          </p:nvPr>
        </p:nvGraphicFramePr>
        <p:xfrm>
          <a:off x="6117996" y="1509870"/>
          <a:ext cx="4680604" cy="2372610"/>
        </p:xfrm>
        <a:graphic>
          <a:graphicData uri="http://schemas.openxmlformats.org/drawingml/2006/table">
            <a:tbl>
              <a:tblPr firstRow="1" bandRow="1">
                <a:tableStyleId>{2D5ABB26-0587-4C30-8999-92F81FD0307C}</a:tableStyleId>
              </a:tblPr>
              <a:tblGrid>
                <a:gridCol w="1634526">
                  <a:extLst>
                    <a:ext uri="{9D8B030D-6E8A-4147-A177-3AD203B41FA5}">
                      <a16:colId xmlns:a16="http://schemas.microsoft.com/office/drawing/2014/main" val="737666364"/>
                    </a:ext>
                  </a:extLst>
                </a:gridCol>
                <a:gridCol w="1931804">
                  <a:extLst>
                    <a:ext uri="{9D8B030D-6E8A-4147-A177-3AD203B41FA5}">
                      <a16:colId xmlns:a16="http://schemas.microsoft.com/office/drawing/2014/main" val="1953650456"/>
                    </a:ext>
                  </a:extLst>
                </a:gridCol>
                <a:gridCol w="477781">
                  <a:extLst>
                    <a:ext uri="{9D8B030D-6E8A-4147-A177-3AD203B41FA5}">
                      <a16:colId xmlns:a16="http://schemas.microsoft.com/office/drawing/2014/main" val="1478076185"/>
                    </a:ext>
                  </a:extLst>
                </a:gridCol>
                <a:gridCol w="636493">
                  <a:extLst>
                    <a:ext uri="{9D8B030D-6E8A-4147-A177-3AD203B41FA5}">
                      <a16:colId xmlns:a16="http://schemas.microsoft.com/office/drawing/2014/main" val="3975328013"/>
                    </a:ext>
                  </a:extLst>
                </a:gridCol>
              </a:tblGrid>
              <a:tr h="401520">
                <a:tc>
                  <a:txBody>
                    <a:bodyPr/>
                    <a:lstStyle/>
                    <a:p>
                      <a:endParaRPr lang="de-DE" sz="1000" dirty="0">
                        <a:solidFill>
                          <a:srgbClr val="11A57A"/>
                        </a:solidFill>
                        <a:latin typeface="Roboto Flex" panose="02000000000000000000" pitchFamily="2" charset="0"/>
                        <a:ea typeface="Roboto Flex" panose="02000000000000000000" pitchFamily="2" charset="0"/>
                      </a:endParaRPr>
                    </a:p>
                  </a:txBody>
                  <a:tcPr anchor="ctr">
                    <a:lnB w="3175" cap="flat" cmpd="sng" algn="ctr">
                      <a:solidFill>
                        <a:schemeClr val="bg1"/>
                      </a:solidFill>
                      <a:prstDash val="solid"/>
                      <a:round/>
                      <a:headEnd type="none" w="med" len="med"/>
                      <a:tailEnd type="none" w="med" len="med"/>
                    </a:lnB>
                    <a:solidFill>
                      <a:srgbClr val="233567"/>
                    </a:solidFill>
                  </a:tcPr>
                </a:tc>
                <a:tc gridSpan="3">
                  <a:txBody>
                    <a:bodyPr/>
                    <a:lstStyle/>
                    <a:p>
                      <a:pPr algn="r"/>
                      <a:r>
                        <a:rPr lang="de-DE" sz="1000" dirty="0">
                          <a:solidFill>
                            <a:schemeClr val="bg1"/>
                          </a:solidFill>
                          <a:latin typeface="Roboto Flex" panose="02000000000000000000" pitchFamily="2" charset="0"/>
                          <a:ea typeface="Roboto Flex" panose="02000000000000000000" pitchFamily="2" charset="0"/>
                        </a:rPr>
                        <a:t>ENTFERNUNG /</a:t>
                      </a:r>
                      <a:r>
                        <a:rPr lang="de-DE" sz="1000" baseline="0" dirty="0">
                          <a:solidFill>
                            <a:schemeClr val="bg1"/>
                          </a:solidFill>
                          <a:latin typeface="Roboto Flex" panose="02000000000000000000" pitchFamily="2" charset="0"/>
                          <a:ea typeface="Roboto Flex" panose="02000000000000000000" pitchFamily="2" charset="0"/>
                        </a:rPr>
                        <a:t> ERREICHBARKEIT</a:t>
                      </a:r>
                      <a:endParaRPr lang="de-DE" sz="1000" dirty="0">
                        <a:solidFill>
                          <a:schemeClr val="bg1"/>
                        </a:solidFill>
                        <a:latin typeface="Roboto Flex" panose="02000000000000000000" pitchFamily="2" charset="0"/>
                        <a:ea typeface="Roboto Flex" panose="02000000000000000000" pitchFamily="2" charset="0"/>
                      </a:endParaRPr>
                    </a:p>
                  </a:txBody>
                  <a:tcPr anchor="ctr">
                    <a:lnB w="3175" cap="flat" cmpd="sng" algn="ctr">
                      <a:solidFill>
                        <a:schemeClr val="bg1"/>
                      </a:solidFill>
                      <a:prstDash val="solid"/>
                      <a:round/>
                      <a:headEnd type="none" w="med" len="med"/>
                      <a:tailEnd type="none" w="med" len="med"/>
                    </a:lnB>
                    <a:solidFill>
                      <a:srgbClr val="233567"/>
                    </a:solidFill>
                  </a:tcPr>
                </a:tc>
                <a:tc hMerge="1">
                  <a:txBody>
                    <a:bodyPr/>
                    <a:lstStyle/>
                    <a:p>
                      <a:pPr algn="r"/>
                      <a:endParaRPr lang="de-DE" sz="1000" dirty="0">
                        <a:solidFill>
                          <a:srgbClr val="11A57A"/>
                        </a:solidFill>
                        <a:latin typeface="BNPP Sans" panose="02000000000000000000" pitchFamily="50" charset="0"/>
                      </a:endParaRPr>
                    </a:p>
                  </a:txBody>
                  <a:tcPr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B w="3175" cap="flat" cmpd="sng" algn="ctr">
                      <a:solidFill>
                        <a:schemeClr val="bg1"/>
                      </a:solidFill>
                      <a:prstDash val="solid"/>
                      <a:round/>
                      <a:headEnd type="none" w="med" len="med"/>
                      <a:tailEnd type="none" w="med" len="med"/>
                    </a:lnB>
                    <a:solidFill>
                      <a:srgbClr val="1C2C36"/>
                    </a:solidFill>
                  </a:tcPr>
                </a:tc>
                <a:tc hMerge="1">
                  <a:txBody>
                    <a:bodyPr/>
                    <a:lstStyle/>
                    <a:p>
                      <a:endParaRPr lang="de-DE" sz="1000" dirty="0">
                        <a:solidFill>
                          <a:srgbClr val="11A57A"/>
                        </a:solidFill>
                        <a:latin typeface="BNPP Sans" panose="02000000000000000000" pitchFamily="50" charset="0"/>
                      </a:endParaRPr>
                    </a:p>
                  </a:txBody>
                  <a:tcPr anchor="ctr">
                    <a:lnL w="3175" cap="flat" cmpd="sng" algn="ctr">
                      <a:solidFill>
                        <a:schemeClr val="bg1"/>
                      </a:solidFill>
                      <a:prstDash val="solid"/>
                      <a:round/>
                      <a:headEnd type="none" w="med" len="med"/>
                      <a:tailEnd type="none" w="med" len="med"/>
                    </a:lnL>
                    <a:lnB w="3175" cap="flat" cmpd="sng" algn="ctr">
                      <a:solidFill>
                        <a:schemeClr val="bg1"/>
                      </a:solidFill>
                      <a:prstDash val="solid"/>
                      <a:round/>
                      <a:headEnd type="none" w="med" len="med"/>
                      <a:tailEnd type="none" w="med" len="med"/>
                    </a:lnB>
                    <a:solidFill>
                      <a:srgbClr val="1C2C36"/>
                    </a:solidFill>
                  </a:tcPr>
                </a:tc>
                <a:extLst>
                  <a:ext uri="{0D108BD9-81ED-4DB2-BD59-A6C34878D82A}">
                    <a16:rowId xmlns:a16="http://schemas.microsoft.com/office/drawing/2014/main" val="1535986637"/>
                  </a:ext>
                </a:extLst>
              </a:tr>
              <a:tr h="294301">
                <a:tc>
                  <a:txBody>
                    <a:bodyPr/>
                    <a:lstStyle/>
                    <a:p>
                      <a:r>
                        <a:rPr lang="de-DE" sz="1000" dirty="0">
                          <a:latin typeface="Roboto Flex" panose="02000000000000000000" pitchFamily="2" charset="0"/>
                          <a:ea typeface="Roboto Flex" panose="02000000000000000000" pitchFamily="2" charset="0"/>
                        </a:rPr>
                        <a:t>Stadtzentrum</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r"/>
                      <a:r>
                        <a:rPr lang="de-DE" sz="1000" dirty="0">
                          <a:latin typeface="Roboto Flex" panose="02000000000000000000" pitchFamily="2" charset="0"/>
                          <a:ea typeface="Roboto Flex" panose="02000000000000000000" pitchFamily="2" charset="0"/>
                        </a:rPr>
                        <a:t>12</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de-DE" sz="1000" dirty="0">
                          <a:latin typeface="Roboto Flex" panose="02000000000000000000" pitchFamily="2" charset="0"/>
                          <a:ea typeface="Roboto Flex" panose="02000000000000000000" pitchFamily="2" charset="0"/>
                        </a:rPr>
                        <a:t>min</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dirty="0">
                          <a:latin typeface="Roboto Flex" panose="02000000000000000000" pitchFamily="2" charset="0"/>
                          <a:ea typeface="Roboto Flex" panose="02000000000000000000" pitchFamily="2" charset="0"/>
                        </a:rPr>
                        <a:t>ÖPNV</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19161331"/>
                  </a:ext>
                </a:extLst>
              </a:tr>
              <a:tr h="396943">
                <a:tc>
                  <a:txBody>
                    <a:bodyPr/>
                    <a:lstStyle/>
                    <a:p>
                      <a:r>
                        <a:rPr lang="de-DE" sz="1000" dirty="0">
                          <a:latin typeface="Roboto Flex" panose="02000000000000000000" pitchFamily="2" charset="0"/>
                          <a:ea typeface="Roboto Flex" panose="02000000000000000000" pitchFamily="2" charset="0"/>
                        </a:rPr>
                        <a:t>Hauptbahnhof Köln</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r"/>
                      <a:r>
                        <a:rPr lang="de-DE" sz="1000" dirty="0">
                          <a:latin typeface="Roboto Flex" panose="02000000000000000000" pitchFamily="2" charset="0"/>
                          <a:ea typeface="Roboto Flex" panose="02000000000000000000" pitchFamily="2" charset="0"/>
                        </a:rPr>
                        <a:t>14</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de-DE" sz="1000" dirty="0">
                          <a:latin typeface="Roboto Flex" panose="02000000000000000000" pitchFamily="2" charset="0"/>
                          <a:ea typeface="Roboto Flex" panose="02000000000000000000" pitchFamily="2" charset="0"/>
                        </a:rPr>
                        <a:t>min</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dirty="0">
                          <a:latin typeface="Roboto Flex" panose="02000000000000000000" pitchFamily="2" charset="0"/>
                          <a:ea typeface="Roboto Flex" panose="02000000000000000000" pitchFamily="2" charset="0"/>
                        </a:rPr>
                        <a:t>ÖPNV</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3832768"/>
                  </a:ext>
                </a:extLst>
              </a:tr>
              <a:tr h="396943">
                <a:tc>
                  <a:txBody>
                    <a:bodyPr/>
                    <a:lstStyle/>
                    <a:p>
                      <a:r>
                        <a:rPr lang="de-DE" sz="1000" dirty="0">
                          <a:latin typeface="Roboto Flex" panose="02000000000000000000" pitchFamily="2" charset="0"/>
                          <a:ea typeface="Roboto Flex" panose="02000000000000000000" pitchFamily="2" charset="0"/>
                        </a:rPr>
                        <a:t>Flughafen Köln-Bonn</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r"/>
                      <a:r>
                        <a:rPr lang="de-DE" sz="1000" dirty="0">
                          <a:latin typeface="Roboto Flex" panose="02000000000000000000" pitchFamily="2" charset="0"/>
                          <a:ea typeface="Roboto Flex" panose="02000000000000000000" pitchFamily="2" charset="0"/>
                        </a:rPr>
                        <a:t>14</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de-DE" sz="1000" dirty="0">
                          <a:latin typeface="Roboto Flex" panose="02000000000000000000" pitchFamily="2" charset="0"/>
                          <a:ea typeface="Roboto Flex" panose="02000000000000000000" pitchFamily="2" charset="0"/>
                        </a:rPr>
                        <a:t>min</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dirty="0">
                          <a:latin typeface="Roboto Flex" panose="02000000000000000000" pitchFamily="2" charset="0"/>
                          <a:ea typeface="Roboto Flex" panose="02000000000000000000" pitchFamily="2" charset="0"/>
                        </a:rPr>
                        <a:t>Auto</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81785430"/>
                  </a:ext>
                </a:extLst>
              </a:tr>
              <a:tr h="294301">
                <a:tc>
                  <a:txBody>
                    <a:bodyPr/>
                    <a:lstStyle/>
                    <a:p>
                      <a:r>
                        <a:rPr lang="de-DE" sz="1000" dirty="0">
                          <a:latin typeface="Roboto Flex" panose="02000000000000000000" pitchFamily="2" charset="0"/>
                          <a:ea typeface="Roboto Flex" panose="02000000000000000000" pitchFamily="2" charset="0"/>
                        </a:rPr>
                        <a:t>Autobahn A555 / A4</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r"/>
                      <a:r>
                        <a:rPr lang="de-DE" sz="1000" dirty="0">
                          <a:latin typeface="Roboto Flex" panose="02000000000000000000" pitchFamily="2" charset="0"/>
                          <a:ea typeface="Roboto Flex" panose="02000000000000000000" pitchFamily="2" charset="0"/>
                        </a:rPr>
                        <a:t>13</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de-DE" sz="1000" dirty="0">
                          <a:latin typeface="Roboto Flex" panose="02000000000000000000" pitchFamily="2" charset="0"/>
                          <a:ea typeface="Roboto Flex" panose="02000000000000000000" pitchFamily="2" charset="0"/>
                        </a:rPr>
                        <a:t>min</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dirty="0">
                          <a:latin typeface="Roboto Flex" panose="02000000000000000000" pitchFamily="2" charset="0"/>
                          <a:ea typeface="Roboto Flex" panose="02000000000000000000" pitchFamily="2" charset="0"/>
                        </a:rPr>
                        <a:t>Auto</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74462376"/>
                  </a:ext>
                </a:extLst>
              </a:tr>
              <a:tr h="294301">
                <a:tc>
                  <a:txBody>
                    <a:bodyPr/>
                    <a:lstStyle/>
                    <a:p>
                      <a:r>
                        <a:rPr lang="de-DE" sz="1000" dirty="0">
                          <a:latin typeface="Roboto Flex" panose="02000000000000000000" pitchFamily="2" charset="0"/>
                          <a:ea typeface="Roboto Flex" panose="02000000000000000000" pitchFamily="2" charset="0"/>
                        </a:rPr>
                        <a:t>U-Bahn</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r"/>
                      <a:r>
                        <a:rPr lang="de-DE" sz="1000" dirty="0">
                          <a:latin typeface="Roboto Flex" panose="02000000000000000000" pitchFamily="2" charset="0"/>
                          <a:ea typeface="Roboto Flex" panose="02000000000000000000" pitchFamily="2" charset="0"/>
                        </a:rPr>
                        <a:t>4</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kumimoji="0" lang="de-DE" sz="1000" b="0" i="0" u="none" strike="noStrike" kern="1200" cap="none" spc="0" normalizeH="0" baseline="0" noProof="0" dirty="0">
                          <a:ln>
                            <a:noFill/>
                          </a:ln>
                          <a:solidFill>
                            <a:srgbClr val="1C2C36"/>
                          </a:solidFill>
                          <a:effectLst/>
                          <a:uLnTx/>
                          <a:uFillTx/>
                          <a:latin typeface="Roboto Flex" panose="02000000000000000000" pitchFamily="2" charset="0"/>
                          <a:ea typeface="Roboto Flex" panose="02000000000000000000" pitchFamily="2" charset="0"/>
                          <a:cs typeface="+mn-cs"/>
                        </a:rPr>
                        <a:t>min</a:t>
                      </a:r>
                      <a:endParaRPr lang="de-DE" sz="1000" dirty="0">
                        <a:latin typeface="Roboto Flex" panose="02000000000000000000" pitchFamily="2" charset="0"/>
                        <a:ea typeface="Roboto Flex" panose="02000000000000000000" pitchFamily="2" charset="0"/>
                      </a:endParaRP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dirty="0">
                          <a:latin typeface="Roboto Flex" panose="02000000000000000000" pitchFamily="2" charset="0"/>
                          <a:ea typeface="Roboto Flex" panose="02000000000000000000" pitchFamily="2" charset="0"/>
                        </a:rPr>
                        <a:t>zu Fuß</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66201492"/>
                  </a:ext>
                </a:extLst>
              </a:tr>
              <a:tr h="294301">
                <a:tc>
                  <a:txBody>
                    <a:bodyPr/>
                    <a:lstStyle/>
                    <a:p>
                      <a:r>
                        <a:rPr lang="de-DE" sz="1000" dirty="0">
                          <a:latin typeface="Roboto Flex" panose="02000000000000000000" pitchFamily="2" charset="0"/>
                          <a:ea typeface="Roboto Flex" panose="02000000000000000000" pitchFamily="2" charset="0"/>
                        </a:rPr>
                        <a:t>Bushaltestelle</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r"/>
                      <a:r>
                        <a:rPr lang="de-DE" sz="1000" dirty="0">
                          <a:latin typeface="Roboto Flex" panose="02000000000000000000" pitchFamily="2" charset="0"/>
                          <a:ea typeface="Roboto Flex" panose="02000000000000000000" pitchFamily="2" charset="0"/>
                        </a:rPr>
                        <a:t>6</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kumimoji="0" lang="de-DE" sz="1000" b="0" i="0" u="none" strike="noStrike" kern="1200" cap="none" spc="0" normalizeH="0" baseline="0" noProof="0" dirty="0">
                          <a:ln>
                            <a:noFill/>
                          </a:ln>
                          <a:solidFill>
                            <a:srgbClr val="1C2C36"/>
                          </a:solidFill>
                          <a:effectLst/>
                          <a:uLnTx/>
                          <a:uFillTx/>
                          <a:latin typeface="Roboto Flex" panose="02000000000000000000" pitchFamily="2" charset="0"/>
                          <a:ea typeface="Roboto Flex" panose="02000000000000000000" pitchFamily="2" charset="0"/>
                          <a:cs typeface="+mn-cs"/>
                        </a:rPr>
                        <a:t>min</a:t>
                      </a:r>
                      <a:endParaRPr lang="de-DE" sz="1000" dirty="0">
                        <a:latin typeface="Roboto Flex" panose="02000000000000000000" pitchFamily="2" charset="0"/>
                        <a:ea typeface="Roboto Flex" panose="02000000000000000000" pitchFamily="2" charset="0"/>
                      </a:endParaRP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de-DE" sz="1000" dirty="0">
                          <a:latin typeface="Roboto Flex" panose="02000000000000000000" pitchFamily="2" charset="0"/>
                          <a:ea typeface="Roboto Flex" panose="02000000000000000000" pitchFamily="2" charset="0"/>
                        </a:rPr>
                        <a:t>zu Fuß</a:t>
                      </a:r>
                    </a:p>
                  </a:txBody>
                  <a:tcPr anchor="ct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68213374"/>
                  </a:ext>
                </a:extLst>
              </a:tr>
            </a:tbl>
          </a:graphicData>
        </a:graphic>
      </p:graphicFrame>
      <p:sp>
        <p:nvSpPr>
          <p:cNvPr id="4" name="Dreieck 3">
            <a:extLst>
              <a:ext uri="{FF2B5EF4-FFF2-40B4-BE49-F238E27FC236}">
                <a16:creationId xmlns:a16="http://schemas.microsoft.com/office/drawing/2014/main" id="{014E87EB-2121-BC39-7A96-8D80469D0D8D}"/>
              </a:ext>
            </a:extLst>
          </p:cNvPr>
          <p:cNvSpPr/>
          <p:nvPr/>
        </p:nvSpPr>
        <p:spPr>
          <a:xfrm rot="18258716">
            <a:off x="5113648" y="762517"/>
            <a:ext cx="219004" cy="471612"/>
          </a:xfrm>
          <a:prstGeom prst="triangle">
            <a:avLst/>
          </a:prstGeom>
          <a:solidFill>
            <a:schemeClr val="bg1"/>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396154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feld 308"/>
          <p:cNvSpPr txBox="1"/>
          <p:nvPr/>
        </p:nvSpPr>
        <p:spPr>
          <a:xfrm>
            <a:off x="359999" y="5124488"/>
            <a:ext cx="5154491" cy="1729670"/>
          </a:xfrm>
          <a:prstGeom prst="rect">
            <a:avLst/>
          </a:prstGeom>
          <a:noFill/>
          <a:ln w="6350">
            <a:noFill/>
          </a:ln>
        </p:spPr>
        <p:txBody>
          <a:bodyPr rot="0" spcFirstLastPara="0" vert="horz" wrap="square" lIns="0" tIns="144000" rIns="0" bIns="0" numCol="1" spcCol="0" rtlCol="0" fromWordArt="0" anchor="t" anchorCtr="0" forceAA="0" compatLnSpc="1">
            <a:prstTxWarp prst="textNoShape">
              <a:avLst/>
            </a:prstTxWarp>
            <a:noAutofit/>
          </a:bodyPr>
          <a:lstStyle/>
          <a:p>
            <a:pPr>
              <a:lnSpc>
                <a:spcPts val="1400"/>
              </a:lnSpc>
              <a:spcAft>
                <a:spcPts val="0"/>
              </a:spcAft>
            </a:pPr>
            <a:r>
              <a:rPr lang="de-DE" sz="1000" cap="all" dirty="0">
                <a:solidFill>
                  <a:srgbClr val="233567"/>
                </a:solidFill>
                <a:effectLst/>
                <a:latin typeface="Roboto Medium" panose="02000000000000000000" pitchFamily="2" charset="0"/>
                <a:ea typeface="Roboto Medium" panose="02000000000000000000" pitchFamily="2" charset="0"/>
                <a:cs typeface="Times New Roman" panose="02020603050405020304" pitchFamily="18" charset="0"/>
              </a:rPr>
              <a:t>Stadtteil:  Köln-Nippes</a:t>
            </a:r>
            <a:endParaRPr lang="de-DE" sz="1100" dirty="0">
              <a:solidFill>
                <a:srgbClr val="233567"/>
              </a:solidFill>
              <a:effectLst/>
              <a:latin typeface="Roboto Medium" panose="02000000000000000000" pitchFamily="2" charset="0"/>
              <a:ea typeface="Roboto Medium" panose="02000000000000000000" pitchFamily="2" charset="0"/>
              <a:cs typeface="Times New Roman" panose="02020603050405020304" pitchFamily="18" charset="0"/>
            </a:endParaRPr>
          </a:p>
          <a:p>
            <a:pPr algn="just">
              <a:lnSpc>
                <a:spcPts val="1400"/>
              </a:lnSpc>
              <a:spcAft>
                <a:spcPts val="0"/>
              </a:spcAft>
            </a:pPr>
            <a:r>
              <a:rPr lang="de-DE" sz="1000" dirty="0">
                <a:solidFill>
                  <a:srgbClr val="233567"/>
                </a:solidFill>
                <a:effectLst/>
                <a:latin typeface="Roboto Light" panose="02000000000000000000" pitchFamily="2" charset="0"/>
                <a:ea typeface="Roboto Light" panose="02000000000000000000" pitchFamily="2" charset="0"/>
                <a:cs typeface="Times New Roman" panose="02020603050405020304" pitchFamily="18" charset="0"/>
              </a:rPr>
              <a:t>Der Stadtteil </a:t>
            </a:r>
            <a:r>
              <a:rPr lang="de-DE" sz="1000" dirty="0" err="1">
                <a:solidFill>
                  <a:srgbClr val="233567"/>
                </a:solidFill>
                <a:effectLst/>
                <a:latin typeface="Roboto Light" panose="02000000000000000000" pitchFamily="2" charset="0"/>
                <a:ea typeface="Roboto Light" panose="02000000000000000000" pitchFamily="2" charset="0"/>
                <a:cs typeface="Times New Roman" panose="02020603050405020304" pitchFamily="18" charset="0"/>
              </a:rPr>
              <a:t>Pempelfort</a:t>
            </a:r>
            <a:r>
              <a:rPr lang="de-DE" sz="1000" dirty="0">
                <a:solidFill>
                  <a:srgbClr val="233567"/>
                </a:solidFill>
                <a:effectLst/>
                <a:latin typeface="Roboto Light" panose="02000000000000000000" pitchFamily="2" charset="0"/>
                <a:ea typeface="Roboto Light" panose="02000000000000000000" pitchFamily="2" charset="0"/>
                <a:cs typeface="Times New Roman" panose="02020603050405020304" pitchFamily="18" charset="0"/>
              </a:rPr>
              <a:t> liegt mittig im Düsseldorfer Stadtgebiet. Es zählt flächenmäßig zu den größten Stadtteilen Düsseldorfs und weist eine besonders hohe Bevölkerungsdichte auf. Durch weitläufige Grünanlagen wie den Hofgarten oder das Schloss </a:t>
            </a:r>
            <a:r>
              <a:rPr lang="de-DE" sz="1000" dirty="0" err="1">
                <a:solidFill>
                  <a:srgbClr val="233567"/>
                </a:solidFill>
                <a:effectLst/>
                <a:latin typeface="Roboto Light" panose="02000000000000000000" pitchFamily="2" charset="0"/>
                <a:ea typeface="Roboto Light" panose="02000000000000000000" pitchFamily="2" charset="0"/>
                <a:cs typeface="Times New Roman" panose="02020603050405020304" pitchFamily="18" charset="0"/>
              </a:rPr>
              <a:t>Jägerhof</a:t>
            </a:r>
            <a:r>
              <a:rPr lang="de-DE" sz="1000" dirty="0">
                <a:solidFill>
                  <a:srgbClr val="233567"/>
                </a:solidFill>
                <a:effectLst/>
                <a:latin typeface="Roboto Light" panose="02000000000000000000" pitchFamily="2" charset="0"/>
                <a:ea typeface="Roboto Light" panose="02000000000000000000" pitchFamily="2" charset="0"/>
                <a:cs typeface="Times New Roman" panose="02020603050405020304" pitchFamily="18" charset="0"/>
              </a:rPr>
              <a:t> bietet </a:t>
            </a:r>
            <a:r>
              <a:rPr lang="de-DE" sz="1000" dirty="0" err="1">
                <a:solidFill>
                  <a:srgbClr val="233567"/>
                </a:solidFill>
                <a:effectLst/>
                <a:latin typeface="Roboto Light" panose="02000000000000000000" pitchFamily="2" charset="0"/>
                <a:ea typeface="Roboto Light" panose="02000000000000000000" pitchFamily="2" charset="0"/>
                <a:cs typeface="Times New Roman" panose="02020603050405020304" pitchFamily="18" charset="0"/>
              </a:rPr>
              <a:t>Pempelfort</a:t>
            </a:r>
            <a:r>
              <a:rPr lang="de-DE" sz="1000" dirty="0">
                <a:solidFill>
                  <a:srgbClr val="233567"/>
                </a:solidFill>
                <a:effectLst/>
                <a:latin typeface="Roboto Light" panose="02000000000000000000" pitchFamily="2" charset="0"/>
                <a:ea typeface="Roboto Light" panose="02000000000000000000" pitchFamily="2" charset="0"/>
                <a:cs typeface="Times New Roman" panose="02020603050405020304" pitchFamily="18" charset="0"/>
              </a:rPr>
              <a:t> eine lebenswerte Mischung aus </a:t>
            </a:r>
            <a:r>
              <a:rPr lang="de-DE" sz="1000" dirty="0" err="1">
                <a:solidFill>
                  <a:srgbClr val="233567"/>
                </a:solidFill>
                <a:effectLst/>
                <a:latin typeface="Roboto Light" panose="02000000000000000000" pitchFamily="2" charset="0"/>
                <a:ea typeface="Roboto Light" panose="02000000000000000000" pitchFamily="2" charset="0"/>
                <a:cs typeface="Times New Roman" panose="02020603050405020304" pitchFamily="18" charset="0"/>
              </a:rPr>
              <a:t>pulsiernder</a:t>
            </a:r>
            <a:r>
              <a:rPr lang="de-DE" sz="1000" dirty="0">
                <a:solidFill>
                  <a:srgbClr val="233567"/>
                </a:solidFill>
                <a:effectLst/>
                <a:latin typeface="Roboto Light" panose="02000000000000000000" pitchFamily="2" charset="0"/>
                <a:ea typeface="Roboto Light" panose="02000000000000000000" pitchFamily="2" charset="0"/>
                <a:cs typeface="Times New Roman" panose="02020603050405020304" pitchFamily="18" charset="0"/>
              </a:rPr>
              <a:t> Urbanität und Leben im Grünen. Der Stadtteil verfügt über ein breites und tiefes Angebot des Einzelhandels und Gastronomie. Die multikulturelle Sozialstruktur macht </a:t>
            </a:r>
            <a:r>
              <a:rPr lang="de-DE" sz="1000" dirty="0" err="1">
                <a:solidFill>
                  <a:srgbClr val="233567"/>
                </a:solidFill>
                <a:effectLst/>
                <a:latin typeface="Roboto Light" panose="02000000000000000000" pitchFamily="2" charset="0"/>
                <a:ea typeface="Roboto Light" panose="02000000000000000000" pitchFamily="2" charset="0"/>
                <a:cs typeface="Times New Roman" panose="02020603050405020304" pitchFamily="18" charset="0"/>
              </a:rPr>
              <a:t>Pempelfort</a:t>
            </a:r>
            <a:r>
              <a:rPr lang="de-DE" sz="1000" dirty="0">
                <a:solidFill>
                  <a:srgbClr val="233567"/>
                </a:solidFill>
                <a:effectLst/>
                <a:latin typeface="Roboto Light" panose="02000000000000000000" pitchFamily="2" charset="0"/>
                <a:ea typeface="Roboto Light" panose="02000000000000000000" pitchFamily="2" charset="0"/>
                <a:cs typeface="Times New Roman" panose="02020603050405020304" pitchFamily="18" charset="0"/>
              </a:rPr>
              <a:t> vor allem attraktiv für junge Familien und Menschen jeder Altersgruppe.</a:t>
            </a:r>
            <a:endParaRPr lang="de-DE" sz="1100" dirty="0">
              <a:solidFill>
                <a:srgbClr val="233567"/>
              </a:solidFill>
              <a:effectLst/>
              <a:latin typeface="Roboto Light" panose="02000000000000000000" pitchFamily="2" charset="0"/>
              <a:ea typeface="Roboto Light" panose="02000000000000000000" pitchFamily="2" charset="0"/>
              <a:cs typeface="Times New Roman" panose="02020603050405020304" pitchFamily="18" charset="0"/>
            </a:endParaRPr>
          </a:p>
          <a:p>
            <a:pPr algn="just">
              <a:lnSpc>
                <a:spcPts val="1400"/>
              </a:lnSpc>
              <a:spcAft>
                <a:spcPts val="0"/>
              </a:spcAft>
            </a:pPr>
            <a:endParaRPr lang="de-DE" sz="1100" dirty="0">
              <a:solidFill>
                <a:srgbClr val="233567"/>
              </a:solidFill>
              <a:effectLst/>
              <a:latin typeface="Roboto Light" panose="02000000000000000000" pitchFamily="2" charset="0"/>
              <a:ea typeface="Roboto Light" panose="02000000000000000000" pitchFamily="2" charset="0"/>
              <a:cs typeface="Times New Roman" panose="02020603050405020304" pitchFamily="18" charset="0"/>
            </a:endParaRPr>
          </a:p>
        </p:txBody>
      </p:sp>
      <p:sp>
        <p:nvSpPr>
          <p:cNvPr id="6" name="Bildplatzhalter 5">
            <a:extLst>
              <a:ext uri="{FF2B5EF4-FFF2-40B4-BE49-F238E27FC236}">
                <a16:creationId xmlns:a16="http://schemas.microsoft.com/office/drawing/2014/main" id="{2E5E06C5-FDB7-D119-EB3E-FF996BB16E0B}"/>
              </a:ext>
            </a:extLst>
          </p:cNvPr>
          <p:cNvSpPr>
            <a:spLocks noGrp="1"/>
          </p:cNvSpPr>
          <p:nvPr>
            <p:ph type="pic" sz="quarter" idx="13"/>
          </p:nvPr>
        </p:nvSpPr>
        <p:spPr>
          <a:solidFill>
            <a:schemeClr val="bg1">
              <a:lumMod val="95000"/>
            </a:schemeClr>
          </a:solidFill>
        </p:spPr>
        <p:txBody>
          <a:bodyPr/>
          <a:lstStyle/>
          <a:p>
            <a:endParaRPr lang="de-DE"/>
          </a:p>
        </p:txBody>
      </p:sp>
      <p:sp>
        <p:nvSpPr>
          <p:cNvPr id="5" name="Bildplatzhalter 4">
            <a:extLst>
              <a:ext uri="{FF2B5EF4-FFF2-40B4-BE49-F238E27FC236}">
                <a16:creationId xmlns:a16="http://schemas.microsoft.com/office/drawing/2014/main" id="{5CF614E7-EA7B-485B-54F9-D673EB783DAF}"/>
              </a:ext>
            </a:extLst>
          </p:cNvPr>
          <p:cNvSpPr>
            <a:spLocks noGrp="1"/>
          </p:cNvSpPr>
          <p:nvPr>
            <p:ph type="pic" sz="quarter" idx="10"/>
          </p:nvPr>
        </p:nvSpPr>
        <p:spPr>
          <a:xfrm>
            <a:off x="359999" y="1509870"/>
            <a:ext cx="5154492" cy="3542264"/>
          </a:xfrm>
          <a:solidFill>
            <a:schemeClr val="bg1">
              <a:lumMod val="95000"/>
            </a:schemeClr>
          </a:solidFill>
        </p:spPr>
        <p:txBody>
          <a:bodyPr/>
          <a:lstStyle/>
          <a:p>
            <a:endParaRPr lang="de-DE"/>
          </a:p>
        </p:txBody>
      </p:sp>
      <p:sp>
        <p:nvSpPr>
          <p:cNvPr id="7" name="Textplatzhalter 6">
            <a:extLst>
              <a:ext uri="{FF2B5EF4-FFF2-40B4-BE49-F238E27FC236}">
                <a16:creationId xmlns:a16="http://schemas.microsoft.com/office/drawing/2014/main" id="{6BDBC1C6-40FC-AE7E-2F5B-91BC8957EC1E}"/>
              </a:ext>
            </a:extLst>
          </p:cNvPr>
          <p:cNvSpPr>
            <a:spLocks noGrp="1"/>
          </p:cNvSpPr>
          <p:nvPr>
            <p:ph type="body" sz="quarter" idx="14"/>
          </p:nvPr>
        </p:nvSpPr>
        <p:spPr/>
        <p:txBody>
          <a:bodyPr/>
          <a:lstStyle/>
          <a:p>
            <a:r>
              <a:rPr lang="de-DE" dirty="0"/>
              <a:t>MIKROLAGE</a:t>
            </a:r>
          </a:p>
        </p:txBody>
      </p:sp>
      <p:sp>
        <p:nvSpPr>
          <p:cNvPr id="10" name="Textplatzhalter 9">
            <a:extLst>
              <a:ext uri="{FF2B5EF4-FFF2-40B4-BE49-F238E27FC236}">
                <a16:creationId xmlns:a16="http://schemas.microsoft.com/office/drawing/2014/main" id="{95F709AD-5141-FE21-7265-A2F3C9B4FECB}"/>
              </a:ext>
            </a:extLst>
          </p:cNvPr>
          <p:cNvSpPr>
            <a:spLocks noGrp="1"/>
          </p:cNvSpPr>
          <p:nvPr>
            <p:ph type="body" sz="quarter" idx="15"/>
          </p:nvPr>
        </p:nvSpPr>
        <p:spPr/>
        <p:txBody>
          <a:bodyPr/>
          <a:lstStyle/>
          <a:p>
            <a:r>
              <a:rPr lang="de-DE" sz="1200" dirty="0">
                <a:latin typeface="Roboto Light" panose="02000000000000000000" pitchFamily="2" charset="0"/>
                <a:ea typeface="Roboto Light" panose="02000000000000000000" pitchFamily="2" charset="0"/>
                <a:cs typeface="Times New Roman" panose="02020603050405020304" pitchFamily="18" charset="0"/>
              </a:rPr>
              <a:t>Wohn- und Geschäftshaus </a:t>
            </a:r>
            <a:r>
              <a:rPr lang="de-DE" sz="1200" dirty="0">
                <a:effectLst/>
                <a:latin typeface="Roboto Light" panose="02000000000000000000" pitchFamily="2" charset="0"/>
                <a:ea typeface="Roboto Light" panose="02000000000000000000" pitchFamily="2" charset="0"/>
                <a:cs typeface="Times New Roman" panose="02020603050405020304" pitchFamily="18" charset="0"/>
              </a:rPr>
              <a:t>| Burgstraße 21 | 50xxx Köln</a:t>
            </a:r>
            <a:endParaRPr lang="de-DE" sz="1100" dirty="0">
              <a:effectLst/>
              <a:latin typeface="Roboto Light" panose="02000000000000000000" pitchFamily="2" charset="0"/>
              <a:ea typeface="Roboto Light" panose="02000000000000000000" pitchFamily="2" charset="0"/>
              <a:cs typeface="Times New Roman" panose="02020603050405020304" pitchFamily="18" charset="0"/>
            </a:endParaRPr>
          </a:p>
        </p:txBody>
      </p:sp>
      <p:sp>
        <p:nvSpPr>
          <p:cNvPr id="2" name="Dreieck 1">
            <a:extLst>
              <a:ext uri="{FF2B5EF4-FFF2-40B4-BE49-F238E27FC236}">
                <a16:creationId xmlns:a16="http://schemas.microsoft.com/office/drawing/2014/main" id="{9295E833-88F7-9FAA-7525-B896B55DB10C}"/>
              </a:ext>
            </a:extLst>
          </p:cNvPr>
          <p:cNvSpPr/>
          <p:nvPr/>
        </p:nvSpPr>
        <p:spPr>
          <a:xfrm rot="18258716">
            <a:off x="5214062" y="798694"/>
            <a:ext cx="219004" cy="471612"/>
          </a:xfrm>
          <a:prstGeom prst="triangle">
            <a:avLst/>
          </a:prstGeom>
          <a:solidFill>
            <a:schemeClr val="bg1"/>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130544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28FBA20B-E65C-D4C7-B5C9-BD5694900903}"/>
              </a:ext>
            </a:extLst>
          </p:cNvPr>
          <p:cNvSpPr/>
          <p:nvPr/>
        </p:nvSpPr>
        <p:spPr>
          <a:xfrm>
            <a:off x="0" y="2671705"/>
            <a:ext cx="4993627" cy="1283349"/>
          </a:xfrm>
          <a:prstGeom prst="rect">
            <a:avLst/>
          </a:prstGeom>
          <a:solidFill>
            <a:srgbClr val="233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6" name="Textfeld 25"/>
          <p:cNvSpPr txBox="1"/>
          <p:nvPr/>
        </p:nvSpPr>
        <p:spPr>
          <a:xfrm>
            <a:off x="2427647" y="2671706"/>
            <a:ext cx="2565980" cy="2133376"/>
          </a:xfrm>
          <a:prstGeom prst="rect">
            <a:avLst/>
          </a:prstGeom>
          <a:noFill/>
        </p:spPr>
        <p:txBody>
          <a:bodyPr wrap="square" lIns="144000" tIns="108000" rIns="72000" bIns="72000" rtlCol="0">
            <a:no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solidFill>
                  <a:schemeClr val="bg1"/>
                </a:solidFill>
                <a:effectLst/>
                <a:uLnTx/>
                <a:uFillTx/>
                <a:latin typeface="Roboto Medium" panose="02000000000000000000" pitchFamily="2" charset="0"/>
                <a:ea typeface="Roboto Medium" panose="02000000000000000000" pitchFamily="2" charset="0"/>
                <a:cs typeface="Times New Roman" panose="02020603050405020304" pitchFamily="18" charset="0"/>
              </a:rPr>
              <a:t>Sebastian Grenz</a:t>
            </a:r>
            <a:endParaRPr kumimoji="0" lang="de-DE" sz="1200" b="0" i="0" u="none" strike="noStrike" kern="1200" cap="none" spc="0" normalizeH="0" baseline="0" noProof="0" dirty="0">
              <a:ln>
                <a:noFill/>
              </a:ln>
              <a:solidFill>
                <a:schemeClr val="bg1"/>
              </a:solidFill>
              <a:effectLst/>
              <a:uLnTx/>
              <a:uFillTx/>
              <a:latin typeface="Roboto Medium" panose="02000000000000000000" pitchFamily="2" charset="0"/>
              <a:ea typeface="Roboto Medium" panose="02000000000000000000" pitchFamily="2" charset="0"/>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cs typeface="Times New Roman" panose="02020603050405020304" pitchFamily="18" charset="0"/>
              </a:rPr>
              <a:t>Geschäftsführer</a:t>
            </a:r>
            <a:endParaRPr kumimoji="0" lang="de-DE" sz="1200" b="0"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endParaRPr>
          </a:p>
          <a:p>
            <a:pPr marL="0" marR="0" lvl="0" indent="0" algn="l" defTabSz="457200" rtl="0" eaLnBrk="1" fontAlgn="auto" latinLnBrk="0" hangingPunct="1">
              <a:lnSpc>
                <a:spcPts val="1400"/>
              </a:lnSpc>
              <a:spcBef>
                <a:spcPts val="0"/>
              </a:spcBef>
              <a:spcAft>
                <a:spcPts val="0"/>
              </a:spcAft>
              <a:buClrTx/>
              <a:buSzTx/>
              <a:buFontTx/>
              <a:buNone/>
              <a:tabLst/>
              <a:defRPr/>
            </a:pPr>
            <a:endParaRPr kumimoji="0" lang="en-US" sz="1000" b="0"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cs typeface="Times New Roman" panose="02020603050405020304" pitchFamily="18" charset="0"/>
              </a:rPr>
              <a:t>T  +49 221 669 648-51</a:t>
            </a:r>
            <a:endParaRPr kumimoji="0" lang="de-DE" sz="1200" b="0"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cs typeface="Times New Roman" panose="02020603050405020304" pitchFamily="18" charset="0"/>
              </a:rPr>
              <a:t>M +49 </a:t>
            </a:r>
            <a:r>
              <a:rPr lang="de-DE" sz="1000" dirty="0">
                <a:solidFill>
                  <a:schemeClr val="bg1"/>
                </a:solidFill>
                <a:latin typeface="Roboto Light" panose="02000000000000000000" pitchFamily="2" charset="0"/>
                <a:ea typeface="Roboto Light" panose="02000000000000000000" pitchFamily="2" charset="0"/>
                <a:cs typeface="Times New Roman" panose="02020603050405020304" pitchFamily="18" charset="0"/>
              </a:rPr>
              <a:t>151 438 107 65</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cs typeface="Times New Roman" panose="02020603050405020304" pitchFamily="18" charset="0"/>
              </a:rPr>
              <a:t>s.grenz@grenz-co.de</a:t>
            </a:r>
          </a:p>
          <a:p>
            <a:pPr marL="0" marR="0" lvl="0" indent="0" algn="l" defTabSz="457200" rtl="0" eaLnBrk="1" fontAlgn="auto" latinLnBrk="0" hangingPunct="1">
              <a:lnSpc>
                <a:spcPts val="1400"/>
              </a:lnSpc>
              <a:spcBef>
                <a:spcPts val="0"/>
              </a:spcBef>
              <a:spcAft>
                <a:spcPts val="0"/>
              </a:spcAft>
              <a:buClrTx/>
              <a:buSzTx/>
              <a:buFontTx/>
              <a:buNone/>
              <a:tabLst/>
              <a:defRPr/>
            </a:pPr>
            <a:endParaRPr lang="de-DE" sz="1000" dirty="0">
              <a:solidFill>
                <a:schemeClr val="bg1"/>
              </a:solidFill>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l" defTabSz="457200" rtl="0" eaLnBrk="1" fontAlgn="auto" latinLnBrk="0" hangingPunct="1">
              <a:lnSpc>
                <a:spcPts val="1400"/>
              </a:lnSpc>
              <a:spcBef>
                <a:spcPts val="0"/>
              </a:spcBef>
              <a:spcAft>
                <a:spcPts val="0"/>
              </a:spcAft>
              <a:buClrTx/>
              <a:buSzTx/>
              <a:buFontTx/>
              <a:buNone/>
              <a:tabLst/>
              <a:defRPr/>
            </a:pPr>
            <a:r>
              <a:rPr lang="de-DE" sz="1000" dirty="0">
                <a:latin typeface="Roboto Light" panose="02000000000000000000" pitchFamily="2" charset="0"/>
                <a:ea typeface="Roboto Light" panose="02000000000000000000" pitchFamily="2" charset="0"/>
                <a:cs typeface="Times New Roman" panose="02020603050405020304" pitchFamily="18" charset="0"/>
              </a:rPr>
              <a:t>Grenz &amp; Co. Immobilienberatungs-GmbH</a:t>
            </a:r>
          </a:p>
          <a:p>
            <a:pPr marL="0" marR="0" lvl="0" indent="0" algn="l" defTabSz="457200" rtl="0" eaLnBrk="1" fontAlgn="auto" latinLnBrk="0" hangingPunct="1">
              <a:lnSpc>
                <a:spcPts val="1400"/>
              </a:lnSpc>
              <a:spcBef>
                <a:spcPts val="0"/>
              </a:spcBef>
              <a:spcAft>
                <a:spcPts val="0"/>
              </a:spcAft>
              <a:buClrTx/>
              <a:buSzTx/>
              <a:buFontTx/>
              <a:buNone/>
              <a:tabLst/>
              <a:defRPr/>
            </a:pPr>
            <a:r>
              <a:rPr lang="de-DE" sz="1000" dirty="0">
                <a:latin typeface="Roboto Light" panose="02000000000000000000" pitchFamily="2" charset="0"/>
                <a:ea typeface="Roboto Light" panose="02000000000000000000" pitchFamily="2" charset="0"/>
                <a:cs typeface="Times New Roman" panose="02020603050405020304" pitchFamily="18" charset="0"/>
              </a:rPr>
              <a:t>Friesenplatz 1 – 50672 Köln</a:t>
            </a:r>
          </a:p>
          <a:p>
            <a:pPr marL="0" marR="0" lvl="0" indent="0" algn="l" defTabSz="457200" rtl="0" eaLnBrk="1" fontAlgn="auto" latinLnBrk="0" hangingPunct="1">
              <a:lnSpc>
                <a:spcPts val="1400"/>
              </a:lnSpc>
              <a:spcBef>
                <a:spcPts val="0"/>
              </a:spcBef>
              <a:spcAft>
                <a:spcPts val="0"/>
              </a:spcAft>
              <a:buClrTx/>
              <a:buSzTx/>
              <a:buFontTx/>
              <a:buNone/>
              <a:tabLst/>
              <a:defRPr/>
            </a:pPr>
            <a:endParaRPr kumimoji="0" lang="de-DE" sz="1200" b="0" i="0" u="none" strike="noStrike" kern="1200" cap="none" spc="0" normalizeH="0" baseline="0" noProof="0" dirty="0">
              <a:ln>
                <a:noFill/>
              </a:ln>
              <a:solidFill>
                <a:schemeClr val="bg1"/>
              </a:solidFill>
              <a:effectLst/>
              <a:uLnTx/>
              <a:uFillTx/>
              <a:latin typeface="Roboto Light" panose="02000000000000000000" pitchFamily="2" charset="0"/>
              <a:ea typeface="Roboto Light" panose="02000000000000000000" pitchFamily="2" charset="0"/>
            </a:endParaRPr>
          </a:p>
        </p:txBody>
      </p:sp>
      <p:pic>
        <p:nvPicPr>
          <p:cNvPr id="8" name="Bildplatzhalter 7">
            <a:extLst>
              <a:ext uri="{FF2B5EF4-FFF2-40B4-BE49-F238E27FC236}">
                <a16:creationId xmlns:a16="http://schemas.microsoft.com/office/drawing/2014/main" id="{E8FF087C-5C68-D468-3848-1846DC4289F5}"/>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27401" r="8221" b="1151"/>
          <a:stretch/>
        </p:blipFill>
        <p:spPr>
          <a:xfrm>
            <a:off x="5791936" y="1390649"/>
            <a:ext cx="4993627" cy="5109303"/>
          </a:xfrm>
          <a:solidFill>
            <a:schemeClr val="bg1">
              <a:lumMod val="95000"/>
            </a:schemeClr>
          </a:solidFill>
        </p:spPr>
      </p:pic>
      <p:sp>
        <p:nvSpPr>
          <p:cNvPr id="10" name="Textplatzhalter 9">
            <a:extLst>
              <a:ext uri="{FF2B5EF4-FFF2-40B4-BE49-F238E27FC236}">
                <a16:creationId xmlns:a16="http://schemas.microsoft.com/office/drawing/2014/main" id="{5A742723-B687-40EA-FF56-8AD73B2EA5A1}"/>
              </a:ext>
            </a:extLst>
          </p:cNvPr>
          <p:cNvSpPr>
            <a:spLocks noGrp="1"/>
          </p:cNvSpPr>
          <p:nvPr>
            <p:ph type="body" sz="quarter" idx="15"/>
          </p:nvPr>
        </p:nvSpPr>
        <p:spPr/>
        <p:txBody>
          <a:bodyPr/>
          <a:lstStyle/>
          <a:p>
            <a:r>
              <a:rPr lang="de-DE" dirty="0"/>
              <a:t>KONTAKT</a:t>
            </a:r>
          </a:p>
        </p:txBody>
      </p:sp>
      <p:sp>
        <p:nvSpPr>
          <p:cNvPr id="2" name="Textplatzhalter 10">
            <a:extLst>
              <a:ext uri="{FF2B5EF4-FFF2-40B4-BE49-F238E27FC236}">
                <a16:creationId xmlns:a16="http://schemas.microsoft.com/office/drawing/2014/main" id="{10F4BDA5-4201-DDC5-7B11-673FF2964DC4}"/>
              </a:ext>
            </a:extLst>
          </p:cNvPr>
          <p:cNvSpPr txBox="1">
            <a:spLocks/>
          </p:cNvSpPr>
          <p:nvPr/>
        </p:nvSpPr>
        <p:spPr>
          <a:xfrm>
            <a:off x="359999" y="933516"/>
            <a:ext cx="9000000" cy="252000"/>
          </a:xfrm>
          <a:prstGeom prst="rect">
            <a:avLst/>
          </a:prstGeom>
        </p:spPr>
        <p:txBody>
          <a:bodyPr lIns="0" tIns="0" rIns="0" bIns="0" anchor="t" anchorCtr="0"/>
          <a:lstStyle>
            <a:lvl1pPr marL="0" indent="0" algn="l" defTabSz="1007943" rtl="0" eaLnBrk="1" latinLnBrk="0" hangingPunct="1">
              <a:lnSpc>
                <a:spcPct val="90000"/>
              </a:lnSpc>
              <a:spcBef>
                <a:spcPts val="1102"/>
              </a:spcBef>
              <a:buFont typeface="Arial" panose="020B0604020202020204" pitchFamily="34" charset="0"/>
              <a:buNone/>
              <a:defRPr sz="1200" kern="1200">
                <a:solidFill>
                  <a:schemeClr val="tx1"/>
                </a:solidFill>
                <a:latin typeface="Roboto Light" panose="02000000000000000000" pitchFamily="2" charset="0"/>
                <a:ea typeface="Roboto Light" panose="02000000000000000000" pitchFamily="2" charset="0"/>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de-DE"/>
              <a:t>Wohn- und Geschäftshaus | Biberstraße 35 | 50678 Köln</a:t>
            </a:r>
            <a:endParaRPr lang="de-DE" dirty="0"/>
          </a:p>
        </p:txBody>
      </p:sp>
      <p:pic>
        <p:nvPicPr>
          <p:cNvPr id="16" name="Bildplatzhalter 15">
            <a:extLst>
              <a:ext uri="{FF2B5EF4-FFF2-40B4-BE49-F238E27FC236}">
                <a16:creationId xmlns:a16="http://schemas.microsoft.com/office/drawing/2014/main" id="{94A4BA7B-5F5C-5B76-35BD-BC7A63BECDC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35475" t="130" r="21346" b="34634"/>
          <a:stretch/>
        </p:blipFill>
        <p:spPr>
          <a:xfrm>
            <a:off x="1172896" y="2671705"/>
            <a:ext cx="1277130" cy="1283349"/>
          </a:xfrm>
        </p:spPr>
      </p:pic>
    </p:spTree>
    <p:extLst>
      <p:ext uri="{BB962C8B-B14F-4D97-AF65-F5344CB8AC3E}">
        <p14:creationId xmlns:p14="http://schemas.microsoft.com/office/powerpoint/2010/main" val="303165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15E71A9-B9C8-AEBA-F3B2-F8A486A97FD9}"/>
              </a:ext>
            </a:extLst>
          </p:cNvPr>
          <p:cNvSpPr/>
          <p:nvPr/>
        </p:nvSpPr>
        <p:spPr>
          <a:xfrm>
            <a:off x="5580062" y="1394145"/>
            <a:ext cx="5033963" cy="14939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Textfeld 18"/>
          <p:cNvSpPr txBox="1"/>
          <p:nvPr/>
        </p:nvSpPr>
        <p:spPr>
          <a:xfrm>
            <a:off x="5511800" y="1394144"/>
            <a:ext cx="5102225" cy="1493912"/>
          </a:xfrm>
          <a:prstGeom prst="rect">
            <a:avLst/>
          </a:prstGeom>
          <a:noFill/>
        </p:spPr>
        <p:txBody>
          <a:bodyPr wrap="square" lIns="216000" tIns="144000" rIns="216000" bIns="216000" rtlCol="0" anchor="t" anchorCtr="0">
            <a:noAutofit/>
          </a:bodyPr>
          <a:lstStyle/>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rPr>
              <a:t>Provision</a:t>
            </a:r>
            <a:endParaRPr kumimoji="0" lang="de-DE" sz="1100" b="0" i="0" u="none" strike="noStrike" kern="1200" cap="none"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lang="de-DE" sz="1000" dirty="0">
              <a:latin typeface="Roboto Light" panose="02000000000000000000" pitchFamily="2" charset="0"/>
              <a:ea typeface="Roboto Light" panose="02000000000000000000" pitchFamily="2" charset="0"/>
              <a:cs typeface="Times New Roman" panose="02020603050405020304" pitchFamily="18" charset="0"/>
            </a:endParaRPr>
          </a:p>
          <a:p>
            <a:pPr algn="just">
              <a:lnSpc>
                <a:spcPts val="1400"/>
              </a:lnSpc>
            </a:pPr>
            <a:r>
              <a:rPr lang="de-DE" sz="1000" dirty="0">
                <a:latin typeface="Roboto Light" panose="02000000000000000000" pitchFamily="2" charset="0"/>
                <a:ea typeface="Roboto Light" panose="02000000000000000000" pitchFamily="2" charset="0"/>
              </a:rPr>
              <a:t>Die Eigentümerin hat Grenz &amp; Co.  exklusiv als Berater mit der Vermarktung der Liegenschaft beauftragt. Daher können wir Ihnen das Angebot entgegen unseren Allgemeinen Geschäftsbedingungen (AGB) provisionsfrei unterbreiten. Alle übrigen Bestandteile unserer AGB bleiben unverändert bestehen.</a:t>
            </a:r>
          </a:p>
          <a:p>
            <a:pPr lvl="0" algn="just">
              <a:lnSpc>
                <a:spcPts val="1400"/>
              </a:lnSpc>
              <a:defRPr/>
            </a:pPr>
            <a:endParaRPr lang="de-DE" sz="1000" dirty="0">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kumimoji="0" lang="de-DE" sz="11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kumimoji="0" lang="de-DE" sz="11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kumimoji="0" lang="de-DE" sz="12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p:txBody>
      </p:sp>
      <p:sp>
        <p:nvSpPr>
          <p:cNvPr id="17" name="Textfeld 18"/>
          <p:cNvSpPr txBox="1"/>
          <p:nvPr/>
        </p:nvSpPr>
        <p:spPr>
          <a:xfrm>
            <a:off x="359999" y="1394143"/>
            <a:ext cx="5062901" cy="5232016"/>
          </a:xfrm>
          <a:prstGeom prst="rect">
            <a:avLst/>
          </a:prstGeom>
          <a:noFill/>
        </p:spPr>
        <p:txBody>
          <a:bodyPr wrap="square" lIns="216000" tIns="144000" rIns="216000" bIns="216000" rtlCol="0" anchor="t" anchorCtr="0">
            <a:noAutofit/>
          </a:bodyPr>
          <a:lstStyle/>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rPr>
              <a:t>disclaimer</a:t>
            </a:r>
            <a:endParaRPr kumimoji="0" lang="de-DE" sz="1100" b="0" i="0" u="none" strike="noStrike" kern="1200" cap="none"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kumimoji="0" lang="de-DE" sz="11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Grenz &amp; Co. hat dieses Exposé im Auftrag des Verkäufers erstellt. Es dient rein informatorischen Zwecken und soll dem Empfänger eine Übersicht über die wesentlichen Rahmendaten des Objekts geben. </a:t>
            </a: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Das Exposé erhebt keinerlei Anspruch auf Vollständigkeit. Die zugrundeliegenden Informationen wurden Grenz &amp; Co. vom Verkäufer und/oder von Dritten zur Verfügung gestellt. Die Vollständigkeit sowie die Richtigkeit dieser Informationen wurde von Grenz &amp; Co. nicht überprüft; sie können jederzeit geändert bzw. aktualisiert werden. </a:t>
            </a: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Eine Haftung von Grenz &amp; Co. für direkte oder indirekte Schäden des Empfängers aufgrund von Fehlerhaftigkeiten oder Unvollständigkeiten der in diesem Exposé enthaltenen Informationen ist ausgeschlossen. </a:t>
            </a: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Grenz &amp; Co. und der Verkäufer sind nicht dazu verpflichtet, Kaufinteressenten weitere Informationen zur Verfügung zu stellen. Ein Anspruch auf Erwerb des Objekts oder auf die Durchführung von Verkaufsverhandlungen besteht nicht. </a:t>
            </a: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Kaufinteressenten wird empfohlen, eine eigene Ankaufsprüfung und Analyse über das zum Verkauf stehende Objekt durchzuführen und in diesem Zusammenhang professionelle Berater hinzuzuziehen.</a:t>
            </a:r>
          </a:p>
          <a:p>
            <a:pPr marL="0" marR="0" lvl="0" indent="0" algn="just" defTabSz="457200" rtl="0" eaLnBrk="1" fontAlgn="auto" latinLnBrk="0" hangingPunct="1">
              <a:lnSpc>
                <a:spcPts val="1400"/>
              </a:lnSpc>
              <a:spcBef>
                <a:spcPts val="0"/>
              </a:spcBef>
              <a:spcAft>
                <a:spcPts val="0"/>
              </a:spcAft>
              <a:buClrTx/>
              <a:buSzTx/>
              <a:buFontTx/>
              <a:buNone/>
              <a:tabLst/>
              <a:defRPr/>
            </a:pPr>
            <a:endParaRPr lang="de-DE" sz="1000" dirty="0">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rPr>
              <a:t>Energieausweis</a:t>
            </a:r>
            <a:endParaRPr kumimoji="0" lang="de-DE" sz="1000" b="0" i="0" u="none" strike="noStrike" kern="1200" cap="none"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Zum Zeitpunkt der Erstellung des Exposés lag uns der entsprechenden Energieausweis nicht vor. Nach § 16 EnEV 2014 ist der Verkäufer/Vermieter jedoch dazu verpflichtet, dem Kauf-/Mietinteressenten den Energieausweis oder eine Kopie davon bei der Besichtigung vorzulegen und bei Abschluss des Vertrages im Original/Kopie zu übergeben.</a:t>
            </a: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2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 </a:t>
            </a:r>
            <a:endParaRPr kumimoji="0" lang="de-DE" sz="12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 </a:t>
            </a:r>
            <a:endParaRPr kumimoji="0" lang="de-DE" sz="12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p:txBody>
      </p:sp>
      <p:sp>
        <p:nvSpPr>
          <p:cNvPr id="3" name="Textplatzhalter 2">
            <a:extLst>
              <a:ext uri="{FF2B5EF4-FFF2-40B4-BE49-F238E27FC236}">
                <a16:creationId xmlns:a16="http://schemas.microsoft.com/office/drawing/2014/main" id="{BCA0E723-6C25-E15A-CB66-A85817A9819E}"/>
              </a:ext>
            </a:extLst>
          </p:cNvPr>
          <p:cNvSpPr>
            <a:spLocks noGrp="1"/>
          </p:cNvSpPr>
          <p:nvPr>
            <p:ph type="body" sz="quarter" idx="13"/>
          </p:nvPr>
        </p:nvSpPr>
        <p:spPr/>
        <p:txBody>
          <a:bodyPr/>
          <a:lstStyle/>
          <a:p>
            <a:r>
              <a:rPr lang="de-DE" sz="4000" cap="all" dirty="0">
                <a:solidFill>
                  <a:srgbClr val="233567"/>
                </a:solidFill>
                <a:latin typeface="Roboto Medium" panose="02000000000000000000" pitchFamily="2" charset="0"/>
                <a:ea typeface="Roboto Medium" panose="02000000000000000000" pitchFamily="2" charset="0"/>
                <a:cs typeface="Times New Roman" panose="02020603050405020304" pitchFamily="18" charset="0"/>
              </a:rPr>
              <a:t>Weitere </a:t>
            </a:r>
            <a:r>
              <a:rPr lang="de-DE" sz="4000" cap="all" dirty="0" err="1">
                <a:solidFill>
                  <a:srgbClr val="233567"/>
                </a:solidFill>
                <a:latin typeface="Roboto Medium" panose="02000000000000000000" pitchFamily="2" charset="0"/>
                <a:ea typeface="Roboto Medium" panose="02000000000000000000" pitchFamily="2" charset="0"/>
                <a:cs typeface="Times New Roman" panose="02020603050405020304" pitchFamily="18" charset="0"/>
              </a:rPr>
              <a:t>informationen</a:t>
            </a:r>
            <a:endParaRPr lang="de-DE" sz="4000" cap="all" dirty="0">
              <a:solidFill>
                <a:srgbClr val="233567"/>
              </a:solidFill>
              <a:latin typeface="Roboto Medium" panose="02000000000000000000" pitchFamily="2" charset="0"/>
              <a:ea typeface="Roboto Medium" panose="02000000000000000000" pitchFamily="2" charset="0"/>
              <a:cs typeface="Times New Roman" panose="02020603050405020304" pitchFamily="18" charset="0"/>
            </a:endParaRPr>
          </a:p>
        </p:txBody>
      </p:sp>
      <p:sp>
        <p:nvSpPr>
          <p:cNvPr id="2" name="Textplatzhalter 10">
            <a:extLst>
              <a:ext uri="{FF2B5EF4-FFF2-40B4-BE49-F238E27FC236}">
                <a16:creationId xmlns:a16="http://schemas.microsoft.com/office/drawing/2014/main" id="{01A3ADE2-7575-0B9B-1ACF-18E718539BBA}"/>
              </a:ext>
            </a:extLst>
          </p:cNvPr>
          <p:cNvSpPr txBox="1">
            <a:spLocks/>
          </p:cNvSpPr>
          <p:nvPr/>
        </p:nvSpPr>
        <p:spPr>
          <a:xfrm>
            <a:off x="359999" y="933516"/>
            <a:ext cx="9000000" cy="252000"/>
          </a:xfrm>
          <a:prstGeom prst="rect">
            <a:avLst/>
          </a:prstGeom>
        </p:spPr>
        <p:txBody>
          <a:bodyPr lIns="0" tIns="0" rIns="0" bIns="0" anchor="t" anchorCtr="0"/>
          <a:lstStyle>
            <a:lvl1pPr marL="0" indent="0" algn="l" defTabSz="1007943" rtl="0" eaLnBrk="1" latinLnBrk="0" hangingPunct="1">
              <a:lnSpc>
                <a:spcPct val="90000"/>
              </a:lnSpc>
              <a:spcBef>
                <a:spcPts val="1102"/>
              </a:spcBef>
              <a:buFont typeface="Arial" panose="020B0604020202020204" pitchFamily="34" charset="0"/>
              <a:buNone/>
              <a:defRPr sz="1200" kern="1200">
                <a:solidFill>
                  <a:schemeClr val="tx1"/>
                </a:solidFill>
                <a:latin typeface="Roboto Light" panose="02000000000000000000" pitchFamily="2" charset="0"/>
                <a:ea typeface="Roboto Light" panose="02000000000000000000" pitchFamily="2" charset="0"/>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de-DE"/>
              <a:t>Wohn- und Geschäftshaus | Biberstraße 35 | 50678 Köln</a:t>
            </a:r>
            <a:endParaRPr lang="de-DE" dirty="0"/>
          </a:p>
        </p:txBody>
      </p:sp>
    </p:spTree>
    <p:extLst>
      <p:ext uri="{BB962C8B-B14F-4D97-AF65-F5344CB8AC3E}">
        <p14:creationId xmlns:p14="http://schemas.microsoft.com/office/powerpoint/2010/main" val="1278703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CBD83-C233-5D3E-7C69-BC2398740AB8}"/>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067DC224-0892-BFDE-FF89-8BD9ADCAE427}"/>
              </a:ext>
            </a:extLst>
          </p:cNvPr>
          <p:cNvSpPr/>
          <p:nvPr/>
        </p:nvSpPr>
        <p:spPr>
          <a:xfrm>
            <a:off x="5580062" y="1394144"/>
            <a:ext cx="5033963" cy="35926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Textfeld 18">
            <a:extLst>
              <a:ext uri="{FF2B5EF4-FFF2-40B4-BE49-F238E27FC236}">
                <a16:creationId xmlns:a16="http://schemas.microsoft.com/office/drawing/2014/main" id="{1EC6C538-8D2C-A318-9A80-AE638C47A99C}"/>
              </a:ext>
            </a:extLst>
          </p:cNvPr>
          <p:cNvSpPr txBox="1"/>
          <p:nvPr/>
        </p:nvSpPr>
        <p:spPr>
          <a:xfrm>
            <a:off x="5511800" y="1394143"/>
            <a:ext cx="5102225" cy="3592671"/>
          </a:xfrm>
          <a:prstGeom prst="rect">
            <a:avLst/>
          </a:prstGeom>
          <a:noFill/>
        </p:spPr>
        <p:txBody>
          <a:bodyPr wrap="square" lIns="216000" tIns="144000" rIns="216000" bIns="216000" rtlCol="0" anchor="t" anchorCtr="0">
            <a:noAutofit/>
          </a:bodyPr>
          <a:lstStyle/>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rPr>
              <a:t>Provision</a:t>
            </a:r>
            <a:endParaRPr kumimoji="0" lang="de-DE" sz="1100" b="0" i="0" u="none" strike="noStrike" kern="1200" cap="none"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kumimoji="0" lang="de-DE" sz="11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lvl="0" algn="just">
              <a:lnSpc>
                <a:spcPts val="1400"/>
              </a:lnSpc>
              <a:defRPr/>
            </a:pPr>
            <a:r>
              <a:rPr lang="de-DE" sz="1000" dirty="0">
                <a:latin typeface="Roboto Light" panose="02000000000000000000" pitchFamily="2" charset="0"/>
                <a:ea typeface="Roboto Light" panose="02000000000000000000" pitchFamily="2" charset="0"/>
                <a:cs typeface="Times New Roman" panose="02020603050405020304" pitchFamily="18" charset="0"/>
              </a:rPr>
              <a:t>Der guten Ordnung halber weisen wir darauf hin, dass bei Abschluss eines Kaufvertrages eine Provision an unser Unternehmen vom Käufer zu zahlen ist. Bei Grundstückskäufen errechnet sich die vom Käufer zu zahlende Provision aus dem erzielten Gesamtkaufpreis und allen damit in Verbindung stehenden Nebenleistungen wie folgt:</a:t>
            </a:r>
          </a:p>
          <a:p>
            <a:pPr lvl="0" algn="just">
              <a:lnSpc>
                <a:spcPts val="1400"/>
              </a:lnSpc>
              <a:defRPr/>
            </a:pPr>
            <a:endParaRPr lang="de-DE" sz="1000" dirty="0">
              <a:latin typeface="Roboto Light" panose="02000000000000000000" pitchFamily="2" charset="0"/>
              <a:ea typeface="Roboto Light" panose="02000000000000000000" pitchFamily="2" charset="0"/>
              <a:cs typeface="Times New Roman" panose="02020603050405020304" pitchFamily="18" charset="0"/>
            </a:endParaRPr>
          </a:p>
          <a:p>
            <a:pPr marL="171450" indent="-171450">
              <a:buFontTx/>
              <a:buChar char="-"/>
            </a:pPr>
            <a:r>
              <a:rPr lang="de-DE" sz="1000" dirty="0">
                <a:latin typeface="Roboto Light" panose="02000000000000000000" pitchFamily="2" charset="0"/>
                <a:ea typeface="Roboto Light" panose="02000000000000000000" pitchFamily="2" charset="0"/>
                <a:cs typeface="Times New Roman" panose="02020603050405020304" pitchFamily="18" charset="0"/>
              </a:rPr>
              <a:t>von dem Wert bis 5 Mio. € 5 % (zzgl. </a:t>
            </a:r>
            <a:r>
              <a:rPr lang="de-DE" sz="1000" dirty="0" err="1">
                <a:latin typeface="Roboto Light" panose="02000000000000000000" pitchFamily="2" charset="0"/>
                <a:ea typeface="Roboto Light" panose="02000000000000000000" pitchFamily="2" charset="0"/>
                <a:cs typeface="Times New Roman" panose="02020603050405020304" pitchFamily="18" charset="0"/>
              </a:rPr>
              <a:t>USt</a:t>
            </a:r>
            <a:r>
              <a:rPr lang="de-DE" sz="1000" dirty="0">
                <a:latin typeface="Roboto Light" panose="02000000000000000000" pitchFamily="2" charset="0"/>
                <a:ea typeface="Roboto Light" panose="02000000000000000000" pitchFamily="2" charset="0"/>
                <a:cs typeface="Times New Roman" panose="02020603050405020304" pitchFamily="18" charset="0"/>
              </a:rPr>
              <a:t>.),</a:t>
            </a:r>
          </a:p>
          <a:p>
            <a:pPr marL="171450" indent="-171450">
              <a:buFontTx/>
              <a:buChar char="-"/>
            </a:pPr>
            <a:r>
              <a:rPr lang="de-DE" sz="1000" dirty="0">
                <a:latin typeface="Roboto Light" panose="02000000000000000000" pitchFamily="2" charset="0"/>
                <a:ea typeface="Roboto Light" panose="02000000000000000000" pitchFamily="2" charset="0"/>
                <a:cs typeface="Times New Roman" panose="02020603050405020304" pitchFamily="18" charset="0"/>
              </a:rPr>
              <a:t>von dem Wert über 5 Mio. € bis 15 Mio. € 4 % (zzgl. </a:t>
            </a:r>
            <a:r>
              <a:rPr lang="de-DE" sz="1000" dirty="0" err="1">
                <a:latin typeface="Roboto Light" panose="02000000000000000000" pitchFamily="2" charset="0"/>
                <a:ea typeface="Roboto Light" panose="02000000000000000000" pitchFamily="2" charset="0"/>
                <a:cs typeface="Times New Roman" panose="02020603050405020304" pitchFamily="18" charset="0"/>
              </a:rPr>
              <a:t>USt</a:t>
            </a:r>
            <a:r>
              <a:rPr lang="de-DE" sz="1000" dirty="0">
                <a:latin typeface="Roboto Light" panose="02000000000000000000" pitchFamily="2" charset="0"/>
                <a:ea typeface="Roboto Light" panose="02000000000000000000" pitchFamily="2" charset="0"/>
                <a:cs typeface="Times New Roman" panose="02020603050405020304" pitchFamily="18" charset="0"/>
              </a:rPr>
              <a:t>.),</a:t>
            </a:r>
          </a:p>
          <a:p>
            <a:pPr marL="171450" indent="-171450">
              <a:buFontTx/>
              <a:buChar char="-"/>
            </a:pPr>
            <a:r>
              <a:rPr lang="de-DE" sz="1000" dirty="0">
                <a:latin typeface="Roboto Light" panose="02000000000000000000" pitchFamily="2" charset="0"/>
                <a:ea typeface="Roboto Light" panose="02000000000000000000" pitchFamily="2" charset="0"/>
                <a:cs typeface="Times New Roman" panose="02020603050405020304" pitchFamily="18" charset="0"/>
              </a:rPr>
              <a:t>von dem Wert ab 15 Mio. € 3 % (zzgl. </a:t>
            </a:r>
            <a:r>
              <a:rPr lang="de-DE" sz="1000" dirty="0" err="1">
                <a:latin typeface="Roboto Light" panose="02000000000000000000" pitchFamily="2" charset="0"/>
                <a:ea typeface="Roboto Light" panose="02000000000000000000" pitchFamily="2" charset="0"/>
                <a:cs typeface="Times New Roman" panose="02020603050405020304" pitchFamily="18" charset="0"/>
              </a:rPr>
              <a:t>USt</a:t>
            </a:r>
            <a:r>
              <a:rPr lang="de-DE" sz="1000" dirty="0">
                <a:latin typeface="Roboto Light" panose="02000000000000000000" pitchFamily="2" charset="0"/>
                <a:ea typeface="Roboto Light" panose="02000000000000000000" pitchFamily="2" charset="0"/>
                <a:cs typeface="Times New Roman" panose="02020603050405020304" pitchFamily="18" charset="0"/>
              </a:rPr>
              <a:t>.)</a:t>
            </a:r>
          </a:p>
          <a:p>
            <a:pPr algn="just"/>
            <a:endParaRPr lang="de-DE" sz="1000" dirty="0">
              <a:latin typeface="Roboto Light" panose="02000000000000000000" pitchFamily="2" charset="0"/>
              <a:ea typeface="Roboto Light" panose="02000000000000000000" pitchFamily="2" charset="0"/>
              <a:cs typeface="Times New Roman" panose="02020603050405020304" pitchFamily="18" charset="0"/>
            </a:endParaRPr>
          </a:p>
          <a:p>
            <a:pPr algn="just">
              <a:buNone/>
            </a:pPr>
            <a:r>
              <a:rPr lang="de-DE" sz="1000" dirty="0">
                <a:latin typeface="Roboto Light" panose="02000000000000000000" pitchFamily="2" charset="0"/>
                <a:ea typeface="Roboto Light" panose="02000000000000000000" pitchFamily="2" charset="0"/>
                <a:cs typeface="Times New Roman" panose="02020603050405020304" pitchFamily="18" charset="0"/>
              </a:rPr>
              <a:t>Ist eine der Kaufvertragsparteien eines Grundstücks Verbraucher, so erfolgt die Berechnung unserer Provision wie folgt:</a:t>
            </a:r>
          </a:p>
          <a:p>
            <a:pPr algn="just">
              <a:buNone/>
            </a:pPr>
            <a:endParaRPr lang="de-DE" sz="1000" dirty="0">
              <a:latin typeface="Roboto Light" panose="02000000000000000000" pitchFamily="2" charset="0"/>
              <a:ea typeface="Roboto Light" panose="02000000000000000000" pitchFamily="2" charset="0"/>
              <a:cs typeface="Times New Roman" panose="02020603050405020304" pitchFamily="18" charset="0"/>
            </a:endParaRPr>
          </a:p>
          <a:p>
            <a:pPr marL="171450" indent="-171450">
              <a:buFontTx/>
              <a:buChar char="-"/>
            </a:pPr>
            <a:r>
              <a:rPr lang="de-DE" sz="1000" dirty="0">
                <a:latin typeface="Roboto Light" panose="02000000000000000000" pitchFamily="2" charset="0"/>
                <a:ea typeface="Roboto Light" panose="02000000000000000000" pitchFamily="2" charset="0"/>
                <a:cs typeface="Times New Roman" panose="02020603050405020304" pitchFamily="18" charset="0"/>
              </a:rPr>
              <a:t>von dem Wert bis 5 Mio. € 5,95 % (inkl. MwSt.),</a:t>
            </a:r>
          </a:p>
          <a:p>
            <a:pPr marL="171450" indent="-171450">
              <a:buFontTx/>
              <a:buChar char="-"/>
            </a:pPr>
            <a:r>
              <a:rPr lang="de-DE" sz="1000" dirty="0">
                <a:latin typeface="Roboto Light" panose="02000000000000000000" pitchFamily="2" charset="0"/>
                <a:ea typeface="Roboto Light" panose="02000000000000000000" pitchFamily="2" charset="0"/>
                <a:cs typeface="Times New Roman" panose="02020603050405020304" pitchFamily="18" charset="0"/>
              </a:rPr>
              <a:t>von dem Wert über 5 Mio. € bis 15 Mio. € 4,76 % (inkl. MwSt.),</a:t>
            </a:r>
          </a:p>
          <a:p>
            <a:pPr marL="171450" indent="-171450">
              <a:buFontTx/>
              <a:buChar char="-"/>
            </a:pPr>
            <a:r>
              <a:rPr lang="de-DE" sz="1000" dirty="0">
                <a:latin typeface="Roboto Light" panose="02000000000000000000" pitchFamily="2" charset="0"/>
                <a:ea typeface="Roboto Light" panose="02000000000000000000" pitchFamily="2" charset="0"/>
                <a:cs typeface="Times New Roman" panose="02020603050405020304" pitchFamily="18" charset="0"/>
              </a:rPr>
              <a:t>von dem Wert ab 15 Mio. € 3,57 % (inkl. MwSt.)</a:t>
            </a:r>
          </a:p>
          <a:p>
            <a:pPr marL="171450" indent="-171450" algn="just">
              <a:buFontTx/>
              <a:buChar char="-"/>
            </a:pPr>
            <a:endParaRPr lang="de-DE" sz="1000" dirty="0">
              <a:latin typeface="Roboto Light" panose="02000000000000000000" pitchFamily="2" charset="0"/>
              <a:ea typeface="Roboto Light" panose="02000000000000000000" pitchFamily="2" charset="0"/>
              <a:cs typeface="Times New Roman" panose="02020603050405020304" pitchFamily="18" charset="0"/>
            </a:endParaRPr>
          </a:p>
          <a:p>
            <a:pPr lvl="0" algn="just">
              <a:lnSpc>
                <a:spcPts val="1400"/>
              </a:lnSpc>
              <a:defRPr/>
            </a:pPr>
            <a:r>
              <a:rPr lang="de-DE" sz="1000" dirty="0">
                <a:latin typeface="Roboto Light" panose="02000000000000000000" pitchFamily="2" charset="0"/>
                <a:ea typeface="Roboto Light" panose="02000000000000000000" pitchFamily="2" charset="0"/>
                <a:cs typeface="Times New Roman" panose="02020603050405020304" pitchFamily="18" charset="0"/>
              </a:rPr>
              <a:t>Im Übrigen gelten unsere beigefügten Allgemeinen Geschäftsbedingungen. </a:t>
            </a: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kumimoji="0" lang="de-DE" sz="11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kumimoji="0" lang="de-DE" sz="11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kumimoji="0" lang="de-DE" sz="12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p:txBody>
      </p:sp>
      <p:sp>
        <p:nvSpPr>
          <p:cNvPr id="17" name="Textfeld 18">
            <a:extLst>
              <a:ext uri="{FF2B5EF4-FFF2-40B4-BE49-F238E27FC236}">
                <a16:creationId xmlns:a16="http://schemas.microsoft.com/office/drawing/2014/main" id="{01899B2B-53B9-9058-CC9D-FDC86DD8A398}"/>
              </a:ext>
            </a:extLst>
          </p:cNvPr>
          <p:cNvSpPr txBox="1"/>
          <p:nvPr/>
        </p:nvSpPr>
        <p:spPr>
          <a:xfrm>
            <a:off x="359999" y="1394143"/>
            <a:ext cx="5062901" cy="5232016"/>
          </a:xfrm>
          <a:prstGeom prst="rect">
            <a:avLst/>
          </a:prstGeom>
          <a:noFill/>
        </p:spPr>
        <p:txBody>
          <a:bodyPr wrap="square" lIns="216000" tIns="144000" rIns="216000" bIns="216000" rtlCol="0" anchor="t" anchorCtr="0">
            <a:noAutofit/>
          </a:bodyPr>
          <a:lstStyle/>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rPr>
              <a:t>disclaimer</a:t>
            </a:r>
            <a:endParaRPr kumimoji="0" lang="de-DE" sz="1100" b="0" i="0" u="none" strike="noStrike" kern="1200" cap="none"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kumimoji="0" lang="de-DE" sz="11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Grenz &amp; Co. hat dieses Exposé im Auftrag des Verkäufers erstellt. Es dient rein informatorischen Zwecken und soll dem Empfänger eine Übersicht über die wesentlichen Rahmendaten des Objekts geben. </a:t>
            </a: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Das Exposé erhebt keinerlei Anspruch auf Vollständigkeit. Die zugrundeliegenden Informationen wurden Grenz &amp; Co. vom Verkäufer und/oder von Dritten zur Verfügung gestellt. Die Vollständigkeit sowie die Richtigkeit dieser Informationen wurde von Grenz &amp; Co. nicht überprüft; sie können jederzeit geändert bzw. aktualisiert werden. </a:t>
            </a: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Eine Haftung von Grenz &amp; Co. für direkte oder indirekte Schäden des Empfängers aufgrund von Fehlerhaftigkeiten oder Unvollständigkeiten der in diesem Exposé enthaltenen Informationen ist ausgeschlossen. </a:t>
            </a: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Grenz &amp; Co. und der Verkäufer sind nicht dazu verpflichtet, Kaufinteressenten weitere Informationen zur Verfügung zu stellen. Ein Anspruch auf Erwerb des Objekts oder auf die Durchführung von Verkaufsverhandlungen besteht nicht. </a:t>
            </a: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Kaufinteressenten wird empfohlen, eine eigene Ankaufsprüfung und Analyse über das zum Verkauf stehende Objekt durchzuführen und in diesem Zusammenhang professionelle Berater hinzuzuziehen.</a:t>
            </a:r>
          </a:p>
          <a:p>
            <a:pPr marL="0" marR="0" lvl="0" indent="0" algn="just" defTabSz="457200" rtl="0" eaLnBrk="1" fontAlgn="auto" latinLnBrk="0" hangingPunct="1">
              <a:lnSpc>
                <a:spcPts val="1400"/>
              </a:lnSpc>
              <a:spcBef>
                <a:spcPts val="0"/>
              </a:spcBef>
              <a:spcAft>
                <a:spcPts val="0"/>
              </a:spcAft>
              <a:buClrTx/>
              <a:buSzTx/>
              <a:buFontTx/>
              <a:buNone/>
              <a:tabLst/>
              <a:defRPr/>
            </a:pPr>
            <a:endParaRPr lang="de-DE" sz="1000" dirty="0">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rPr>
              <a:t>Energieausweis</a:t>
            </a:r>
            <a:endParaRPr kumimoji="0" lang="de-DE" sz="1000" b="0" i="0" u="none" strike="noStrike" kern="1200" cap="none"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Zum Zeitpunkt der Erstellung des Exposés lag uns der entsprechenden Energieausweis nicht vor. Nach § 16 EnEV 2014 ist der Verkäufer/Vermieter jedoch dazu verpflichtet, dem Kauf-/Mietinteressenten den Energieausweis oder eine Kopie davon bei der Besichtigung vorzulegen und bei Abschluss des Vertrages im Original/Kopie zu übergeben.</a:t>
            </a: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2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 </a:t>
            </a:r>
            <a:endParaRPr kumimoji="0" lang="de-DE" sz="12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 </a:t>
            </a:r>
            <a:endParaRPr kumimoji="0" lang="de-DE" sz="12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p:txBody>
      </p:sp>
      <p:sp>
        <p:nvSpPr>
          <p:cNvPr id="3" name="Textplatzhalter 2">
            <a:extLst>
              <a:ext uri="{FF2B5EF4-FFF2-40B4-BE49-F238E27FC236}">
                <a16:creationId xmlns:a16="http://schemas.microsoft.com/office/drawing/2014/main" id="{BFB3F5A7-AD27-6D18-A484-F7F42D5A62BE}"/>
              </a:ext>
            </a:extLst>
          </p:cNvPr>
          <p:cNvSpPr>
            <a:spLocks noGrp="1"/>
          </p:cNvSpPr>
          <p:nvPr>
            <p:ph type="body" sz="quarter" idx="13"/>
          </p:nvPr>
        </p:nvSpPr>
        <p:spPr/>
        <p:txBody>
          <a:bodyPr/>
          <a:lstStyle/>
          <a:p>
            <a:r>
              <a:rPr lang="de-DE" sz="4000" cap="all" dirty="0">
                <a:solidFill>
                  <a:srgbClr val="233567"/>
                </a:solidFill>
                <a:latin typeface="Roboto Medium" panose="02000000000000000000" pitchFamily="2" charset="0"/>
                <a:ea typeface="Roboto Medium" panose="02000000000000000000" pitchFamily="2" charset="0"/>
                <a:cs typeface="Times New Roman" panose="02020603050405020304" pitchFamily="18" charset="0"/>
              </a:rPr>
              <a:t>Weitere </a:t>
            </a:r>
            <a:r>
              <a:rPr lang="de-DE" sz="4000" cap="all" dirty="0" err="1">
                <a:solidFill>
                  <a:srgbClr val="233567"/>
                </a:solidFill>
                <a:latin typeface="Roboto Medium" panose="02000000000000000000" pitchFamily="2" charset="0"/>
                <a:ea typeface="Roboto Medium" panose="02000000000000000000" pitchFamily="2" charset="0"/>
                <a:cs typeface="Times New Roman" panose="02020603050405020304" pitchFamily="18" charset="0"/>
              </a:rPr>
              <a:t>informationen</a:t>
            </a:r>
            <a:endParaRPr lang="de-DE" sz="4000" cap="all" dirty="0">
              <a:solidFill>
                <a:srgbClr val="233567"/>
              </a:solidFill>
              <a:latin typeface="Roboto Medium" panose="02000000000000000000" pitchFamily="2" charset="0"/>
              <a:ea typeface="Roboto Medium" panose="02000000000000000000" pitchFamily="2" charset="0"/>
              <a:cs typeface="Times New Roman" panose="02020603050405020304" pitchFamily="18" charset="0"/>
            </a:endParaRPr>
          </a:p>
        </p:txBody>
      </p:sp>
      <p:sp>
        <p:nvSpPr>
          <p:cNvPr id="2" name="Textplatzhalter 10">
            <a:extLst>
              <a:ext uri="{FF2B5EF4-FFF2-40B4-BE49-F238E27FC236}">
                <a16:creationId xmlns:a16="http://schemas.microsoft.com/office/drawing/2014/main" id="{CF1D6C8F-E231-7D8E-B974-BDB8FF30A791}"/>
              </a:ext>
            </a:extLst>
          </p:cNvPr>
          <p:cNvSpPr txBox="1">
            <a:spLocks/>
          </p:cNvSpPr>
          <p:nvPr/>
        </p:nvSpPr>
        <p:spPr>
          <a:xfrm>
            <a:off x="359999" y="933516"/>
            <a:ext cx="9000000" cy="252000"/>
          </a:xfrm>
          <a:prstGeom prst="rect">
            <a:avLst/>
          </a:prstGeom>
        </p:spPr>
        <p:txBody>
          <a:bodyPr lIns="0" tIns="0" rIns="0" bIns="0" anchor="t" anchorCtr="0"/>
          <a:lstStyle>
            <a:lvl1pPr marL="0" indent="0" algn="l" defTabSz="1007943" rtl="0" eaLnBrk="1" latinLnBrk="0" hangingPunct="1">
              <a:lnSpc>
                <a:spcPct val="90000"/>
              </a:lnSpc>
              <a:spcBef>
                <a:spcPts val="1102"/>
              </a:spcBef>
              <a:buFont typeface="Arial" panose="020B0604020202020204" pitchFamily="34" charset="0"/>
              <a:buNone/>
              <a:defRPr sz="1200" kern="1200">
                <a:solidFill>
                  <a:schemeClr val="tx1"/>
                </a:solidFill>
                <a:latin typeface="Roboto Light" panose="02000000000000000000" pitchFamily="2" charset="0"/>
                <a:ea typeface="Roboto Light" panose="02000000000000000000" pitchFamily="2" charset="0"/>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de-DE"/>
              <a:t>Wohn- und Geschäftshaus | Biberstraße 35 | 50678 Köln</a:t>
            </a:r>
            <a:endParaRPr lang="de-DE" dirty="0"/>
          </a:p>
        </p:txBody>
      </p:sp>
    </p:spTree>
    <p:extLst>
      <p:ext uri="{BB962C8B-B14F-4D97-AF65-F5344CB8AC3E}">
        <p14:creationId xmlns:p14="http://schemas.microsoft.com/office/powerpoint/2010/main" val="3766250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0FF58-8F61-3120-1DDA-05F1F9C74689}"/>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FE850D32-E737-A7AC-00D3-FA445F59D13D}"/>
              </a:ext>
            </a:extLst>
          </p:cNvPr>
          <p:cNvSpPr/>
          <p:nvPr/>
        </p:nvSpPr>
        <p:spPr>
          <a:xfrm>
            <a:off x="5580062" y="1394144"/>
            <a:ext cx="5033963" cy="35926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Textfeld 18">
            <a:extLst>
              <a:ext uri="{FF2B5EF4-FFF2-40B4-BE49-F238E27FC236}">
                <a16:creationId xmlns:a16="http://schemas.microsoft.com/office/drawing/2014/main" id="{B0A5645E-39E1-88A2-4A47-935E7DDEDDA0}"/>
              </a:ext>
            </a:extLst>
          </p:cNvPr>
          <p:cNvSpPr txBox="1"/>
          <p:nvPr/>
        </p:nvSpPr>
        <p:spPr>
          <a:xfrm>
            <a:off x="5511800" y="1394143"/>
            <a:ext cx="5102225" cy="3592671"/>
          </a:xfrm>
          <a:prstGeom prst="rect">
            <a:avLst/>
          </a:prstGeom>
          <a:noFill/>
        </p:spPr>
        <p:txBody>
          <a:bodyPr wrap="square" lIns="216000" tIns="144000" rIns="216000" bIns="216000" rtlCol="0" anchor="t" anchorCtr="0">
            <a:noAutofit/>
          </a:bodyPr>
          <a:lstStyle/>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rPr>
              <a:t>Provision</a:t>
            </a:r>
            <a:endParaRPr kumimoji="0" lang="de-DE" sz="1100" b="0" i="0" u="none" strike="noStrike" kern="1200" cap="none"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kumimoji="0" lang="de-DE" sz="11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lvl="0" algn="just">
              <a:lnSpc>
                <a:spcPts val="1400"/>
              </a:lnSpc>
              <a:defRPr/>
            </a:pPr>
            <a:r>
              <a:rPr lang="de-DE" sz="1000" dirty="0">
                <a:latin typeface="Roboto Light" panose="02000000000000000000" pitchFamily="2" charset="0"/>
                <a:ea typeface="Roboto Light" panose="02000000000000000000" pitchFamily="2" charset="0"/>
                <a:cs typeface="Times New Roman" panose="02020603050405020304" pitchFamily="18" charset="0"/>
              </a:rPr>
              <a:t>Der guten Ordnung halber weisen wir darauf hin, dass bei Abschluss eines Kaufvertrages eine Provision an unser Unternehmen vom Käufer zu zahlen ist. Bei Grundstückskäufen errechnet sich die vom Käufer zu zahlende Provision aus dem erzielten Gesamtkaufpreis und allen damit in Verbindung stehenden Nebenleistungen wie folgt:</a:t>
            </a:r>
          </a:p>
          <a:p>
            <a:pPr lvl="0" algn="just">
              <a:lnSpc>
                <a:spcPts val="1400"/>
              </a:lnSpc>
              <a:defRPr/>
            </a:pPr>
            <a:endParaRPr lang="de-DE" sz="1000" dirty="0">
              <a:latin typeface="Roboto Light" panose="02000000000000000000" pitchFamily="2" charset="0"/>
              <a:ea typeface="Roboto Light" panose="02000000000000000000" pitchFamily="2" charset="0"/>
              <a:cs typeface="Times New Roman" panose="02020603050405020304" pitchFamily="18" charset="0"/>
            </a:endParaRPr>
          </a:p>
          <a:p>
            <a:pPr marL="171450" indent="-171450">
              <a:buFontTx/>
              <a:buChar char="-"/>
            </a:pPr>
            <a:r>
              <a:rPr lang="de-DE" sz="1000" dirty="0">
                <a:latin typeface="Roboto Light" panose="02000000000000000000" pitchFamily="2" charset="0"/>
                <a:ea typeface="Roboto Light" panose="02000000000000000000" pitchFamily="2" charset="0"/>
                <a:cs typeface="Times New Roman" panose="02020603050405020304" pitchFamily="18" charset="0"/>
              </a:rPr>
              <a:t>von dem Wert bis 5 Mio. € 5 % (zzgl. </a:t>
            </a:r>
            <a:r>
              <a:rPr lang="de-DE" sz="1000" dirty="0" err="1">
                <a:latin typeface="Roboto Light" panose="02000000000000000000" pitchFamily="2" charset="0"/>
                <a:ea typeface="Roboto Light" panose="02000000000000000000" pitchFamily="2" charset="0"/>
                <a:cs typeface="Times New Roman" panose="02020603050405020304" pitchFamily="18" charset="0"/>
              </a:rPr>
              <a:t>USt</a:t>
            </a:r>
            <a:r>
              <a:rPr lang="de-DE" sz="1000" dirty="0">
                <a:latin typeface="Roboto Light" panose="02000000000000000000" pitchFamily="2" charset="0"/>
                <a:ea typeface="Roboto Light" panose="02000000000000000000" pitchFamily="2" charset="0"/>
                <a:cs typeface="Times New Roman" panose="02020603050405020304" pitchFamily="18" charset="0"/>
              </a:rPr>
              <a:t>.),</a:t>
            </a:r>
          </a:p>
          <a:p>
            <a:pPr marL="171450" indent="-171450">
              <a:buFontTx/>
              <a:buChar char="-"/>
            </a:pPr>
            <a:r>
              <a:rPr lang="de-DE" sz="1000" dirty="0">
                <a:latin typeface="Roboto Light" panose="02000000000000000000" pitchFamily="2" charset="0"/>
                <a:ea typeface="Roboto Light" panose="02000000000000000000" pitchFamily="2" charset="0"/>
                <a:cs typeface="Times New Roman" panose="02020603050405020304" pitchFamily="18" charset="0"/>
              </a:rPr>
              <a:t>von dem Wert über 5 Mio. € bis 15 Mio. € 4 % (zzgl. </a:t>
            </a:r>
            <a:r>
              <a:rPr lang="de-DE" sz="1000" dirty="0" err="1">
                <a:latin typeface="Roboto Light" panose="02000000000000000000" pitchFamily="2" charset="0"/>
                <a:ea typeface="Roboto Light" panose="02000000000000000000" pitchFamily="2" charset="0"/>
                <a:cs typeface="Times New Roman" panose="02020603050405020304" pitchFamily="18" charset="0"/>
              </a:rPr>
              <a:t>USt</a:t>
            </a:r>
            <a:r>
              <a:rPr lang="de-DE" sz="1000" dirty="0">
                <a:latin typeface="Roboto Light" panose="02000000000000000000" pitchFamily="2" charset="0"/>
                <a:ea typeface="Roboto Light" panose="02000000000000000000" pitchFamily="2" charset="0"/>
                <a:cs typeface="Times New Roman" panose="02020603050405020304" pitchFamily="18" charset="0"/>
              </a:rPr>
              <a:t>.),</a:t>
            </a:r>
          </a:p>
          <a:p>
            <a:pPr marL="171450" indent="-171450">
              <a:buFontTx/>
              <a:buChar char="-"/>
            </a:pPr>
            <a:r>
              <a:rPr lang="de-DE" sz="1000" dirty="0">
                <a:latin typeface="Roboto Light" panose="02000000000000000000" pitchFamily="2" charset="0"/>
                <a:ea typeface="Roboto Light" panose="02000000000000000000" pitchFamily="2" charset="0"/>
                <a:cs typeface="Times New Roman" panose="02020603050405020304" pitchFamily="18" charset="0"/>
              </a:rPr>
              <a:t>von dem Wert ab 15 Mio. € 3 % (zzgl. </a:t>
            </a:r>
            <a:r>
              <a:rPr lang="de-DE" sz="1000" dirty="0" err="1">
                <a:latin typeface="Roboto Light" panose="02000000000000000000" pitchFamily="2" charset="0"/>
                <a:ea typeface="Roboto Light" panose="02000000000000000000" pitchFamily="2" charset="0"/>
                <a:cs typeface="Times New Roman" panose="02020603050405020304" pitchFamily="18" charset="0"/>
              </a:rPr>
              <a:t>USt</a:t>
            </a:r>
            <a:r>
              <a:rPr lang="de-DE" sz="1000" dirty="0">
                <a:latin typeface="Roboto Light" panose="02000000000000000000" pitchFamily="2" charset="0"/>
                <a:ea typeface="Roboto Light" panose="02000000000000000000" pitchFamily="2" charset="0"/>
                <a:cs typeface="Times New Roman" panose="02020603050405020304" pitchFamily="18" charset="0"/>
              </a:rPr>
              <a:t>.)</a:t>
            </a:r>
          </a:p>
          <a:p>
            <a:pPr algn="just"/>
            <a:endParaRPr lang="de-DE" sz="1000" dirty="0">
              <a:latin typeface="Roboto Light" panose="02000000000000000000" pitchFamily="2" charset="0"/>
              <a:ea typeface="Roboto Light" panose="02000000000000000000" pitchFamily="2" charset="0"/>
              <a:cs typeface="Times New Roman" panose="02020603050405020304" pitchFamily="18" charset="0"/>
            </a:endParaRPr>
          </a:p>
          <a:p>
            <a:pPr algn="just">
              <a:buNone/>
            </a:pPr>
            <a:r>
              <a:rPr lang="de-DE" sz="1000" dirty="0">
                <a:latin typeface="Roboto Light" panose="02000000000000000000" pitchFamily="2" charset="0"/>
                <a:ea typeface="Roboto Light" panose="02000000000000000000" pitchFamily="2" charset="0"/>
                <a:cs typeface="Times New Roman" panose="02020603050405020304" pitchFamily="18" charset="0"/>
              </a:rPr>
              <a:t>Ist eine der Kaufvertragsparteien eines Grundstücks Verbraucher, so erfolgt die Berechnung unserer Provision wie folgt:</a:t>
            </a:r>
          </a:p>
          <a:p>
            <a:pPr algn="just">
              <a:buNone/>
            </a:pPr>
            <a:endParaRPr lang="de-DE" sz="1000" dirty="0">
              <a:latin typeface="Roboto Light" panose="02000000000000000000" pitchFamily="2" charset="0"/>
              <a:ea typeface="Roboto Light" panose="02000000000000000000" pitchFamily="2" charset="0"/>
              <a:cs typeface="Times New Roman" panose="02020603050405020304" pitchFamily="18" charset="0"/>
            </a:endParaRPr>
          </a:p>
          <a:p>
            <a:pPr marL="171450" indent="-171450">
              <a:buFontTx/>
              <a:buChar char="-"/>
            </a:pPr>
            <a:r>
              <a:rPr lang="de-DE" sz="1000" dirty="0">
                <a:latin typeface="Roboto Light" panose="02000000000000000000" pitchFamily="2" charset="0"/>
                <a:ea typeface="Roboto Light" panose="02000000000000000000" pitchFamily="2" charset="0"/>
                <a:cs typeface="Times New Roman" panose="02020603050405020304" pitchFamily="18" charset="0"/>
              </a:rPr>
              <a:t>von dem Wert bis 5 Mio. € 5,95 % (inkl. MwSt.),</a:t>
            </a:r>
          </a:p>
          <a:p>
            <a:pPr marL="171450" indent="-171450">
              <a:buFontTx/>
              <a:buChar char="-"/>
            </a:pPr>
            <a:r>
              <a:rPr lang="de-DE" sz="1000" dirty="0">
                <a:latin typeface="Roboto Light" panose="02000000000000000000" pitchFamily="2" charset="0"/>
                <a:ea typeface="Roboto Light" panose="02000000000000000000" pitchFamily="2" charset="0"/>
                <a:cs typeface="Times New Roman" panose="02020603050405020304" pitchFamily="18" charset="0"/>
              </a:rPr>
              <a:t>von dem Wert über 5 Mio. € bis 15 Mio. € 4,76 % (inkl. MwSt.),</a:t>
            </a:r>
          </a:p>
          <a:p>
            <a:pPr marL="171450" indent="-171450">
              <a:buFontTx/>
              <a:buChar char="-"/>
            </a:pPr>
            <a:r>
              <a:rPr lang="de-DE" sz="1000" dirty="0">
                <a:latin typeface="Roboto Light" panose="02000000000000000000" pitchFamily="2" charset="0"/>
                <a:ea typeface="Roboto Light" panose="02000000000000000000" pitchFamily="2" charset="0"/>
                <a:cs typeface="Times New Roman" panose="02020603050405020304" pitchFamily="18" charset="0"/>
              </a:rPr>
              <a:t>von dem Wert ab 15 Mio. € 3,57 % (inkl. MwSt.)</a:t>
            </a:r>
          </a:p>
          <a:p>
            <a:pPr marL="171450" indent="-171450" algn="just">
              <a:buFontTx/>
              <a:buChar char="-"/>
            </a:pPr>
            <a:endParaRPr lang="de-DE" sz="1000" dirty="0">
              <a:latin typeface="Roboto Light" panose="02000000000000000000" pitchFamily="2" charset="0"/>
              <a:ea typeface="Roboto Light" panose="02000000000000000000" pitchFamily="2" charset="0"/>
              <a:cs typeface="Times New Roman" panose="02020603050405020304" pitchFamily="18" charset="0"/>
            </a:endParaRPr>
          </a:p>
          <a:p>
            <a:pPr lvl="0" algn="just">
              <a:lnSpc>
                <a:spcPts val="1400"/>
              </a:lnSpc>
              <a:defRPr/>
            </a:pPr>
            <a:r>
              <a:rPr lang="de-DE" sz="1000" dirty="0">
                <a:latin typeface="Roboto Light" panose="02000000000000000000" pitchFamily="2" charset="0"/>
                <a:ea typeface="Roboto Light" panose="02000000000000000000" pitchFamily="2" charset="0"/>
                <a:cs typeface="Times New Roman" panose="02020603050405020304" pitchFamily="18" charset="0"/>
              </a:rPr>
              <a:t>Im Übrigen gelten unsere beigefügten Allgemeinen Geschäftsbedingungen. </a:t>
            </a: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kumimoji="0" lang="de-DE" sz="11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kumimoji="0" lang="de-DE" sz="11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kumimoji="0" lang="de-DE" sz="12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p:txBody>
      </p:sp>
      <p:sp>
        <p:nvSpPr>
          <p:cNvPr id="17" name="Textfeld 18">
            <a:extLst>
              <a:ext uri="{FF2B5EF4-FFF2-40B4-BE49-F238E27FC236}">
                <a16:creationId xmlns:a16="http://schemas.microsoft.com/office/drawing/2014/main" id="{A3371D9A-B98A-30EB-4053-7430213C9ABA}"/>
              </a:ext>
            </a:extLst>
          </p:cNvPr>
          <p:cNvSpPr txBox="1"/>
          <p:nvPr/>
        </p:nvSpPr>
        <p:spPr>
          <a:xfrm>
            <a:off x="359999" y="1394143"/>
            <a:ext cx="5062901" cy="5232016"/>
          </a:xfrm>
          <a:prstGeom prst="rect">
            <a:avLst/>
          </a:prstGeom>
          <a:noFill/>
        </p:spPr>
        <p:txBody>
          <a:bodyPr wrap="square" lIns="216000" tIns="144000" rIns="216000" bIns="216000" rtlCol="0" anchor="t" anchorCtr="0">
            <a:noAutofit/>
          </a:bodyPr>
          <a:lstStyle/>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rPr>
              <a:t>disclaimer</a:t>
            </a:r>
            <a:endParaRPr kumimoji="0" lang="de-DE" sz="1100" b="0" i="0" u="none" strike="noStrike" kern="1200" cap="none"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kumimoji="0" lang="de-DE" sz="11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Grenz &amp; Co. hat dieses Exposé im Auftrag des Verkäufers erstellt. Es dient rein informatorischen Zwecken und soll dem Empfänger eine Übersicht über die wesentlichen Rahmendaten des Objekts geben. </a:t>
            </a: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Das Exposé erhebt keinerlei Anspruch auf Vollständigkeit. Die zugrundeliegenden Informationen wurden Grenz &amp; Co. vom Verkäufer und/oder von Dritten zur Verfügung gestellt. Die Vollständigkeit sowie die Richtigkeit dieser Informationen wurde von Grenz &amp; Co. nicht überprüft; sie können jederzeit geändert bzw. aktualisiert werden. </a:t>
            </a: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Eine Haftung von Grenz &amp; Co. für direkte oder indirekte Schäden des Empfängers aufgrund von Fehlerhaftigkeiten oder Unvollständigkeiten der in diesem Exposé enthaltenen Informationen ist ausgeschlossen. </a:t>
            </a: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Grenz &amp; Co. und der Verkäufer sind nicht dazu verpflichtet, Kaufinteressenten weitere Informationen zur Verfügung zu stellen. Ein Anspruch auf Erwerb des Objekts oder auf die Durchführung von Verkaufsverhandlungen besteht nicht. </a:t>
            </a: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Kaufinteressenten wird empfohlen, eine eigene Ankaufsprüfung und Analyse über das zum Verkauf stehende Objekt durchzuführen und in diesem Zusammenhang professionelle Berater hinzuzuziehen.</a:t>
            </a:r>
          </a:p>
          <a:p>
            <a:pPr marL="0" marR="0" lvl="0" indent="0" algn="just" defTabSz="457200" rtl="0" eaLnBrk="1" fontAlgn="auto" latinLnBrk="0" hangingPunct="1">
              <a:lnSpc>
                <a:spcPts val="1400"/>
              </a:lnSpc>
              <a:spcBef>
                <a:spcPts val="0"/>
              </a:spcBef>
              <a:spcAft>
                <a:spcPts val="0"/>
              </a:spcAft>
              <a:buClrTx/>
              <a:buSzTx/>
              <a:buFontTx/>
              <a:buNone/>
              <a:tabLst/>
              <a:defRPr/>
            </a:pPr>
            <a:endParaRPr lang="de-DE" sz="1000" dirty="0">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rPr>
              <a:t>Energieausweis</a:t>
            </a:r>
            <a:endParaRPr kumimoji="0" lang="de-DE" sz="1000" b="0" i="0" u="none" strike="noStrike" kern="1200" cap="none" spc="0" normalizeH="0" baseline="0" noProof="0" dirty="0">
              <a:ln>
                <a:noFill/>
              </a:ln>
              <a:effectLst/>
              <a:uLnTx/>
              <a:uFillTx/>
              <a:latin typeface="Roboto Medium" panose="02000000000000000000" pitchFamily="2" charset="0"/>
              <a:ea typeface="Roboto Medium"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all"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rPr>
              <a:t> </a:t>
            </a: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cs typeface="Times New Roman" panose="02020603050405020304" pitchFamily="18"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endParaRPr kumimoji="0" lang="de-DE" sz="12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 </a:t>
            </a:r>
            <a:endParaRPr kumimoji="0" lang="de-DE" sz="12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a:p>
            <a:pPr marL="0" marR="0" lvl="0" indent="0" algn="just" defTabSz="457200" rtl="0" eaLnBrk="1" fontAlgn="auto" latinLnBrk="0" hangingPunct="1">
              <a:lnSpc>
                <a:spcPts val="1400"/>
              </a:lnSpc>
              <a:spcBef>
                <a:spcPts val="0"/>
              </a:spcBef>
              <a:spcAft>
                <a:spcPts val="0"/>
              </a:spcAft>
              <a:buClrTx/>
              <a:buSzTx/>
              <a:buFontTx/>
              <a:buNone/>
              <a:tabLst/>
              <a:defRPr/>
            </a:pPr>
            <a:r>
              <a:rPr kumimoji="0" lang="de-DE" sz="10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rPr>
              <a:t> </a:t>
            </a:r>
            <a:endParaRPr kumimoji="0" lang="de-DE" sz="1200" b="0" i="0" u="none" strike="noStrike" kern="1200" cap="none" spc="0" normalizeH="0" baseline="0" noProof="0" dirty="0">
              <a:ln>
                <a:noFill/>
              </a:ln>
              <a:effectLst/>
              <a:uLnTx/>
              <a:uFillTx/>
              <a:latin typeface="Roboto Light" panose="02000000000000000000" pitchFamily="2" charset="0"/>
              <a:ea typeface="Roboto Light" panose="02000000000000000000" pitchFamily="2" charset="0"/>
            </a:endParaRPr>
          </a:p>
        </p:txBody>
      </p:sp>
      <p:sp>
        <p:nvSpPr>
          <p:cNvPr id="3" name="Textplatzhalter 2">
            <a:extLst>
              <a:ext uri="{FF2B5EF4-FFF2-40B4-BE49-F238E27FC236}">
                <a16:creationId xmlns:a16="http://schemas.microsoft.com/office/drawing/2014/main" id="{14542529-99E7-308B-3DEF-B4473C080831}"/>
              </a:ext>
            </a:extLst>
          </p:cNvPr>
          <p:cNvSpPr>
            <a:spLocks noGrp="1"/>
          </p:cNvSpPr>
          <p:nvPr>
            <p:ph type="body" sz="quarter" idx="13"/>
          </p:nvPr>
        </p:nvSpPr>
        <p:spPr/>
        <p:txBody>
          <a:bodyPr/>
          <a:lstStyle/>
          <a:p>
            <a:r>
              <a:rPr lang="de-DE" sz="4000" cap="all" dirty="0">
                <a:solidFill>
                  <a:srgbClr val="233567"/>
                </a:solidFill>
                <a:latin typeface="Roboto Medium" panose="02000000000000000000" pitchFamily="2" charset="0"/>
                <a:ea typeface="Roboto Medium" panose="02000000000000000000" pitchFamily="2" charset="0"/>
                <a:cs typeface="Times New Roman" panose="02020603050405020304" pitchFamily="18" charset="0"/>
              </a:rPr>
              <a:t>Weitere </a:t>
            </a:r>
            <a:r>
              <a:rPr lang="de-DE" sz="4000" cap="all" dirty="0" err="1">
                <a:solidFill>
                  <a:srgbClr val="233567"/>
                </a:solidFill>
                <a:latin typeface="Roboto Medium" panose="02000000000000000000" pitchFamily="2" charset="0"/>
                <a:ea typeface="Roboto Medium" panose="02000000000000000000" pitchFamily="2" charset="0"/>
                <a:cs typeface="Times New Roman" panose="02020603050405020304" pitchFamily="18" charset="0"/>
              </a:rPr>
              <a:t>informationen</a:t>
            </a:r>
            <a:endParaRPr lang="de-DE" sz="4000" cap="all" dirty="0">
              <a:solidFill>
                <a:srgbClr val="233567"/>
              </a:solidFill>
              <a:latin typeface="Roboto Medium" panose="02000000000000000000" pitchFamily="2" charset="0"/>
              <a:ea typeface="Roboto Medium" panose="02000000000000000000" pitchFamily="2" charset="0"/>
              <a:cs typeface="Times New Roman" panose="02020603050405020304" pitchFamily="18" charset="0"/>
            </a:endParaRPr>
          </a:p>
        </p:txBody>
      </p:sp>
      <p:sp>
        <p:nvSpPr>
          <p:cNvPr id="2" name="Textplatzhalter 10">
            <a:extLst>
              <a:ext uri="{FF2B5EF4-FFF2-40B4-BE49-F238E27FC236}">
                <a16:creationId xmlns:a16="http://schemas.microsoft.com/office/drawing/2014/main" id="{6EE497A2-220F-A55D-52BA-55A633E1C71F}"/>
              </a:ext>
            </a:extLst>
          </p:cNvPr>
          <p:cNvSpPr txBox="1">
            <a:spLocks/>
          </p:cNvSpPr>
          <p:nvPr/>
        </p:nvSpPr>
        <p:spPr>
          <a:xfrm>
            <a:off x="359999" y="933516"/>
            <a:ext cx="9000000" cy="252000"/>
          </a:xfrm>
          <a:prstGeom prst="rect">
            <a:avLst/>
          </a:prstGeom>
        </p:spPr>
        <p:txBody>
          <a:bodyPr lIns="0" tIns="0" rIns="0" bIns="0" anchor="t" anchorCtr="0"/>
          <a:lstStyle>
            <a:lvl1pPr marL="0" indent="0" algn="l" defTabSz="1007943" rtl="0" eaLnBrk="1" latinLnBrk="0" hangingPunct="1">
              <a:lnSpc>
                <a:spcPct val="90000"/>
              </a:lnSpc>
              <a:spcBef>
                <a:spcPts val="1102"/>
              </a:spcBef>
              <a:buFont typeface="Arial" panose="020B0604020202020204" pitchFamily="34" charset="0"/>
              <a:buNone/>
              <a:defRPr sz="1200" kern="1200">
                <a:solidFill>
                  <a:schemeClr val="tx1"/>
                </a:solidFill>
                <a:latin typeface="Roboto Light" panose="02000000000000000000" pitchFamily="2" charset="0"/>
                <a:ea typeface="Roboto Light" panose="02000000000000000000" pitchFamily="2" charset="0"/>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de-DE"/>
              <a:t>Wohn- und Geschäftshaus | Biberstraße 35 | 50678 Köln</a:t>
            </a:r>
            <a:endParaRPr lang="de-DE" dirty="0"/>
          </a:p>
        </p:txBody>
      </p:sp>
      <p:graphicFrame>
        <p:nvGraphicFramePr>
          <p:cNvPr id="4" name="Tabelle 3">
            <a:extLst>
              <a:ext uri="{FF2B5EF4-FFF2-40B4-BE49-F238E27FC236}">
                <a16:creationId xmlns:a16="http://schemas.microsoft.com/office/drawing/2014/main" id="{91ACDE8B-BCB6-7F5B-D53A-27C093FD6EFA}"/>
              </a:ext>
            </a:extLst>
          </p:cNvPr>
          <p:cNvGraphicFramePr>
            <a:graphicFrameLocks noGrp="1"/>
          </p:cNvGraphicFramePr>
          <p:nvPr>
            <p:extLst>
              <p:ext uri="{D42A27DB-BD31-4B8C-83A1-F6EECF244321}">
                <p14:modId xmlns:p14="http://schemas.microsoft.com/office/powerpoint/2010/main" val="1498093160"/>
              </p:ext>
            </p:extLst>
          </p:nvPr>
        </p:nvGraphicFramePr>
        <p:xfrm>
          <a:off x="554383" y="5498750"/>
          <a:ext cx="4667612" cy="1620000"/>
        </p:xfrm>
        <a:graphic>
          <a:graphicData uri="http://schemas.openxmlformats.org/drawingml/2006/table">
            <a:tbl>
              <a:tblPr firstRow="1" firstCol="1" bandRow="1">
                <a:tableStyleId>{2D5ABB26-0587-4C30-8999-92F81FD0307C}</a:tableStyleId>
              </a:tblPr>
              <a:tblGrid>
                <a:gridCol w="2333806">
                  <a:extLst>
                    <a:ext uri="{9D8B030D-6E8A-4147-A177-3AD203B41FA5}">
                      <a16:colId xmlns:a16="http://schemas.microsoft.com/office/drawing/2014/main" val="2201772113"/>
                    </a:ext>
                  </a:extLst>
                </a:gridCol>
                <a:gridCol w="2333806">
                  <a:extLst>
                    <a:ext uri="{9D8B030D-6E8A-4147-A177-3AD203B41FA5}">
                      <a16:colId xmlns:a16="http://schemas.microsoft.com/office/drawing/2014/main" val="947244104"/>
                    </a:ext>
                  </a:extLst>
                </a:gridCol>
              </a:tblGrid>
              <a:tr h="324000">
                <a:tc>
                  <a:txBody>
                    <a:bodyPr/>
                    <a:lstStyle/>
                    <a:p>
                      <a:pPr>
                        <a:lnSpc>
                          <a:spcPts val="1000"/>
                        </a:lnSpc>
                        <a:spcAft>
                          <a:spcPts val="0"/>
                        </a:spcAft>
                      </a:pPr>
                      <a:r>
                        <a:rPr lang="de-DE" sz="1000" dirty="0">
                          <a:solidFill>
                            <a:schemeClr val="tx1"/>
                          </a:solidFill>
                          <a:effectLst/>
                          <a:latin typeface="Roboto Light" panose="02000000000000000000" pitchFamily="2" charset="0"/>
                          <a:ea typeface="Roboto Light" panose="02000000000000000000" pitchFamily="2" charset="0"/>
                        </a:rPr>
                        <a:t>Ausweistyp</a:t>
                      </a:r>
                      <a:endParaRPr lang="de-DE" sz="1100" dirty="0">
                        <a:solidFill>
                          <a:schemeClr val="tx1"/>
                        </a:solidFill>
                        <a:effectLst/>
                        <a:latin typeface="Roboto Light" panose="02000000000000000000" pitchFamily="2" charset="0"/>
                        <a:ea typeface="Roboto Light" panose="02000000000000000000" pitchFamily="2" charset="0"/>
                        <a:cs typeface="Times New Roman" panose="02020603050405020304" pitchFamily="18" charset="0"/>
                      </a:endParaRPr>
                    </a:p>
                  </a:txBody>
                  <a:tcPr marL="144145" marR="144145" marT="0" marB="0" anchor="ctr">
                    <a:lnL w="3175" cap="flat" cmpd="sng" algn="ctr">
                      <a:noFill/>
                      <a:prstDash val="solid"/>
                      <a:round/>
                      <a:headEnd type="none" w="med" len="med"/>
                      <a:tailEnd type="none" w="med" len="med"/>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nSpc>
                          <a:spcPts val="1000"/>
                        </a:lnSpc>
                        <a:spcAft>
                          <a:spcPts val="0"/>
                        </a:spcAft>
                      </a:pPr>
                      <a:r>
                        <a:rPr lang="de-DE" sz="1000" dirty="0" err="1">
                          <a:solidFill>
                            <a:schemeClr val="tx1"/>
                          </a:solidFill>
                          <a:effectLst/>
                          <a:latin typeface="Roboto Light" panose="02000000000000000000" pitchFamily="2" charset="0"/>
                          <a:ea typeface="Roboto Light" panose="02000000000000000000" pitchFamily="2" charset="0"/>
                        </a:rPr>
                        <a:t>xxxxxx</a:t>
                      </a:r>
                      <a:endParaRPr lang="de-DE" sz="1100" dirty="0">
                        <a:solidFill>
                          <a:schemeClr val="tx1"/>
                        </a:solidFill>
                        <a:effectLst/>
                        <a:latin typeface="Roboto Light" panose="02000000000000000000" pitchFamily="2" charset="0"/>
                        <a:ea typeface="Roboto Light" panose="02000000000000000000" pitchFamily="2" charset="0"/>
                        <a:cs typeface="Times New Roman" panose="02020603050405020304" pitchFamily="18" charset="0"/>
                      </a:endParaRPr>
                    </a:p>
                  </a:txBody>
                  <a:tcPr marL="144145" marR="144145" marT="0" marB="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83844755"/>
                  </a:ext>
                </a:extLst>
              </a:tr>
              <a:tr h="324000">
                <a:tc>
                  <a:txBody>
                    <a:bodyPr/>
                    <a:lstStyle/>
                    <a:p>
                      <a:pPr>
                        <a:lnSpc>
                          <a:spcPts val="1000"/>
                        </a:lnSpc>
                        <a:spcAft>
                          <a:spcPts val="0"/>
                        </a:spcAft>
                      </a:pPr>
                      <a:r>
                        <a:rPr lang="de-DE" sz="1000" dirty="0">
                          <a:solidFill>
                            <a:schemeClr val="tx1"/>
                          </a:solidFill>
                          <a:effectLst/>
                          <a:latin typeface="Roboto Light" panose="02000000000000000000" pitchFamily="2" charset="0"/>
                          <a:ea typeface="Roboto Light" panose="02000000000000000000" pitchFamily="2" charset="0"/>
                        </a:rPr>
                        <a:t>Endenergieverbrauch</a:t>
                      </a:r>
                      <a:endParaRPr lang="de-DE" sz="1100" dirty="0">
                        <a:solidFill>
                          <a:schemeClr val="tx1"/>
                        </a:solidFill>
                        <a:effectLst/>
                        <a:latin typeface="Roboto Light" panose="02000000000000000000" pitchFamily="2" charset="0"/>
                        <a:ea typeface="Roboto Light" panose="02000000000000000000" pitchFamily="2" charset="0"/>
                        <a:cs typeface="Times New Roman" panose="02020603050405020304" pitchFamily="18" charset="0"/>
                      </a:endParaRPr>
                    </a:p>
                  </a:txBody>
                  <a:tcPr marL="144145" marR="144145" marT="0" marB="0" anchor="ctr">
                    <a:lnL w="3175" cap="flat" cmpd="sng" algn="ctr">
                      <a:noFill/>
                      <a:prstDash val="solid"/>
                      <a:round/>
                      <a:headEnd type="none" w="med" len="med"/>
                      <a:tailEnd type="none" w="med" len="med"/>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nSpc>
                          <a:spcPts val="1000"/>
                        </a:lnSpc>
                        <a:spcAft>
                          <a:spcPts val="0"/>
                        </a:spcAft>
                      </a:pPr>
                      <a:r>
                        <a:rPr lang="de-DE" sz="1000" dirty="0" err="1">
                          <a:solidFill>
                            <a:schemeClr val="tx1"/>
                          </a:solidFill>
                          <a:effectLst/>
                          <a:latin typeface="Roboto Light" panose="02000000000000000000" pitchFamily="2" charset="0"/>
                          <a:ea typeface="Roboto Light" panose="02000000000000000000" pitchFamily="2" charset="0"/>
                        </a:rPr>
                        <a:t>xxxx</a:t>
                      </a:r>
                      <a:r>
                        <a:rPr lang="de-DE" sz="1000" dirty="0">
                          <a:solidFill>
                            <a:schemeClr val="tx1"/>
                          </a:solidFill>
                          <a:effectLst/>
                          <a:latin typeface="Roboto Light" panose="02000000000000000000" pitchFamily="2" charset="0"/>
                          <a:ea typeface="Roboto Light" panose="02000000000000000000" pitchFamily="2" charset="0"/>
                        </a:rPr>
                        <a:t> kWh/(m</a:t>
                      </a:r>
                      <a:r>
                        <a:rPr lang="de-DE" sz="1000" kern="1200" dirty="0">
                          <a:solidFill>
                            <a:schemeClr val="tx1"/>
                          </a:solidFill>
                          <a:effectLst/>
                          <a:latin typeface="Roboto Light" panose="02000000000000000000" pitchFamily="2" charset="0"/>
                          <a:ea typeface="Roboto Light" panose="02000000000000000000" pitchFamily="2" charset="0"/>
                          <a:cs typeface="+mn-cs"/>
                        </a:rPr>
                        <a:t>²*a)</a:t>
                      </a:r>
                      <a:endParaRPr lang="de-DE" sz="1100" dirty="0">
                        <a:solidFill>
                          <a:schemeClr val="tx1"/>
                        </a:solidFill>
                        <a:effectLst/>
                        <a:latin typeface="Roboto Light" panose="02000000000000000000" pitchFamily="2" charset="0"/>
                        <a:ea typeface="Roboto Light" panose="02000000000000000000" pitchFamily="2" charset="0"/>
                        <a:cs typeface="Times New Roman" panose="02020603050405020304" pitchFamily="18" charset="0"/>
                      </a:endParaRPr>
                    </a:p>
                  </a:txBody>
                  <a:tcPr marL="144145" marR="144145" marT="0" marB="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01418099"/>
                  </a:ext>
                </a:extLst>
              </a:tr>
              <a:tr h="324000">
                <a:tc>
                  <a:txBody>
                    <a:bodyPr/>
                    <a:lstStyle/>
                    <a:p>
                      <a:pPr>
                        <a:lnSpc>
                          <a:spcPts val="1000"/>
                        </a:lnSpc>
                        <a:spcAft>
                          <a:spcPts val="0"/>
                        </a:spcAft>
                      </a:pPr>
                      <a:r>
                        <a:rPr lang="de-DE" sz="1000" dirty="0">
                          <a:solidFill>
                            <a:schemeClr val="tx1"/>
                          </a:solidFill>
                          <a:effectLst/>
                          <a:latin typeface="Roboto Light" panose="02000000000000000000" pitchFamily="2" charset="0"/>
                          <a:ea typeface="Roboto Light" panose="02000000000000000000" pitchFamily="2" charset="0"/>
                        </a:rPr>
                        <a:t>Heizungsart</a:t>
                      </a:r>
                      <a:endParaRPr lang="de-DE" sz="1100" dirty="0">
                        <a:solidFill>
                          <a:schemeClr val="tx1"/>
                        </a:solidFill>
                        <a:effectLst/>
                        <a:latin typeface="Roboto Light" panose="02000000000000000000" pitchFamily="2" charset="0"/>
                        <a:ea typeface="Roboto Light" panose="02000000000000000000" pitchFamily="2" charset="0"/>
                        <a:cs typeface="Times New Roman" panose="02020603050405020304" pitchFamily="18" charset="0"/>
                      </a:endParaRPr>
                    </a:p>
                  </a:txBody>
                  <a:tcPr marL="144145" marR="144145" marT="0" marB="0" anchor="ctr">
                    <a:lnL w="3175" cap="flat" cmpd="sng" algn="ctr">
                      <a:noFill/>
                      <a:prstDash val="solid"/>
                      <a:round/>
                      <a:headEnd type="none" w="med" len="med"/>
                      <a:tailEnd type="none" w="med" len="med"/>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nSpc>
                          <a:spcPts val="1000"/>
                        </a:lnSpc>
                        <a:spcAft>
                          <a:spcPts val="0"/>
                        </a:spcAft>
                      </a:pPr>
                      <a:r>
                        <a:rPr lang="de-DE" sz="1000" dirty="0">
                          <a:solidFill>
                            <a:schemeClr val="tx1"/>
                          </a:solidFill>
                          <a:effectLst/>
                          <a:latin typeface="Roboto Light" panose="02000000000000000000" pitchFamily="2" charset="0"/>
                          <a:ea typeface="Roboto Light" panose="02000000000000000000" pitchFamily="2" charset="0"/>
                        </a:rPr>
                        <a:t>Gas</a:t>
                      </a:r>
                      <a:endParaRPr lang="de-DE" sz="1100" dirty="0">
                        <a:solidFill>
                          <a:schemeClr val="tx1"/>
                        </a:solidFill>
                        <a:effectLst/>
                        <a:latin typeface="Roboto Light" panose="02000000000000000000" pitchFamily="2" charset="0"/>
                        <a:ea typeface="Roboto Light" panose="02000000000000000000" pitchFamily="2" charset="0"/>
                        <a:cs typeface="Times New Roman" panose="02020603050405020304" pitchFamily="18" charset="0"/>
                      </a:endParaRPr>
                    </a:p>
                  </a:txBody>
                  <a:tcPr marL="144145" marR="144145" marT="0" marB="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65719803"/>
                  </a:ext>
                </a:extLst>
              </a:tr>
              <a:tr h="324000">
                <a:tc>
                  <a:txBody>
                    <a:bodyPr/>
                    <a:lstStyle/>
                    <a:p>
                      <a:pPr>
                        <a:lnSpc>
                          <a:spcPts val="1000"/>
                        </a:lnSpc>
                        <a:spcAft>
                          <a:spcPts val="0"/>
                        </a:spcAft>
                      </a:pPr>
                      <a:r>
                        <a:rPr lang="de-DE" sz="1000" dirty="0">
                          <a:solidFill>
                            <a:schemeClr val="tx1"/>
                          </a:solidFill>
                          <a:effectLst/>
                          <a:latin typeface="Roboto Light" panose="02000000000000000000" pitchFamily="2" charset="0"/>
                          <a:ea typeface="Roboto Light" panose="02000000000000000000" pitchFamily="2" charset="0"/>
                        </a:rPr>
                        <a:t>Baujahr Wärmeerzeuger</a:t>
                      </a:r>
                      <a:endParaRPr lang="de-DE" sz="1100" dirty="0">
                        <a:solidFill>
                          <a:schemeClr val="tx1"/>
                        </a:solidFill>
                        <a:effectLst/>
                        <a:latin typeface="Roboto Light" panose="02000000000000000000" pitchFamily="2" charset="0"/>
                        <a:ea typeface="Roboto Light" panose="02000000000000000000" pitchFamily="2" charset="0"/>
                        <a:cs typeface="Times New Roman" panose="02020603050405020304" pitchFamily="18" charset="0"/>
                      </a:endParaRPr>
                    </a:p>
                  </a:txBody>
                  <a:tcPr marL="144145" marR="144145" marT="0" marB="0" anchor="ctr">
                    <a:lnL w="3175" cap="flat" cmpd="sng" algn="ctr">
                      <a:noFill/>
                      <a:prstDash val="solid"/>
                      <a:round/>
                      <a:headEnd type="none" w="med" len="med"/>
                      <a:tailEnd type="none" w="med" len="med"/>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nSpc>
                          <a:spcPts val="1000"/>
                        </a:lnSpc>
                        <a:spcAft>
                          <a:spcPts val="0"/>
                        </a:spcAft>
                      </a:pPr>
                      <a:r>
                        <a:rPr lang="de-DE" sz="1000" dirty="0">
                          <a:solidFill>
                            <a:schemeClr val="tx1"/>
                          </a:solidFill>
                          <a:effectLst/>
                          <a:latin typeface="Roboto Light" panose="02000000000000000000" pitchFamily="2" charset="0"/>
                          <a:ea typeface="Roboto Light" panose="02000000000000000000" pitchFamily="2" charset="0"/>
                        </a:rPr>
                        <a:t>2005</a:t>
                      </a:r>
                      <a:endParaRPr lang="de-DE" sz="1100" dirty="0">
                        <a:solidFill>
                          <a:schemeClr val="tx1"/>
                        </a:solidFill>
                        <a:effectLst/>
                        <a:latin typeface="Roboto Light" panose="02000000000000000000" pitchFamily="2" charset="0"/>
                        <a:ea typeface="Roboto Light" panose="02000000000000000000" pitchFamily="2" charset="0"/>
                        <a:cs typeface="Times New Roman" panose="02020603050405020304" pitchFamily="18" charset="0"/>
                      </a:endParaRPr>
                    </a:p>
                  </a:txBody>
                  <a:tcPr marL="144145" marR="144145" marT="0" marB="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6469527"/>
                  </a:ext>
                </a:extLst>
              </a:tr>
              <a:tr h="324000">
                <a:tc>
                  <a:txBody>
                    <a:bodyPr/>
                    <a:lstStyle/>
                    <a:p>
                      <a:pPr>
                        <a:lnSpc>
                          <a:spcPts val="1000"/>
                        </a:lnSpc>
                        <a:spcAft>
                          <a:spcPts val="0"/>
                        </a:spcAft>
                      </a:pPr>
                      <a:r>
                        <a:rPr lang="de-DE" sz="1000" dirty="0">
                          <a:solidFill>
                            <a:schemeClr val="tx1"/>
                          </a:solidFill>
                          <a:effectLst/>
                          <a:latin typeface="Roboto Light" panose="02000000000000000000" pitchFamily="2" charset="0"/>
                          <a:ea typeface="Roboto Light" panose="02000000000000000000" pitchFamily="2" charset="0"/>
                        </a:rPr>
                        <a:t>Energieeffizienzklasse</a:t>
                      </a:r>
                      <a:endParaRPr lang="de-DE" sz="1100" dirty="0">
                        <a:solidFill>
                          <a:schemeClr val="tx1"/>
                        </a:solidFill>
                        <a:effectLst/>
                        <a:latin typeface="Roboto Light" panose="02000000000000000000" pitchFamily="2" charset="0"/>
                        <a:ea typeface="Roboto Light" panose="02000000000000000000" pitchFamily="2" charset="0"/>
                        <a:cs typeface="Times New Roman" panose="02020603050405020304" pitchFamily="18" charset="0"/>
                      </a:endParaRPr>
                    </a:p>
                  </a:txBody>
                  <a:tcPr marL="144145" marR="144145" marT="0" marB="0" anchor="ctr">
                    <a:lnL w="3175" cap="flat" cmpd="sng" algn="ctr">
                      <a:noFill/>
                      <a:prstDash val="solid"/>
                      <a:round/>
                      <a:headEnd type="none" w="med" len="med"/>
                      <a:tailEnd type="none" w="med" len="med"/>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nSpc>
                          <a:spcPts val="1000"/>
                        </a:lnSpc>
                        <a:spcAft>
                          <a:spcPts val="0"/>
                        </a:spcAft>
                      </a:pPr>
                      <a:r>
                        <a:rPr lang="de-DE" sz="1000" dirty="0">
                          <a:solidFill>
                            <a:schemeClr val="tx1"/>
                          </a:solidFill>
                          <a:effectLst/>
                          <a:latin typeface="Roboto Light" panose="02000000000000000000" pitchFamily="2" charset="0"/>
                          <a:ea typeface="Roboto Light" panose="02000000000000000000" pitchFamily="2" charset="0"/>
                        </a:rPr>
                        <a:t>AB</a:t>
                      </a:r>
                      <a:endParaRPr lang="de-DE" sz="1100" dirty="0">
                        <a:solidFill>
                          <a:schemeClr val="tx1"/>
                        </a:solidFill>
                        <a:effectLst/>
                        <a:latin typeface="Roboto Light" panose="02000000000000000000" pitchFamily="2" charset="0"/>
                        <a:ea typeface="Roboto Light" panose="02000000000000000000" pitchFamily="2" charset="0"/>
                        <a:cs typeface="Times New Roman" panose="02020603050405020304" pitchFamily="18" charset="0"/>
                      </a:endParaRPr>
                    </a:p>
                  </a:txBody>
                  <a:tcPr marL="144145" marR="144145" marT="0" marB="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39862149"/>
                  </a:ext>
                </a:extLst>
              </a:tr>
            </a:tbl>
          </a:graphicData>
        </a:graphic>
      </p:graphicFrame>
    </p:spTree>
    <p:extLst>
      <p:ext uri="{BB962C8B-B14F-4D97-AF65-F5344CB8AC3E}">
        <p14:creationId xmlns:p14="http://schemas.microsoft.com/office/powerpoint/2010/main" val="3340906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783E7-4864-13D4-CA1E-1337F004F8A5}"/>
            </a:ext>
          </a:extLst>
        </p:cNvPr>
        <p:cNvGrpSpPr/>
        <p:nvPr/>
      </p:nvGrpSpPr>
      <p:grpSpPr>
        <a:xfrm>
          <a:off x="0" y="0"/>
          <a:ext cx="0" cy="0"/>
          <a:chOff x="0" y="0"/>
          <a:chExt cx="0" cy="0"/>
        </a:xfrm>
      </p:grpSpPr>
      <p:sp>
        <p:nvSpPr>
          <p:cNvPr id="4" name="Textplatzhalter 3">
            <a:extLst>
              <a:ext uri="{FF2B5EF4-FFF2-40B4-BE49-F238E27FC236}">
                <a16:creationId xmlns:a16="http://schemas.microsoft.com/office/drawing/2014/main" id="{FBABA0F7-F5CC-15A1-00FB-AF089E129A84}"/>
              </a:ext>
            </a:extLst>
          </p:cNvPr>
          <p:cNvSpPr>
            <a:spLocks noGrp="1"/>
          </p:cNvSpPr>
          <p:nvPr>
            <p:ph type="body" sz="quarter" idx="13"/>
          </p:nvPr>
        </p:nvSpPr>
        <p:spPr/>
        <p:txBody>
          <a:bodyPr/>
          <a:lstStyle/>
          <a:p>
            <a:r>
              <a:rPr lang="de-DE" dirty="0"/>
              <a:t>AGB</a:t>
            </a:r>
          </a:p>
        </p:txBody>
      </p:sp>
      <p:sp>
        <p:nvSpPr>
          <p:cNvPr id="2" name="Textplatzhalter 10">
            <a:extLst>
              <a:ext uri="{FF2B5EF4-FFF2-40B4-BE49-F238E27FC236}">
                <a16:creationId xmlns:a16="http://schemas.microsoft.com/office/drawing/2014/main" id="{637AF5EE-6D8C-D8CB-46F2-AC810BDCE3CD}"/>
              </a:ext>
            </a:extLst>
          </p:cNvPr>
          <p:cNvSpPr txBox="1">
            <a:spLocks/>
          </p:cNvSpPr>
          <p:nvPr/>
        </p:nvSpPr>
        <p:spPr>
          <a:xfrm>
            <a:off x="359999" y="933516"/>
            <a:ext cx="9000000" cy="252000"/>
          </a:xfrm>
          <a:prstGeom prst="rect">
            <a:avLst/>
          </a:prstGeom>
        </p:spPr>
        <p:txBody>
          <a:bodyPr lIns="0" tIns="0" rIns="0" bIns="0" anchor="t" anchorCtr="0"/>
          <a:lstStyle>
            <a:lvl1pPr marL="0" indent="0" algn="l" defTabSz="1007943" rtl="0" eaLnBrk="1" latinLnBrk="0" hangingPunct="1">
              <a:lnSpc>
                <a:spcPct val="90000"/>
              </a:lnSpc>
              <a:spcBef>
                <a:spcPts val="1102"/>
              </a:spcBef>
              <a:buFont typeface="Arial" panose="020B0604020202020204" pitchFamily="34" charset="0"/>
              <a:buNone/>
              <a:defRPr sz="1200" kern="1200">
                <a:solidFill>
                  <a:schemeClr val="tx1"/>
                </a:solidFill>
                <a:latin typeface="Roboto Light" panose="02000000000000000000" pitchFamily="2" charset="0"/>
                <a:ea typeface="Roboto Light" panose="02000000000000000000" pitchFamily="2" charset="0"/>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de-DE"/>
              <a:t>Wohn- und Geschäftshaus | Biberstraße 35 | 50678 Köln</a:t>
            </a:r>
            <a:endParaRPr lang="de-DE" dirty="0"/>
          </a:p>
        </p:txBody>
      </p:sp>
      <p:pic>
        <p:nvPicPr>
          <p:cNvPr id="5" name="Grafik 4">
            <a:extLst>
              <a:ext uri="{FF2B5EF4-FFF2-40B4-BE49-F238E27FC236}">
                <a16:creationId xmlns:a16="http://schemas.microsoft.com/office/drawing/2014/main" id="{D079EECF-1BCD-7113-2E12-5C828598757F}"/>
              </a:ext>
            </a:extLst>
          </p:cNvPr>
          <p:cNvPicPr>
            <a:picLocks noChangeAspect="1"/>
          </p:cNvPicPr>
          <p:nvPr/>
        </p:nvPicPr>
        <p:blipFill>
          <a:blip r:embed="rId2"/>
          <a:srcRect t="1296" b="3114"/>
          <a:stretch/>
        </p:blipFill>
        <p:spPr>
          <a:xfrm>
            <a:off x="974819" y="1113799"/>
            <a:ext cx="9210486" cy="6221626"/>
          </a:xfrm>
          <a:prstGeom prst="rect">
            <a:avLst/>
          </a:prstGeom>
          <a:solidFill>
            <a:schemeClr val="bg1"/>
          </a:solidFill>
        </p:spPr>
      </p:pic>
    </p:spTree>
    <p:extLst>
      <p:ext uri="{BB962C8B-B14F-4D97-AF65-F5344CB8AC3E}">
        <p14:creationId xmlns:p14="http://schemas.microsoft.com/office/powerpoint/2010/main" val="3840177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16136-4CBD-7F98-CBC4-1FC042768CEA}"/>
            </a:ext>
          </a:extLst>
        </p:cNvPr>
        <p:cNvGrpSpPr/>
        <p:nvPr/>
      </p:nvGrpSpPr>
      <p:grpSpPr>
        <a:xfrm>
          <a:off x="0" y="0"/>
          <a:ext cx="0" cy="0"/>
          <a:chOff x="0" y="0"/>
          <a:chExt cx="0" cy="0"/>
        </a:xfrm>
      </p:grpSpPr>
      <p:sp>
        <p:nvSpPr>
          <p:cNvPr id="4" name="Textplatzhalter 3">
            <a:extLst>
              <a:ext uri="{FF2B5EF4-FFF2-40B4-BE49-F238E27FC236}">
                <a16:creationId xmlns:a16="http://schemas.microsoft.com/office/drawing/2014/main" id="{FFD4C75D-D9CB-2484-6832-DC76D1A4A43C}"/>
              </a:ext>
            </a:extLst>
          </p:cNvPr>
          <p:cNvSpPr>
            <a:spLocks noGrp="1"/>
          </p:cNvSpPr>
          <p:nvPr>
            <p:ph type="body" sz="quarter" idx="13"/>
          </p:nvPr>
        </p:nvSpPr>
        <p:spPr/>
        <p:txBody>
          <a:bodyPr/>
          <a:lstStyle/>
          <a:p>
            <a:r>
              <a:rPr lang="de-DE" dirty="0"/>
              <a:t>WIDERRUFSBELEHRUNG</a:t>
            </a:r>
          </a:p>
        </p:txBody>
      </p:sp>
      <p:sp>
        <p:nvSpPr>
          <p:cNvPr id="2" name="Textplatzhalter 10">
            <a:extLst>
              <a:ext uri="{FF2B5EF4-FFF2-40B4-BE49-F238E27FC236}">
                <a16:creationId xmlns:a16="http://schemas.microsoft.com/office/drawing/2014/main" id="{D083168F-E1E2-AE8F-725B-D8C66C1CC092}"/>
              </a:ext>
            </a:extLst>
          </p:cNvPr>
          <p:cNvSpPr txBox="1">
            <a:spLocks/>
          </p:cNvSpPr>
          <p:nvPr/>
        </p:nvSpPr>
        <p:spPr>
          <a:xfrm>
            <a:off x="359999" y="933516"/>
            <a:ext cx="9000000" cy="252000"/>
          </a:xfrm>
          <a:prstGeom prst="rect">
            <a:avLst/>
          </a:prstGeom>
        </p:spPr>
        <p:txBody>
          <a:bodyPr lIns="0" tIns="0" rIns="0" bIns="0" anchor="t" anchorCtr="0"/>
          <a:lstStyle>
            <a:lvl1pPr marL="0" indent="0" algn="l" defTabSz="1007943" rtl="0" eaLnBrk="1" latinLnBrk="0" hangingPunct="1">
              <a:lnSpc>
                <a:spcPct val="90000"/>
              </a:lnSpc>
              <a:spcBef>
                <a:spcPts val="1102"/>
              </a:spcBef>
              <a:buFont typeface="Arial" panose="020B0604020202020204" pitchFamily="34" charset="0"/>
              <a:buNone/>
              <a:defRPr sz="1200" kern="1200">
                <a:solidFill>
                  <a:schemeClr val="tx1"/>
                </a:solidFill>
                <a:latin typeface="Roboto Light" panose="02000000000000000000" pitchFamily="2" charset="0"/>
                <a:ea typeface="Roboto Light" panose="02000000000000000000" pitchFamily="2" charset="0"/>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de-DE"/>
              <a:t>Wohn- und Geschäftshaus | Biberstraße 35 | 50678 Köln</a:t>
            </a:r>
            <a:endParaRPr lang="de-DE" dirty="0"/>
          </a:p>
        </p:txBody>
      </p:sp>
      <p:sp>
        <p:nvSpPr>
          <p:cNvPr id="3" name="Textfeld 2">
            <a:extLst>
              <a:ext uri="{FF2B5EF4-FFF2-40B4-BE49-F238E27FC236}">
                <a16:creationId xmlns:a16="http://schemas.microsoft.com/office/drawing/2014/main" id="{81C118DA-1892-C23B-450E-57FAF194E707}"/>
              </a:ext>
            </a:extLst>
          </p:cNvPr>
          <p:cNvSpPr txBox="1"/>
          <p:nvPr/>
        </p:nvSpPr>
        <p:spPr>
          <a:xfrm>
            <a:off x="436199" y="1421130"/>
            <a:ext cx="4827270" cy="5693866"/>
          </a:xfrm>
          <a:prstGeom prst="rect">
            <a:avLst/>
          </a:prstGeom>
          <a:noFill/>
        </p:spPr>
        <p:txBody>
          <a:bodyPr wrap="square" rtlCol="0">
            <a:spAutoFit/>
          </a:bodyPr>
          <a:lstStyle/>
          <a:p>
            <a:pPr algn="just"/>
            <a:r>
              <a:rPr lang="de-DE" sz="1000" dirty="0">
                <a:latin typeface="Roboto Light" panose="02000000000000000000" pitchFamily="2" charset="0"/>
                <a:ea typeface="Roboto Light" panose="02000000000000000000" pitchFamily="2" charset="0"/>
              </a:rPr>
              <a:t>Widerrufsrecht</a:t>
            </a:r>
          </a:p>
          <a:p>
            <a:pPr algn="just"/>
            <a:endParaRPr lang="de-DE" sz="1000" dirty="0">
              <a:latin typeface="Roboto Light" panose="02000000000000000000" pitchFamily="2" charset="0"/>
              <a:ea typeface="Roboto Light" panose="02000000000000000000" pitchFamily="2" charset="0"/>
            </a:endParaRPr>
          </a:p>
          <a:p>
            <a:pPr algn="just"/>
            <a:r>
              <a:rPr lang="de-DE" sz="1000" dirty="0">
                <a:latin typeface="Roboto Light" panose="02000000000000000000" pitchFamily="2" charset="0"/>
                <a:ea typeface="Roboto Light" panose="02000000000000000000" pitchFamily="2" charset="0"/>
              </a:rPr>
              <a:t>Das Widerrufsrecht gilt nur für Verbraucher.</a:t>
            </a:r>
          </a:p>
          <a:p>
            <a:pPr algn="just"/>
            <a:endParaRPr lang="de-DE" sz="1000" dirty="0">
              <a:latin typeface="Roboto Light" panose="02000000000000000000" pitchFamily="2" charset="0"/>
              <a:ea typeface="Roboto Light" panose="02000000000000000000" pitchFamily="2" charset="0"/>
            </a:endParaRPr>
          </a:p>
          <a:p>
            <a:pPr algn="just"/>
            <a:r>
              <a:rPr lang="de-DE" sz="1000" dirty="0">
                <a:latin typeface="Roboto Light" panose="02000000000000000000" pitchFamily="2" charset="0"/>
                <a:ea typeface="Roboto Light" panose="02000000000000000000" pitchFamily="2" charset="0"/>
              </a:rPr>
              <a:t>Sie haben das Recht, binnen vierzehn Tagen ohne Angabe von Gründen diesen Vertrag zu widerrufen. Die Widerrufsfrist beträgt vierzehn Tage ab dem Tag des Vertragsabschlusses. Um Ihr Widerrufsrecht auszuüben, müssen Sie uns (Grenz &amp; Co. Immobilienberatungs-GmbH, Friesenplatz 1, 50672 Köln, Telefon: +49 221 669 648 50, E-Mail: info@grenz-co.de) mittels einer eindeutigen Erklärung (z.B. ein mit der Post versandter Brief oder E-Mail) über Ihren Entschluss, diesen Vertrag zu widerrufen, informieren. Sie können dafür das beigefügte Muster-Widerrufsformular verwenden, das jedoch nicht vorgeschrieben ist. Zur Wahrung der Widerrufsfrist reicht es aus, dass Sie die Mitteilung über die Ausübung des Widerrufsrechts vor Ablauf der Widerrufsfrist absenden.</a:t>
            </a:r>
          </a:p>
          <a:p>
            <a:pPr algn="just"/>
            <a:endParaRPr lang="de-DE" sz="1000" dirty="0">
              <a:latin typeface="Roboto Light" panose="02000000000000000000" pitchFamily="2" charset="0"/>
              <a:ea typeface="Roboto Light" panose="02000000000000000000" pitchFamily="2" charset="0"/>
            </a:endParaRPr>
          </a:p>
          <a:p>
            <a:pPr algn="just"/>
            <a:r>
              <a:rPr lang="de-DE" sz="1000" dirty="0">
                <a:latin typeface="Roboto Light" panose="02000000000000000000" pitchFamily="2" charset="0"/>
                <a:ea typeface="Roboto Light" panose="02000000000000000000" pitchFamily="2" charset="0"/>
              </a:rPr>
              <a:t>Folgen des Widerrufs</a:t>
            </a:r>
          </a:p>
          <a:p>
            <a:pPr algn="just"/>
            <a:endParaRPr lang="de-DE" sz="1000" dirty="0">
              <a:latin typeface="Roboto Light" panose="02000000000000000000" pitchFamily="2" charset="0"/>
              <a:ea typeface="Roboto Light" panose="02000000000000000000" pitchFamily="2" charset="0"/>
            </a:endParaRPr>
          </a:p>
          <a:p>
            <a:pPr algn="just"/>
            <a:r>
              <a:rPr lang="de-DE" sz="1000" dirty="0">
                <a:latin typeface="Roboto Light" panose="02000000000000000000" pitchFamily="2" charset="0"/>
                <a:ea typeface="Roboto Light" panose="02000000000000000000" pitchFamily="2" charset="0"/>
              </a:rPr>
              <a:t>Wenn Sie diesen Vertrag widerrufen, haben wir Ihnen alle Zahlungen, die wir von Ihnen erhalten haben, einschließlich der Lieferkosten (mit Ausnahme der zusätzlichen Kosten, die sich daraus ergeben, dass Sie eine andere Art der Lieferung als die von uns angebotene, günstige Standardlieferung gewählt haben), unverzüglich und spätestens binnen vierzehn Tagen ab dem Tag zurückzuzahlen, an dem die Mitteilung über Ihren Widerruf dieses Vertrags bei uns eingegangen ist.</a:t>
            </a:r>
          </a:p>
          <a:p>
            <a:pPr algn="just"/>
            <a:r>
              <a:rPr lang="de-DE" sz="1000" dirty="0">
                <a:latin typeface="Roboto Light" panose="02000000000000000000" pitchFamily="2" charset="0"/>
                <a:ea typeface="Roboto Light" panose="02000000000000000000" pitchFamily="2" charset="0"/>
              </a:rPr>
              <a:t>Für diese Rückzahlung verwenden wir dasselbe Zahlungsmittel, das Sie bei der ursprünglichen Transaktion eingesetzt haben, es sei denn, mit Ihnen wurde ausdrücklich etwas anderes vereinbart; in keinem Fall werden Ihnen wegen dieser Rückzahlung Entgelte berechnet. </a:t>
            </a:r>
          </a:p>
          <a:p>
            <a:pPr algn="just"/>
            <a:endParaRPr lang="de-DE" sz="1000" dirty="0">
              <a:latin typeface="Roboto Light" panose="02000000000000000000" pitchFamily="2" charset="0"/>
              <a:ea typeface="Roboto Light" panose="02000000000000000000" pitchFamily="2" charset="0"/>
            </a:endParaRPr>
          </a:p>
          <a:p>
            <a:pPr algn="just"/>
            <a:r>
              <a:rPr lang="de-DE" sz="1000" dirty="0">
                <a:latin typeface="Roboto Light" panose="02000000000000000000" pitchFamily="2" charset="0"/>
                <a:ea typeface="Roboto Light" panose="02000000000000000000" pitchFamily="2" charset="0"/>
              </a:rPr>
              <a:t>Haben Sie verlangt, dass die Dienstleistungen während der Widerrufsfrist beginnen sollen, so haben Sie uns einen angemessenen Betrag zu zahlen, der dem Anteil der bis zu dem Zeitpunkt, zu dem Sie uns von der Ausübung des Widerrufsrechts hinsichtlich dieses Vertrags unterrichten, bereits erbrachten Dienstleistungen im Vergleich zum Gesamtumfang der im Vertrag vorgesehenen Dienstleistungen entspricht.</a:t>
            </a:r>
          </a:p>
          <a:p>
            <a:endParaRPr lang="de-DE" sz="1400" dirty="0"/>
          </a:p>
        </p:txBody>
      </p:sp>
      <p:sp>
        <p:nvSpPr>
          <p:cNvPr id="6" name="Textfeld 5">
            <a:extLst>
              <a:ext uri="{FF2B5EF4-FFF2-40B4-BE49-F238E27FC236}">
                <a16:creationId xmlns:a16="http://schemas.microsoft.com/office/drawing/2014/main" id="{F0163BDF-3DC1-563E-C780-98D3E24CFDEC}"/>
              </a:ext>
            </a:extLst>
          </p:cNvPr>
          <p:cNvSpPr txBox="1"/>
          <p:nvPr/>
        </p:nvSpPr>
        <p:spPr>
          <a:xfrm>
            <a:off x="5676900" y="1421130"/>
            <a:ext cx="4895849" cy="5478423"/>
          </a:xfrm>
          <a:prstGeom prst="rect">
            <a:avLst/>
          </a:prstGeom>
          <a:solidFill>
            <a:schemeClr val="bg1"/>
          </a:solidFill>
          <a:ln>
            <a:solidFill>
              <a:srgbClr val="BCD4E5"/>
            </a:solidFill>
          </a:ln>
        </p:spPr>
        <p:txBody>
          <a:bodyPr wrap="square" rtlCol="0">
            <a:spAutoFit/>
          </a:bodyPr>
          <a:lstStyle/>
          <a:p>
            <a:r>
              <a:rPr lang="de-DE" sz="1000" dirty="0">
                <a:latin typeface="Roboto Light" panose="02000000000000000000" pitchFamily="2" charset="0"/>
                <a:ea typeface="Roboto Light" panose="02000000000000000000" pitchFamily="2" charset="0"/>
              </a:rPr>
              <a:t>Widerrufsformular</a:t>
            </a:r>
          </a:p>
          <a:p>
            <a:endParaRPr lang="de-DE" sz="1000" dirty="0">
              <a:latin typeface="Roboto Light" panose="02000000000000000000" pitchFamily="2" charset="0"/>
              <a:ea typeface="Roboto Light" panose="02000000000000000000" pitchFamily="2" charset="0"/>
            </a:endParaRPr>
          </a:p>
          <a:p>
            <a:endParaRPr lang="de-DE" sz="1000" dirty="0">
              <a:latin typeface="Roboto Light" panose="02000000000000000000" pitchFamily="2" charset="0"/>
              <a:ea typeface="Roboto Light" panose="02000000000000000000" pitchFamily="2" charset="0"/>
            </a:endParaRPr>
          </a:p>
          <a:p>
            <a:r>
              <a:rPr lang="de-DE" sz="1000" dirty="0">
                <a:latin typeface="Roboto Light" panose="02000000000000000000" pitchFamily="2" charset="0"/>
                <a:ea typeface="Roboto Light" panose="02000000000000000000" pitchFamily="2" charset="0"/>
              </a:rPr>
              <a:t>An</a:t>
            </a:r>
          </a:p>
          <a:p>
            <a:r>
              <a:rPr lang="de-DE" sz="1000" dirty="0">
                <a:latin typeface="Roboto Light" panose="02000000000000000000" pitchFamily="2" charset="0"/>
                <a:ea typeface="Roboto Light" panose="02000000000000000000" pitchFamily="2" charset="0"/>
              </a:rPr>
              <a:t>Grenz &amp; Co. Immobilienberatungs-GmbH</a:t>
            </a:r>
          </a:p>
          <a:p>
            <a:r>
              <a:rPr lang="de-DE" sz="1000" dirty="0">
                <a:latin typeface="Roboto Light" panose="02000000000000000000" pitchFamily="2" charset="0"/>
                <a:ea typeface="Roboto Light" panose="02000000000000000000" pitchFamily="2" charset="0"/>
              </a:rPr>
              <a:t>Friesenplatz 1</a:t>
            </a:r>
          </a:p>
          <a:p>
            <a:r>
              <a:rPr lang="de-DE" sz="1000" dirty="0">
                <a:latin typeface="Roboto Light" panose="02000000000000000000" pitchFamily="2" charset="0"/>
                <a:ea typeface="Roboto Light" panose="02000000000000000000" pitchFamily="2" charset="0"/>
              </a:rPr>
              <a:t>50672 Köln</a:t>
            </a:r>
          </a:p>
          <a:p>
            <a:r>
              <a:rPr lang="de-DE" sz="1000" dirty="0">
                <a:latin typeface="Roboto Light" panose="02000000000000000000" pitchFamily="2" charset="0"/>
                <a:ea typeface="Roboto Light" panose="02000000000000000000" pitchFamily="2" charset="0"/>
              </a:rPr>
              <a:t>E-Mail: info@grenz-co.de</a:t>
            </a:r>
          </a:p>
          <a:p>
            <a:endParaRPr lang="de-DE" sz="1000" dirty="0">
              <a:latin typeface="Roboto Light" panose="02000000000000000000" pitchFamily="2" charset="0"/>
              <a:ea typeface="Roboto Light" panose="02000000000000000000" pitchFamily="2" charset="0"/>
            </a:endParaRPr>
          </a:p>
          <a:p>
            <a:r>
              <a:rPr lang="de-DE" sz="1000" dirty="0">
                <a:latin typeface="Roboto Light" panose="02000000000000000000" pitchFamily="2" charset="0"/>
                <a:ea typeface="Roboto Light" panose="02000000000000000000" pitchFamily="2" charset="0"/>
              </a:rPr>
              <a:t>Hiermit widerrufe(</a:t>
            </a:r>
            <a:r>
              <a:rPr lang="de-DE" sz="1000" dirty="0" err="1">
                <a:latin typeface="Roboto Light" panose="02000000000000000000" pitchFamily="2" charset="0"/>
                <a:ea typeface="Roboto Light" panose="02000000000000000000" pitchFamily="2" charset="0"/>
              </a:rPr>
              <a:t>n</a:t>
            </a:r>
            <a:r>
              <a:rPr lang="de-DE" sz="1000" dirty="0">
                <a:latin typeface="Roboto Light" panose="02000000000000000000" pitchFamily="2" charset="0"/>
                <a:ea typeface="Roboto Light" panose="02000000000000000000" pitchFamily="2" charset="0"/>
              </a:rPr>
              <a:t>) ich/wir (*) den von mir/uns (*) abgeschlossenen Vertrag über die Erbringung der folgenden Dienstleistung (*).</a:t>
            </a:r>
          </a:p>
          <a:p>
            <a:endParaRPr lang="de-DE" sz="1000" dirty="0">
              <a:latin typeface="Roboto Light" panose="02000000000000000000" pitchFamily="2" charset="0"/>
              <a:ea typeface="Roboto Light" panose="02000000000000000000" pitchFamily="2" charset="0"/>
            </a:endParaRPr>
          </a:p>
          <a:p>
            <a:endParaRPr lang="de-DE" sz="1000" dirty="0">
              <a:latin typeface="Roboto Light" panose="02000000000000000000" pitchFamily="2" charset="0"/>
              <a:ea typeface="Roboto Light" panose="02000000000000000000" pitchFamily="2" charset="0"/>
            </a:endParaRPr>
          </a:p>
          <a:p>
            <a:r>
              <a:rPr lang="de-DE" sz="1000" dirty="0">
                <a:latin typeface="Roboto Light" panose="02000000000000000000" pitchFamily="2" charset="0"/>
                <a:ea typeface="Roboto Light" panose="02000000000000000000" pitchFamily="2" charset="0"/>
              </a:rPr>
              <a:t>Immobilienangebot (Straße, Hausnummer, Ort):</a:t>
            </a:r>
          </a:p>
          <a:p>
            <a:endParaRPr lang="de-DE" sz="1000" dirty="0">
              <a:latin typeface="Roboto Light" panose="02000000000000000000" pitchFamily="2" charset="0"/>
              <a:ea typeface="Roboto Light" panose="02000000000000000000" pitchFamily="2" charset="0"/>
            </a:endParaRPr>
          </a:p>
          <a:p>
            <a:endParaRPr lang="de-DE" sz="1000" dirty="0">
              <a:latin typeface="Roboto Light" panose="02000000000000000000" pitchFamily="2" charset="0"/>
              <a:ea typeface="Roboto Light" panose="02000000000000000000" pitchFamily="2" charset="0"/>
            </a:endParaRPr>
          </a:p>
          <a:p>
            <a:endParaRPr lang="de-DE" sz="1000" dirty="0">
              <a:latin typeface="Roboto Light" panose="02000000000000000000" pitchFamily="2" charset="0"/>
              <a:ea typeface="Roboto Light" panose="02000000000000000000" pitchFamily="2" charset="0"/>
            </a:endParaRPr>
          </a:p>
          <a:p>
            <a:r>
              <a:rPr lang="de-DE" sz="1000" dirty="0">
                <a:latin typeface="Roboto Light" panose="02000000000000000000" pitchFamily="2" charset="0"/>
                <a:ea typeface="Roboto Light" panose="02000000000000000000" pitchFamily="2" charset="0"/>
              </a:rPr>
              <a:t>Erhalten am:</a:t>
            </a:r>
          </a:p>
          <a:p>
            <a:endParaRPr lang="de-DE" sz="1000" dirty="0">
              <a:latin typeface="Roboto Light" panose="02000000000000000000" pitchFamily="2" charset="0"/>
              <a:ea typeface="Roboto Light" panose="02000000000000000000" pitchFamily="2" charset="0"/>
            </a:endParaRPr>
          </a:p>
          <a:p>
            <a:endParaRPr lang="de-DE" sz="1000" dirty="0">
              <a:latin typeface="Roboto Light" panose="02000000000000000000" pitchFamily="2" charset="0"/>
              <a:ea typeface="Roboto Light" panose="02000000000000000000" pitchFamily="2" charset="0"/>
            </a:endParaRPr>
          </a:p>
          <a:p>
            <a:endParaRPr lang="de-DE" sz="1000" dirty="0">
              <a:latin typeface="Roboto Light" panose="02000000000000000000" pitchFamily="2" charset="0"/>
              <a:ea typeface="Roboto Light" panose="02000000000000000000" pitchFamily="2" charset="0"/>
            </a:endParaRPr>
          </a:p>
          <a:p>
            <a:r>
              <a:rPr lang="de-DE" sz="1000" dirty="0">
                <a:latin typeface="Roboto Light" panose="02000000000000000000" pitchFamily="2" charset="0"/>
                <a:ea typeface="Roboto Light" panose="02000000000000000000" pitchFamily="2" charset="0"/>
              </a:rPr>
              <a:t>Name des/der Verbraucher(s):</a:t>
            </a:r>
          </a:p>
          <a:p>
            <a:endParaRPr lang="de-DE" sz="1000" dirty="0">
              <a:latin typeface="Roboto Light" panose="02000000000000000000" pitchFamily="2" charset="0"/>
              <a:ea typeface="Roboto Light" panose="02000000000000000000" pitchFamily="2" charset="0"/>
            </a:endParaRPr>
          </a:p>
          <a:p>
            <a:endParaRPr lang="de-DE" sz="1000" dirty="0">
              <a:latin typeface="Roboto Light" panose="02000000000000000000" pitchFamily="2" charset="0"/>
              <a:ea typeface="Roboto Light" panose="02000000000000000000" pitchFamily="2" charset="0"/>
            </a:endParaRPr>
          </a:p>
          <a:p>
            <a:endParaRPr lang="de-DE" sz="1000" dirty="0">
              <a:latin typeface="Roboto Light" panose="02000000000000000000" pitchFamily="2" charset="0"/>
              <a:ea typeface="Roboto Light" panose="02000000000000000000" pitchFamily="2" charset="0"/>
            </a:endParaRPr>
          </a:p>
          <a:p>
            <a:r>
              <a:rPr lang="de-DE" sz="1000" dirty="0">
                <a:latin typeface="Roboto Light" panose="02000000000000000000" pitchFamily="2" charset="0"/>
                <a:ea typeface="Roboto Light" panose="02000000000000000000" pitchFamily="2" charset="0"/>
              </a:rPr>
              <a:t>Anschrift des/der Verbraucher(s):</a:t>
            </a:r>
          </a:p>
          <a:p>
            <a:endParaRPr lang="de-DE" sz="1000" dirty="0">
              <a:latin typeface="Roboto Light" panose="02000000000000000000" pitchFamily="2" charset="0"/>
              <a:ea typeface="Roboto Light" panose="02000000000000000000" pitchFamily="2" charset="0"/>
            </a:endParaRPr>
          </a:p>
          <a:p>
            <a:endParaRPr lang="de-DE" sz="1000" dirty="0">
              <a:latin typeface="Roboto Light" panose="02000000000000000000" pitchFamily="2" charset="0"/>
              <a:ea typeface="Roboto Light" panose="02000000000000000000" pitchFamily="2" charset="0"/>
            </a:endParaRPr>
          </a:p>
          <a:p>
            <a:endParaRPr lang="de-DE" sz="1000" dirty="0">
              <a:latin typeface="Roboto Light" panose="02000000000000000000" pitchFamily="2" charset="0"/>
              <a:ea typeface="Roboto Light" panose="02000000000000000000" pitchFamily="2" charset="0"/>
            </a:endParaRPr>
          </a:p>
          <a:p>
            <a:r>
              <a:rPr lang="de-DE" sz="1000" dirty="0">
                <a:latin typeface="Roboto Light" panose="02000000000000000000" pitchFamily="2" charset="0"/>
                <a:ea typeface="Roboto Light" panose="02000000000000000000" pitchFamily="2" charset="0"/>
              </a:rPr>
              <a:t>Datum und Unterschrift des/der Verbraucher(s) (nur bei Mitteilung auf Papier):</a:t>
            </a:r>
          </a:p>
          <a:p>
            <a:endParaRPr lang="de-DE" sz="1000" dirty="0">
              <a:latin typeface="Roboto Light" panose="02000000000000000000" pitchFamily="2" charset="0"/>
              <a:ea typeface="Roboto Light" panose="02000000000000000000" pitchFamily="2" charset="0"/>
            </a:endParaRPr>
          </a:p>
          <a:p>
            <a:endParaRPr lang="de-DE" sz="1000" dirty="0">
              <a:latin typeface="Roboto Light" panose="02000000000000000000" pitchFamily="2" charset="0"/>
              <a:ea typeface="Roboto Light" panose="02000000000000000000" pitchFamily="2" charset="0"/>
            </a:endParaRPr>
          </a:p>
          <a:p>
            <a:endParaRPr lang="de-DE" sz="1000" dirty="0">
              <a:latin typeface="Roboto Light" panose="02000000000000000000" pitchFamily="2" charset="0"/>
              <a:ea typeface="Roboto Light" panose="02000000000000000000" pitchFamily="2" charset="0"/>
            </a:endParaRPr>
          </a:p>
          <a:p>
            <a:endParaRPr lang="de-DE" sz="1000" dirty="0">
              <a:latin typeface="Roboto Light" panose="02000000000000000000" pitchFamily="2" charset="0"/>
              <a:ea typeface="Roboto Light" panose="02000000000000000000" pitchFamily="2" charset="0"/>
            </a:endParaRPr>
          </a:p>
          <a:p>
            <a:r>
              <a:rPr lang="de-DE" sz="1000" dirty="0">
                <a:latin typeface="Roboto Light" panose="02000000000000000000" pitchFamily="2" charset="0"/>
                <a:ea typeface="Roboto Light" panose="02000000000000000000" pitchFamily="2" charset="0"/>
              </a:rPr>
              <a:t>*: unzutreffendes bitte streichen</a:t>
            </a:r>
          </a:p>
        </p:txBody>
      </p:sp>
    </p:spTree>
    <p:extLst>
      <p:ext uri="{BB962C8B-B14F-4D97-AF65-F5344CB8AC3E}">
        <p14:creationId xmlns:p14="http://schemas.microsoft.com/office/powerpoint/2010/main" val="3804494163"/>
      </p:ext>
    </p:extLst>
  </p:cSld>
  <p:clrMapOvr>
    <a:masterClrMapping/>
  </p:clrMapOvr>
</p:sld>
</file>

<file path=ppt/theme/theme1.xml><?xml version="1.0" encoding="utf-8"?>
<a:theme xmlns:a="http://schemas.openxmlformats.org/drawingml/2006/main" name="Office">
  <a:themeElements>
    <a:clrScheme name="BNPPRE">
      <a:dk1>
        <a:srgbClr val="1C2C36"/>
      </a:dk1>
      <a:lt1>
        <a:srgbClr val="FFFFFF"/>
      </a:lt1>
      <a:dk2>
        <a:srgbClr val="00915A"/>
      </a:dk2>
      <a:lt2>
        <a:srgbClr val="D9D9D9"/>
      </a:lt2>
      <a:accent1>
        <a:srgbClr val="1C2C36"/>
      </a:accent1>
      <a:accent2>
        <a:srgbClr val="52CDC5"/>
      </a:accent2>
      <a:accent3>
        <a:srgbClr val="00A3BC"/>
      </a:accent3>
      <a:accent4>
        <a:srgbClr val="A3C439"/>
      </a:accent4>
      <a:accent5>
        <a:srgbClr val="7F7F7F"/>
      </a:accent5>
      <a:accent6>
        <a:srgbClr val="BA3075"/>
      </a:accent6>
      <a:hlink>
        <a:srgbClr val="BA3075"/>
      </a:hlink>
      <a:folHlink>
        <a:srgbClr val="7F7F7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2097</Words>
  <Application>Microsoft Macintosh PowerPoint</Application>
  <PresentationFormat>Benutzerdefiniert</PresentationFormat>
  <Paragraphs>362</Paragraphs>
  <Slides>18</Slides>
  <Notes>0</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18</vt:i4>
      </vt:variant>
    </vt:vector>
  </HeadingPairs>
  <TitlesOfParts>
    <vt:vector size="26" baseType="lpstr">
      <vt:lpstr>Arial</vt:lpstr>
      <vt:lpstr>Roboto Black</vt:lpstr>
      <vt:lpstr>Roboto Flex</vt:lpstr>
      <vt:lpstr>Roboto Light</vt:lpstr>
      <vt:lpstr>Roboto Medium</vt:lpstr>
      <vt:lpstr>Symbol</vt:lpstr>
      <vt:lpstr>Times New Roman</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BNP Paribas Real Estate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Diana RELJIC</dc:creator>
  <cp:lastModifiedBy>Sebastian  Grenz</cp:lastModifiedBy>
  <cp:revision>129</cp:revision>
  <dcterms:created xsi:type="dcterms:W3CDTF">2020-08-07T09:25:45Z</dcterms:created>
  <dcterms:modified xsi:type="dcterms:W3CDTF">2026-03-10T11:09:26Z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8ed5431-0ab7-4c1b-98f4-d4e50f674d02_Enabled">
    <vt:lpwstr>true</vt:lpwstr>
  </property>
  <property fmtid="{D5CDD505-2E9C-101B-9397-08002B2CF9AE}" pid="3" name="MSIP_Label_48ed5431-0ab7-4c1b-98f4-d4e50f674d02_SetDate">
    <vt:lpwstr>2022-11-21T08:41:17Z</vt:lpwstr>
  </property>
  <property fmtid="{D5CDD505-2E9C-101B-9397-08002B2CF9AE}" pid="4" name="MSIP_Label_48ed5431-0ab7-4c1b-98f4-d4e50f674d02_Method">
    <vt:lpwstr>Privileged</vt:lpwstr>
  </property>
  <property fmtid="{D5CDD505-2E9C-101B-9397-08002B2CF9AE}" pid="5" name="MSIP_Label_48ed5431-0ab7-4c1b-98f4-d4e50f674d02_Name">
    <vt:lpwstr>48ed5431-0ab7-4c1b-98f4-d4e50f674d02</vt:lpwstr>
  </property>
  <property fmtid="{D5CDD505-2E9C-101B-9397-08002B2CF9AE}" pid="6" name="MSIP_Label_48ed5431-0ab7-4c1b-98f4-d4e50f674d02_SiteId">
    <vt:lpwstr>614f9c25-bffa-42c7-86d8-964101f55fa2</vt:lpwstr>
  </property>
  <property fmtid="{D5CDD505-2E9C-101B-9397-08002B2CF9AE}" pid="7" name="MSIP_Label_48ed5431-0ab7-4c1b-98f4-d4e50f674d02_ActionId">
    <vt:lpwstr>bda8164b-0d31-441f-b95a-85f5b7943faf</vt:lpwstr>
  </property>
  <property fmtid="{D5CDD505-2E9C-101B-9397-08002B2CF9AE}" pid="8" name="MSIP_Label_48ed5431-0ab7-4c1b-98f4-d4e50f674d02_ContentBits">
    <vt:lpwstr>0</vt:lpwstr>
  </property>
</Properties>
</file>